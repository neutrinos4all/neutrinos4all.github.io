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7" r:id="rId2"/>
    <p:sldId id="258" r:id="rId3"/>
    <p:sldId id="262" r:id="rId4"/>
    <p:sldId id="263" r:id="rId5"/>
    <p:sldId id="259" r:id="rId6"/>
    <p:sldId id="261" r:id="rId7"/>
    <p:sldId id="260" r:id="rId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196"/>
    <a:srgbClr val="F49709"/>
    <a:srgbClr val="D58408"/>
    <a:srgbClr val="1C6CB5"/>
    <a:srgbClr val="D5C139"/>
    <a:srgbClr val="ECD63F"/>
    <a:srgbClr val="CCCC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903" autoAdjust="0"/>
  </p:normalViewPr>
  <p:slideViewPr>
    <p:cSldViewPr>
      <p:cViewPr varScale="1">
        <p:scale>
          <a:sx n="75" d="100"/>
          <a:sy n="75" d="100"/>
        </p:scale>
        <p:origin x="263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00C76-21F8-4C01-861C-2D46D20E637F}" type="datetimeFigureOut">
              <a:rPr lang="en-US" smtClean="0"/>
              <a:t>11/16/2015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E705F0-2F25-4EF6-891B-4B73AA23B340}" type="slidenum">
              <a:rPr lang="en-US" smtClean="0"/>
              <a:t>‹#›</a:t>
            </a:fld>
            <a:endParaRPr lang="en-US"/>
          </a:p>
        </p:txBody>
      </p:sp>
    </p:spTree>
    <p:extLst>
      <p:ext uri="{BB962C8B-B14F-4D97-AF65-F5344CB8AC3E}">
        <p14:creationId xmlns:p14="http://schemas.microsoft.com/office/powerpoint/2010/main" val="1795091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smtClean="0"/>
              <a:t>Brief intro to terms:</a:t>
            </a:r>
            <a:r>
              <a:rPr lang="en-US" baseline="0" dirty="0" smtClean="0"/>
              <a:t> authority [Who has the ability to assign or delegate task completion to another agent?], autonomy [Who has the ability to marshal the necessary resources and actions for completion of an assigned task?] and responsibility [Who is ultimately responsible for task completion?]. These terms are highly useful for thinking about systems with multiple agents capable of touching shared resources (and even more interesting if the system exhibits any hierarchical organization).</a:t>
            </a:r>
          </a:p>
          <a:p>
            <a:pPr marL="228600" indent="-228600">
              <a:buAutoNum type="arabicParenR"/>
            </a:pPr>
            <a:endParaRPr lang="en-US" baseline="0" dirty="0" smtClean="0"/>
          </a:p>
          <a:p>
            <a:pPr marL="228600" indent="-228600">
              <a:buAutoNum type="arabicParenR"/>
            </a:pPr>
            <a:r>
              <a:rPr lang="en-US" baseline="0" dirty="0" smtClean="0"/>
              <a:t>In cybersecurity, particularly in the public sector, there may be hundreds or thousands of employees responsible for operations (think NSA/GCHQ on down to smaller intel orgs), each with different clearance levels and compartments (a particularly vexing challenge), it can become difficult to find the most efficient, appropriate “personnel path” through the system (mention here the June cybersecurity sprint’s directives for reducing number of privileged users and locking down their functions (autonomy) within systems). Work can slow as it moves through layers of authorization, and phished targets with (too) many privileges can open an entire network to attack (more on that in a bit). Inappropriate AA&amp;R is a potential system killer.</a:t>
            </a:r>
          </a:p>
          <a:p>
            <a:pPr marL="228600" indent="-228600">
              <a:buAutoNum type="arabicParenR"/>
            </a:pPr>
            <a:endParaRPr lang="en-US" baseline="0" dirty="0" smtClean="0"/>
          </a:p>
          <a:p>
            <a:pPr marL="228600" indent="-228600">
              <a:buAutoNum type="arabicParenR"/>
            </a:pPr>
            <a:r>
              <a:rPr lang="en-US" baseline="0" dirty="0" smtClean="0"/>
              <a:t>Having a way to model AA&amp;R in a large system and then examine that system for problems would be a useful tool for improving its security, integrity, and efficiency. This is where formal methods comes in.</a:t>
            </a:r>
            <a:endParaRPr lang="en-US" dirty="0"/>
          </a:p>
        </p:txBody>
      </p:sp>
      <p:sp>
        <p:nvSpPr>
          <p:cNvPr id="4" name="Slide Number Placeholder 3"/>
          <p:cNvSpPr>
            <a:spLocks noGrp="1"/>
          </p:cNvSpPr>
          <p:nvPr>
            <p:ph type="sldNum" sz="quarter" idx="10"/>
          </p:nvPr>
        </p:nvSpPr>
        <p:spPr/>
        <p:txBody>
          <a:bodyPr/>
          <a:lstStyle/>
          <a:p>
            <a:fld id="{09E705F0-2F25-4EF6-891B-4B73AA23B340}" type="slidenum">
              <a:rPr lang="en-US" smtClean="0"/>
              <a:t>3</a:t>
            </a:fld>
            <a:endParaRPr lang="en-US"/>
          </a:p>
        </p:txBody>
      </p:sp>
    </p:spTree>
    <p:extLst>
      <p:ext uri="{BB962C8B-B14F-4D97-AF65-F5344CB8AC3E}">
        <p14:creationId xmlns:p14="http://schemas.microsoft.com/office/powerpoint/2010/main" val="818230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smtClean="0"/>
              <a:t>Brief overview</a:t>
            </a:r>
            <a:r>
              <a:rPr lang="en-US" baseline="0" dirty="0" smtClean="0"/>
              <a:t> of formal methods (basically using a 1min snippet from our </a:t>
            </a:r>
            <a:r>
              <a:rPr lang="en-US" baseline="0" dirty="0" err="1" smtClean="0"/>
              <a:t>Uconn</a:t>
            </a:r>
            <a:r>
              <a:rPr lang="en-US" baseline="0" dirty="0" smtClean="0"/>
              <a:t> talk to do so)</a:t>
            </a:r>
          </a:p>
          <a:p>
            <a:pPr marL="228600" indent="-228600">
              <a:buAutoNum type="arabicParenR"/>
            </a:pPr>
            <a:endParaRPr lang="en-US" baseline="0" dirty="0" smtClean="0"/>
          </a:p>
          <a:p>
            <a:pPr marL="228600" indent="-228600">
              <a:buAutoNum type="arabicParenR"/>
            </a:pPr>
            <a:r>
              <a:rPr lang="en-US" dirty="0" smtClean="0"/>
              <a:t>Because FM returns either</a:t>
            </a:r>
            <a:r>
              <a:rPr lang="en-US" baseline="0" dirty="0" smtClean="0"/>
              <a:t> theorem proofs or counterexamples, it provides a very clear path of failure through the system to identify exactly where problems occur. In some cases, these problems occur in parts of the system exercised very rarely but can cause catastrophic failures.</a:t>
            </a:r>
          </a:p>
          <a:p>
            <a:pPr marL="228600" indent="-228600">
              <a:buAutoNum type="arabicParenR"/>
            </a:pPr>
            <a:endParaRPr lang="en-US" baseline="0" dirty="0" smtClean="0"/>
          </a:p>
          <a:p>
            <a:pPr marL="228600" indent="-228600">
              <a:buAutoNum type="arabicParenR"/>
            </a:pPr>
            <a:r>
              <a:rPr lang="en-US" baseline="0" dirty="0" smtClean="0"/>
              <a:t>Use cases: a) are there just enough people with just the right clearances or permissions to do their jobs? b) should we worry about the type and extent of permissions held by certain individuals? c) can we identify “nodes” in our networks that would be worthwhile targets to phish/hack and use to escalate privileges within the system? Where are the weak spots?</a:t>
            </a:r>
            <a:endParaRPr lang="en-US" dirty="0"/>
          </a:p>
        </p:txBody>
      </p:sp>
      <p:sp>
        <p:nvSpPr>
          <p:cNvPr id="4" name="Slide Number Placeholder 3"/>
          <p:cNvSpPr>
            <a:spLocks noGrp="1"/>
          </p:cNvSpPr>
          <p:nvPr>
            <p:ph type="sldNum" sz="quarter" idx="10"/>
          </p:nvPr>
        </p:nvSpPr>
        <p:spPr/>
        <p:txBody>
          <a:bodyPr/>
          <a:lstStyle/>
          <a:p>
            <a:fld id="{09E705F0-2F25-4EF6-891B-4B73AA23B340}" type="slidenum">
              <a:rPr lang="en-US" smtClean="0"/>
              <a:t>4</a:t>
            </a:fld>
            <a:endParaRPr lang="en-US"/>
          </a:p>
        </p:txBody>
      </p:sp>
    </p:spTree>
    <p:extLst>
      <p:ext uri="{BB962C8B-B14F-4D97-AF65-F5344CB8AC3E}">
        <p14:creationId xmlns:p14="http://schemas.microsoft.com/office/powerpoint/2010/main" val="953974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 everyone. I want to talk a little bit about my current research interest that I am hoping to mold into a dissertation. The main goal of this idea is to use the lens model to understand and predict how people synthesize cues into judgements when assessing a potential phishing email.</a:t>
            </a:r>
          </a:p>
          <a:p>
            <a:endParaRPr lang="en-US" dirty="0" smtClean="0"/>
          </a:p>
          <a:p>
            <a:r>
              <a:rPr lang="en-US" dirty="0" smtClean="0"/>
              <a:t>Phishing emails are messages designed to appear legitimate in an attempt to get individuals to reveal personal information. They work by sending individuals a message with a compromised attachment or instruction to follow a malicious link. Through such mechanisms, an attacker can establish command control over that machine and use it to move laterally within a network. So it only takes on person to compromise an entire network. With more than an estimated 4.1 billion associated email accounts globally [1], phishing is a big problem that constitutes roughly 95% of attacks on enterprise networks [2]. It is also an expensive problem, with an estimated annual impact of approximately $2.4 billion [3]. Computer software is able to block some incoming emails, but such systems are blacklist based, meaning that only known threats are caught. Security groups within organizations usually distribute information about how to detect phishing emails to company employees. However, these have been shown to not be completely effective [4] and even individuals who are informed about basic techniques for recognizing phishing emails can still fall for their deceptions [4]. Considering the human user will always be the last line of defense, it’s really important to understand the information people use to judge an email.</a:t>
            </a:r>
          </a:p>
          <a:p>
            <a:endParaRPr lang="en-US" dirty="0" smtClean="0"/>
          </a:p>
          <a:p>
            <a:r>
              <a:rPr lang="en-US" dirty="0" smtClean="0"/>
              <a:t>The lens model is a statistical modeling technique that allows analysts to understand and predict how people synthesize information sources, called cues, into judgments [5][6] using multiple linear regression techniques. I plan to use the n-system lens model so that human judgment performance and strategies can be compared to other people as well as to a ground truth criterion. </a:t>
            </a:r>
          </a:p>
          <a:p>
            <a:endParaRPr lang="en-US" dirty="0" smtClean="0"/>
          </a:p>
          <a:p>
            <a:r>
              <a:rPr lang="en-US" dirty="0" smtClean="0"/>
              <a:t>When trying to determine if an email is safe, a person may focus on: who sent the email, spelling and grammar, and message content [7]. Those with more expertise may also look at the domain name of origination and the IP address [7]. Because the presence of each of these cues adds or subtracts from the overall chance that a user will click on a link or attachment and the fact that user may have different judgment strategies, this judgment task is appropriate for lens modeling. </a:t>
            </a:r>
          </a:p>
          <a:p>
            <a:endParaRPr lang="en-US" dirty="0"/>
          </a:p>
        </p:txBody>
      </p:sp>
      <p:sp>
        <p:nvSpPr>
          <p:cNvPr id="4" name="Slide Number Placeholder 3"/>
          <p:cNvSpPr>
            <a:spLocks noGrp="1"/>
          </p:cNvSpPr>
          <p:nvPr>
            <p:ph type="sldNum" sz="quarter" idx="10"/>
          </p:nvPr>
        </p:nvSpPr>
        <p:spPr/>
        <p:txBody>
          <a:bodyPr/>
          <a:lstStyle/>
          <a:p>
            <a:fld id="{09E705F0-2F25-4EF6-891B-4B73AA23B340}" type="slidenum">
              <a:rPr lang="en-US" smtClean="0"/>
              <a:t>5</a:t>
            </a:fld>
            <a:endParaRPr lang="en-US"/>
          </a:p>
        </p:txBody>
      </p:sp>
    </p:spTree>
    <p:extLst>
      <p:ext uri="{BB962C8B-B14F-4D97-AF65-F5344CB8AC3E}">
        <p14:creationId xmlns:p14="http://schemas.microsoft.com/office/powerpoint/2010/main" val="2936516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first aim is to identify the possible set of cues a person could use. The first step is to conduct a literature review to find cues that have been considered in the scientific community. To identify cues not covered in literature, I use both interviews and surveys to find cues used by both cybersecurity professionals and general email users. Once a full set of cues are established, multidimensional scaling will be needed to identify general categories to be used in Aim 2. </a:t>
            </a:r>
          </a:p>
          <a:p>
            <a:endParaRPr lang="en-US" dirty="0" smtClean="0"/>
          </a:p>
          <a:p>
            <a:r>
              <a:rPr lang="en-US" dirty="0" smtClean="0"/>
              <a:t>The second aim consists of two parts. The first being a human subjects experiment to collect the data necessary for judgment modeling. Participants will be asked to perform basic email tasks while having to respond to incoming emails. Some incoming emails will be valid, while others will not. The email properties will be varied across the different cue categories identified in Aim 1. I will use inter-cue correlation to eliminate any redundant cues. Actually creating the models is the second part. For judgment modeling, multiple linear regression will not be appropriate since this judgment is binary, meaning “did the person click on the link or attachment? Yes or no”.  Since I plan to use a different type of regression, I will probably have to update the lens model parameters. Using logistic regression means that the model will predict the probability that a person clicks on the email target. </a:t>
            </a:r>
          </a:p>
          <a:p>
            <a:endParaRPr lang="en-US" dirty="0" smtClean="0"/>
          </a:p>
          <a:p>
            <a:r>
              <a:rPr lang="en-US" dirty="0" smtClean="0"/>
              <a:t>The last aim will be to identify general judgement strategies. Based on the models created in Aim 2, I will identify similar judgment strategies between participants based on the similarity of their cue utilizations. Then I can compare the performance of these different strategies to understand which proved the most successful. </a:t>
            </a:r>
          </a:p>
          <a:p>
            <a:endParaRPr lang="en-US" dirty="0"/>
          </a:p>
        </p:txBody>
      </p:sp>
      <p:sp>
        <p:nvSpPr>
          <p:cNvPr id="4" name="Slide Number Placeholder 3"/>
          <p:cNvSpPr>
            <a:spLocks noGrp="1"/>
          </p:cNvSpPr>
          <p:nvPr>
            <p:ph type="sldNum" sz="quarter" idx="10"/>
          </p:nvPr>
        </p:nvSpPr>
        <p:spPr/>
        <p:txBody>
          <a:bodyPr/>
          <a:lstStyle/>
          <a:p>
            <a:fld id="{09E705F0-2F25-4EF6-891B-4B73AA23B340}" type="slidenum">
              <a:rPr lang="en-US" smtClean="0"/>
              <a:t>6</a:t>
            </a:fld>
            <a:endParaRPr lang="en-US"/>
          </a:p>
        </p:txBody>
      </p:sp>
    </p:spTree>
    <p:extLst>
      <p:ext uri="{BB962C8B-B14F-4D97-AF65-F5344CB8AC3E}">
        <p14:creationId xmlns:p14="http://schemas.microsoft.com/office/powerpoint/2010/main" val="3315131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1"/>
            <a:ext cx="7772400" cy="1447800"/>
          </a:xfrm>
          <a:prstGeom prst="rect">
            <a:avLst/>
          </a:prstGeom>
        </p:spPr>
        <p:txBody>
          <a:bodyPr/>
          <a:lstStyle>
            <a:lvl1pPr algn="ctr">
              <a:defRPr>
                <a:solidFill>
                  <a:schemeClr val="bg2">
                    <a:lumMod val="75000"/>
                  </a:schemeClr>
                </a:solidFill>
                <a:latin typeface="Georgia"/>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2819400"/>
            <a:ext cx="6400800" cy="1752600"/>
          </a:xfrm>
          <a:prstGeom prst="rect">
            <a:avLst/>
          </a:prstGeom>
        </p:spPr>
        <p:txBody>
          <a:bodyPr/>
          <a:lstStyle>
            <a:lvl1pPr marL="0" indent="0" algn="ctr">
              <a:buNone/>
              <a:defRPr b="0" i="0">
                <a:solidFill>
                  <a:srgbClr val="606060"/>
                </a:solidFill>
                <a:latin typeface="Trebuchet MS"/>
                <a:cs typeface="Trebuchet MS"/>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smtClean="0"/>
              <a:t>Click to edit Master subtitle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11"/>
          <p:cNvCxnSpPr>
            <a:cxnSpLocks noChangeShapeType="1"/>
          </p:cNvCxnSpPr>
          <p:nvPr userDrawn="1"/>
        </p:nvCxnSpPr>
        <p:spPr bwMode="auto">
          <a:xfrm>
            <a:off x="838200" y="2362200"/>
            <a:ext cx="7620000" cy="1588"/>
          </a:xfrm>
          <a:prstGeom prst="line">
            <a:avLst/>
          </a:prstGeom>
          <a:noFill/>
          <a:ln w="9525">
            <a:solidFill>
              <a:schemeClr val="bg1"/>
            </a:solidFill>
            <a:prstDash val="dot"/>
            <a:round/>
            <a:headEnd/>
            <a:tailEnd/>
          </a:ln>
        </p:spPr>
      </p:cxnSp>
      <p:cxnSp>
        <p:nvCxnSpPr>
          <p:cNvPr id="5" name="Straight Connector 13"/>
          <p:cNvCxnSpPr>
            <a:cxnSpLocks noChangeShapeType="1"/>
          </p:cNvCxnSpPr>
          <p:nvPr userDrawn="1"/>
        </p:nvCxnSpPr>
        <p:spPr bwMode="auto">
          <a:xfrm>
            <a:off x="838200" y="2363788"/>
            <a:ext cx="7620000" cy="1587"/>
          </a:xfrm>
          <a:prstGeom prst="line">
            <a:avLst/>
          </a:prstGeom>
          <a:noFill/>
          <a:ln w="9525">
            <a:solidFill>
              <a:schemeClr val="tx1"/>
            </a:solidFill>
            <a:prstDash val="dot"/>
            <a:round/>
            <a:headEnd/>
            <a:tailEnd/>
          </a:ln>
        </p:spPr>
      </p:cxnSp>
      <p:sp>
        <p:nvSpPr>
          <p:cNvPr id="2" name="Title 1"/>
          <p:cNvSpPr>
            <a:spLocks noGrp="1"/>
          </p:cNvSpPr>
          <p:nvPr>
            <p:ph type="title"/>
          </p:nvPr>
        </p:nvSpPr>
        <p:spPr>
          <a:xfrm>
            <a:off x="722313" y="2338387"/>
            <a:ext cx="7772400" cy="1852613"/>
          </a:xfrm>
          <a:prstGeom prst="rect">
            <a:avLst/>
          </a:prstGeom>
        </p:spPr>
        <p:txBody>
          <a:bodyPr anchor="t"/>
          <a:lstStyle>
            <a:lvl1pPr algn="l">
              <a:defRPr sz="4000" b="0" i="0" cap="all">
                <a:solidFill>
                  <a:srgbClr val="606060"/>
                </a:solidFill>
                <a:latin typeface="Georgia"/>
                <a:cs typeface="Georgia"/>
              </a:defRPr>
            </a:lvl1pPr>
          </a:lstStyle>
          <a:p>
            <a:r>
              <a:rPr lang="en-US" dirty="0" smtClean="0"/>
              <a:t>Click to edit Master</a:t>
            </a:r>
            <a:endParaRPr lang="en-US" dirty="0"/>
          </a:p>
        </p:txBody>
      </p:sp>
      <p:sp>
        <p:nvSpPr>
          <p:cNvPr id="3" name="Text Placeholder 2"/>
          <p:cNvSpPr>
            <a:spLocks noGrp="1"/>
          </p:cNvSpPr>
          <p:nvPr>
            <p:ph type="body" idx="1"/>
          </p:nvPr>
        </p:nvSpPr>
        <p:spPr>
          <a:xfrm>
            <a:off x="722313" y="1676400"/>
            <a:ext cx="7772400" cy="661987"/>
          </a:xfrm>
          <a:prstGeom prst="rect">
            <a:avLst/>
          </a:prstGeom>
        </p:spPr>
        <p:txBody>
          <a:bodyPr anchor="b"/>
          <a:lstStyle>
            <a:lvl1pPr marL="0" indent="0">
              <a:buNone/>
              <a:defRPr sz="2000" b="0" i="0">
                <a:solidFill>
                  <a:srgbClr val="1C6CB5"/>
                </a:solidFill>
                <a:latin typeface="Trebuchet MS"/>
                <a:cs typeface="Trebuchet MS"/>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371600"/>
            <a:ext cx="7772400" cy="1143000"/>
          </a:xfrm>
          <a:prstGeom prst="rect">
            <a:avLst/>
          </a:prstGeom>
        </p:spPr>
        <p:txBody>
          <a:bodyPr/>
          <a:lstStyle>
            <a:lvl1pPr>
              <a:defRPr b="0" i="0">
                <a:solidFill>
                  <a:srgbClr val="606060"/>
                </a:solidFill>
                <a:latin typeface="Georgia"/>
                <a:cs typeface="Georgia"/>
              </a:defRPr>
            </a:lvl1pPr>
          </a:lstStyle>
          <a:p>
            <a:r>
              <a:rPr lang="en-US" dirty="0" smtClean="0"/>
              <a:t>Click to edit Master title style</a:t>
            </a:r>
            <a:endParaRPr lang="en-US" dirty="0"/>
          </a:p>
        </p:txBody>
      </p:sp>
      <p:sp>
        <p:nvSpPr>
          <p:cNvPr id="3" name="Content Placeholder 2"/>
          <p:cNvSpPr>
            <a:spLocks noGrp="1"/>
          </p:cNvSpPr>
          <p:nvPr>
            <p:ph idx="1"/>
          </p:nvPr>
        </p:nvSpPr>
        <p:spPr>
          <a:xfrm>
            <a:off x="685800" y="2514600"/>
            <a:ext cx="7772400" cy="3429000"/>
          </a:xfrm>
          <a:prstGeom prst="rect">
            <a:avLst/>
          </a:prstGeom>
        </p:spPr>
        <p:txBody>
          <a:bodyPr/>
          <a:lstStyle>
            <a:lvl1pPr>
              <a:defRPr b="0" i="0">
                <a:solidFill>
                  <a:srgbClr val="606060"/>
                </a:solidFill>
                <a:latin typeface="Trebuchet MS"/>
                <a:cs typeface="Trebuchet MS"/>
              </a:defRPr>
            </a:lvl1pPr>
            <a:lvl2pPr>
              <a:buClrTx/>
              <a:defRPr b="0" i="0">
                <a:solidFill>
                  <a:srgbClr val="606060"/>
                </a:solidFill>
                <a:latin typeface="Trebuchet MS"/>
                <a:cs typeface="Trebuchet MS"/>
              </a:defRPr>
            </a:lvl2pPr>
            <a:lvl3pPr>
              <a:buClrTx/>
              <a:defRPr b="0" i="0">
                <a:solidFill>
                  <a:srgbClr val="606060"/>
                </a:solidFill>
                <a:latin typeface="Trebuchet MS"/>
                <a:cs typeface="Trebuchet MS"/>
              </a:defRPr>
            </a:lvl3pPr>
            <a:lvl4pPr>
              <a:buClrTx/>
              <a:defRPr b="0" i="0">
                <a:solidFill>
                  <a:srgbClr val="606060"/>
                </a:solidFill>
                <a:latin typeface="Trebuchet MS"/>
                <a:cs typeface="Trebuchet MS"/>
              </a:defRPr>
            </a:lvl4pPr>
            <a:lvl5pPr>
              <a:defRPr b="0" i="1">
                <a:solidFill>
                  <a:srgbClr val="606060"/>
                </a:solidFill>
                <a:latin typeface="Trebuchet MS"/>
                <a:cs typeface="Trebuchet MS"/>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772400" cy="1143000"/>
          </a:xfrm>
          <a:prstGeom prst="rect">
            <a:avLst/>
          </a:prstGeom>
        </p:spPr>
        <p:txBody>
          <a:bodyPr/>
          <a:lstStyle>
            <a:lvl1pPr>
              <a:defRPr b="0" i="0">
                <a:solidFill>
                  <a:srgbClr val="606060"/>
                </a:solidFill>
                <a:latin typeface="Georgia"/>
                <a:cs typeface="Georgia"/>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685800" y="2133600"/>
            <a:ext cx="3810000" cy="3505200"/>
          </a:xfrm>
          <a:prstGeom prst="rect">
            <a:avLst/>
          </a:prstGeom>
        </p:spPr>
        <p:txBody>
          <a:bodyPr/>
          <a:lstStyle>
            <a:lvl1pPr>
              <a:defRPr sz="2800" b="0" i="0">
                <a:solidFill>
                  <a:srgbClr val="606060"/>
                </a:solidFill>
                <a:latin typeface="Trebuchet MS"/>
                <a:cs typeface="Trebuchet MS"/>
              </a:defRPr>
            </a:lvl1pPr>
            <a:lvl2pPr>
              <a:buClrTx/>
              <a:buFont typeface="Arial"/>
              <a:buChar char="•"/>
              <a:defRPr sz="2400" b="0" i="0">
                <a:solidFill>
                  <a:srgbClr val="606060"/>
                </a:solidFill>
                <a:latin typeface="Trebuchet MS"/>
                <a:cs typeface="Trebuchet MS"/>
              </a:defRPr>
            </a:lvl2pPr>
            <a:lvl3pPr>
              <a:buClrTx/>
              <a:buFont typeface="Arial"/>
              <a:buChar char="•"/>
              <a:defRPr sz="2000" b="0" i="0">
                <a:solidFill>
                  <a:srgbClr val="606060"/>
                </a:solidFill>
                <a:latin typeface="Trebuchet MS"/>
                <a:cs typeface="Trebuchet MS"/>
              </a:defRPr>
            </a:lvl3pPr>
            <a:lvl4pPr>
              <a:buClrTx/>
              <a:buFont typeface="Arial"/>
              <a:buChar char="•"/>
              <a:defRPr sz="1800" b="0" i="0">
                <a:solidFill>
                  <a:srgbClr val="606060"/>
                </a:solidFill>
                <a:latin typeface="Trebuchet MS"/>
                <a:cs typeface="Trebuchet MS"/>
              </a:defRPr>
            </a:lvl4pPr>
            <a:lvl5pPr>
              <a:buClr>
                <a:srgbClr val="ECD63F"/>
              </a:buClr>
              <a:buFontTx/>
              <a:buNone/>
              <a:defRPr sz="1800" b="0" i="1">
                <a:solidFill>
                  <a:srgbClr val="606060"/>
                </a:solidFill>
                <a:latin typeface="Trebuchet MS"/>
                <a:cs typeface="Trebuchet MS"/>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2133600"/>
            <a:ext cx="3810000" cy="3505200"/>
          </a:xfrm>
          <a:prstGeom prst="rect">
            <a:avLst/>
          </a:prstGeom>
        </p:spPr>
        <p:txBody>
          <a:bodyPr/>
          <a:lstStyle>
            <a:lvl1pPr>
              <a:defRPr sz="2800" b="0" i="0">
                <a:solidFill>
                  <a:srgbClr val="606060"/>
                </a:solidFill>
                <a:latin typeface="Trebuchet MS"/>
                <a:cs typeface="Trebuchet MS"/>
              </a:defRPr>
            </a:lvl1pPr>
            <a:lvl2pPr>
              <a:buClrTx/>
              <a:buFont typeface="Arial"/>
              <a:buChar char="•"/>
              <a:defRPr sz="2400" b="0" i="0">
                <a:solidFill>
                  <a:srgbClr val="808080"/>
                </a:solidFill>
                <a:latin typeface="Trebuchet MS"/>
                <a:cs typeface="Trebuchet MS"/>
              </a:defRPr>
            </a:lvl2pPr>
            <a:lvl3pPr>
              <a:buClrTx/>
              <a:buFont typeface="Arial"/>
              <a:buChar char="•"/>
              <a:defRPr sz="2000" b="0" i="0">
                <a:solidFill>
                  <a:srgbClr val="808080"/>
                </a:solidFill>
                <a:latin typeface="Trebuchet MS"/>
                <a:cs typeface="Trebuchet MS"/>
              </a:defRPr>
            </a:lvl3pPr>
            <a:lvl4pPr>
              <a:buClrTx/>
              <a:buFont typeface="Arial"/>
              <a:buChar char="•"/>
              <a:defRPr sz="1800" b="0" i="0">
                <a:solidFill>
                  <a:srgbClr val="808080"/>
                </a:solidFill>
                <a:latin typeface="Trebuchet MS"/>
                <a:cs typeface="Trebuchet MS"/>
              </a:defRPr>
            </a:lvl4pPr>
            <a:lvl5pPr>
              <a:buClr>
                <a:srgbClr val="ECD63F"/>
              </a:buClr>
              <a:buFontTx/>
              <a:buNone/>
              <a:defRPr sz="1800" b="0" i="1">
                <a:solidFill>
                  <a:srgbClr val="808080"/>
                </a:solidFill>
                <a:latin typeface="Trebuchet MS"/>
                <a:cs typeface="Trebuchet MS"/>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006475"/>
          </a:xfrm>
          <a:prstGeom prst="rect">
            <a:avLst/>
          </a:prstGeom>
        </p:spPr>
        <p:txBody>
          <a:bodyPr/>
          <a:lstStyle>
            <a:lvl1pPr>
              <a:defRPr b="0" i="0">
                <a:solidFill>
                  <a:srgbClr val="808080"/>
                </a:solidFill>
                <a:latin typeface="Georgia"/>
                <a:cs typeface="Georgia"/>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2057401"/>
            <a:ext cx="4040188" cy="438935"/>
          </a:xfrm>
          <a:prstGeom prst="rect">
            <a:avLst/>
          </a:prstGeom>
        </p:spPr>
        <p:txBody>
          <a:bodyPr anchor="b"/>
          <a:lstStyle>
            <a:lvl1pPr marL="0" indent="0">
              <a:buNone/>
              <a:defRPr sz="2400" b="0" i="0">
                <a:solidFill>
                  <a:srgbClr val="1C6CB5"/>
                </a:solidFill>
                <a:latin typeface="Trebuchet MS"/>
                <a:cs typeface="Trebuchet M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a:t>
            </a:r>
          </a:p>
        </p:txBody>
      </p:sp>
      <p:sp>
        <p:nvSpPr>
          <p:cNvPr id="4" name="Content Placeholder 3"/>
          <p:cNvSpPr>
            <a:spLocks noGrp="1"/>
          </p:cNvSpPr>
          <p:nvPr>
            <p:ph sz="half" idx="2"/>
          </p:nvPr>
        </p:nvSpPr>
        <p:spPr>
          <a:xfrm>
            <a:off x="457200" y="2637626"/>
            <a:ext cx="4040188" cy="2971800"/>
          </a:xfrm>
          <a:prstGeom prst="rect">
            <a:avLst/>
          </a:prstGeom>
        </p:spPr>
        <p:txBody>
          <a:bodyPr/>
          <a:lstStyle>
            <a:lvl1pPr>
              <a:defRPr sz="2400" b="0" i="0">
                <a:solidFill>
                  <a:srgbClr val="606060"/>
                </a:solidFill>
                <a:latin typeface="Trebuchet MS"/>
                <a:cs typeface="Trebuchet MS"/>
              </a:defRPr>
            </a:lvl1pPr>
            <a:lvl2pPr>
              <a:buClr>
                <a:srgbClr val="ECD63F"/>
              </a:buClr>
              <a:buFont typeface="Arial"/>
              <a:buChar char="•"/>
              <a:defRPr sz="2000" b="0" i="0">
                <a:solidFill>
                  <a:srgbClr val="606060"/>
                </a:solidFill>
                <a:latin typeface="Trebuchet MS"/>
                <a:cs typeface="Trebuchet MS"/>
              </a:defRPr>
            </a:lvl2pPr>
            <a:lvl3pPr>
              <a:buClr>
                <a:srgbClr val="ECD63F"/>
              </a:buClr>
              <a:buFont typeface="Arial"/>
              <a:buChar char="•"/>
              <a:defRPr sz="1800" b="0" i="0">
                <a:solidFill>
                  <a:srgbClr val="606060"/>
                </a:solidFill>
                <a:latin typeface="Trebuchet MS"/>
                <a:cs typeface="Trebuchet MS"/>
              </a:defRPr>
            </a:lvl3pPr>
            <a:lvl4pPr>
              <a:buClr>
                <a:srgbClr val="ECD63F"/>
              </a:buClr>
              <a:buFont typeface="Arial"/>
              <a:buChar char="•"/>
              <a:defRPr sz="1600" b="0" i="0">
                <a:solidFill>
                  <a:srgbClr val="606060"/>
                </a:solidFill>
                <a:latin typeface="Trebuchet MS"/>
                <a:cs typeface="Trebuchet MS"/>
              </a:defRPr>
            </a:lvl4pPr>
            <a:lvl5pPr>
              <a:buClr>
                <a:srgbClr val="ECD63F"/>
              </a:buClr>
              <a:buFontTx/>
              <a:buNone/>
              <a:defRPr sz="1600" b="0" i="1">
                <a:solidFill>
                  <a:srgbClr val="606060"/>
                </a:solidFill>
                <a:latin typeface="Trebuchet MS"/>
                <a:cs typeface="Trebuchet MS"/>
              </a:defRPr>
            </a:lvl5pPr>
            <a:lvl6pPr>
              <a:defRPr sz="1600"/>
            </a:lvl6pPr>
            <a:lvl7pPr>
              <a:defRPr sz="1600"/>
            </a:lvl7pPr>
            <a:lvl8pPr>
              <a:defRPr sz="1600"/>
            </a:lvl8pPr>
            <a:lvl9pPr>
              <a:defRPr sz="1600"/>
            </a:lvl9pPr>
          </a:lstStyle>
          <a:p>
            <a:pPr lvl="0"/>
            <a:r>
              <a:rPr lang="en-US" dirty="0" smtClean="0"/>
              <a:t>Click to edit Master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2057401"/>
            <a:ext cx="4041775" cy="438935"/>
          </a:xfrm>
          <a:prstGeom prst="rect">
            <a:avLst/>
          </a:prstGeom>
        </p:spPr>
        <p:txBody>
          <a:bodyPr anchor="b"/>
          <a:lstStyle>
            <a:lvl1pPr marL="0" indent="0">
              <a:buNone/>
              <a:defRPr sz="2400" b="0" i="0">
                <a:solidFill>
                  <a:srgbClr val="1C6CB5"/>
                </a:solidFill>
                <a:latin typeface="Trebuchet MS"/>
                <a:cs typeface="Trebuchet M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a:t>
            </a:r>
          </a:p>
        </p:txBody>
      </p:sp>
      <p:sp>
        <p:nvSpPr>
          <p:cNvPr id="6" name="Content Placeholder 5"/>
          <p:cNvSpPr>
            <a:spLocks noGrp="1"/>
          </p:cNvSpPr>
          <p:nvPr>
            <p:ph sz="quarter" idx="4"/>
          </p:nvPr>
        </p:nvSpPr>
        <p:spPr>
          <a:xfrm>
            <a:off x="4645025" y="2637626"/>
            <a:ext cx="4041775" cy="2971800"/>
          </a:xfrm>
          <a:prstGeom prst="rect">
            <a:avLst/>
          </a:prstGeom>
        </p:spPr>
        <p:txBody>
          <a:bodyPr/>
          <a:lstStyle>
            <a:lvl1pPr>
              <a:defRPr sz="2400">
                <a:solidFill>
                  <a:srgbClr val="606060"/>
                </a:solidFill>
              </a:defRPr>
            </a:lvl1pPr>
            <a:lvl2pPr>
              <a:buClr>
                <a:srgbClr val="ECD63F"/>
              </a:buClr>
              <a:buFont typeface="Arial"/>
              <a:buChar char="•"/>
              <a:defRPr sz="2000">
                <a:solidFill>
                  <a:srgbClr val="606060"/>
                </a:solidFill>
              </a:defRPr>
            </a:lvl2pPr>
            <a:lvl3pPr>
              <a:buClr>
                <a:srgbClr val="ECD63F"/>
              </a:buClr>
              <a:buFont typeface="Arial"/>
              <a:buChar char="•"/>
              <a:defRPr sz="1800">
                <a:solidFill>
                  <a:srgbClr val="606060"/>
                </a:solidFill>
              </a:defRPr>
            </a:lvl3pPr>
            <a:lvl4pPr>
              <a:buClr>
                <a:srgbClr val="ECD63F"/>
              </a:buClr>
              <a:buFont typeface="Arial"/>
              <a:buChar char="•"/>
              <a:defRPr sz="1600">
                <a:solidFill>
                  <a:srgbClr val="606060"/>
                </a:solidFill>
              </a:defRPr>
            </a:lvl4pPr>
            <a:lvl5pPr>
              <a:buClr>
                <a:srgbClr val="ECD63F"/>
              </a:buClr>
              <a:buFontTx/>
              <a:buNone/>
              <a:defRPr sz="1600" i="1">
                <a:solidFill>
                  <a:srgbClr val="606060"/>
                </a:solidFill>
              </a:defRPr>
            </a:lvl5pPr>
            <a:lvl6pPr>
              <a:defRPr sz="1600"/>
            </a:lvl6pPr>
            <a:lvl7pPr>
              <a:defRPr sz="1600"/>
            </a:lvl7pPr>
            <a:lvl8pPr>
              <a:defRPr sz="1600"/>
            </a:lvl8pPr>
            <a:lvl9pPr>
              <a:defRPr sz="1600"/>
            </a:lvl9pPr>
          </a:lstStyle>
          <a:p>
            <a:pPr lvl="0"/>
            <a:r>
              <a:rPr lang="en-US" dirty="0" smtClean="0"/>
              <a:t>Click to edit Master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3008313" cy="1295400"/>
          </a:xfrm>
          <a:prstGeom prst="rect">
            <a:avLst/>
          </a:prstGeom>
          <a:solidFill>
            <a:srgbClr val="F49709"/>
          </a:solidFill>
        </p:spPr>
        <p:txBody>
          <a:bodyPr anchor="b"/>
          <a:lstStyle>
            <a:lvl1pPr algn="l">
              <a:defRPr sz="2000" b="0" i="0">
                <a:latin typeface="Trebuchet MS"/>
                <a:cs typeface="Trebuchet MS"/>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1143000"/>
            <a:ext cx="5111750" cy="4495800"/>
          </a:xfrm>
          <a:prstGeom prst="rect">
            <a:avLst/>
          </a:prstGeom>
        </p:spPr>
        <p:txBody>
          <a:bodyPr/>
          <a:lstStyle>
            <a:lvl1pPr>
              <a:defRPr sz="3200">
                <a:solidFill>
                  <a:srgbClr val="606060"/>
                </a:solidFill>
                <a:latin typeface="Georgia"/>
                <a:cs typeface="Georgia"/>
              </a:defRPr>
            </a:lvl1pPr>
            <a:lvl2pPr>
              <a:buClrTx/>
              <a:buFont typeface="Arial"/>
              <a:buChar char="•"/>
              <a:defRPr sz="2800" b="0" i="0">
                <a:solidFill>
                  <a:srgbClr val="606060"/>
                </a:solidFill>
                <a:latin typeface="Trebuchet MS"/>
                <a:cs typeface="Trebuchet MS"/>
              </a:defRPr>
            </a:lvl2pPr>
            <a:lvl3pPr>
              <a:buClrTx/>
              <a:buFont typeface="Arial"/>
              <a:buChar char="•"/>
              <a:defRPr sz="2400" b="0" i="0">
                <a:solidFill>
                  <a:srgbClr val="606060"/>
                </a:solidFill>
                <a:latin typeface="Trebuchet MS"/>
                <a:cs typeface="Trebuchet MS"/>
              </a:defRPr>
            </a:lvl3pPr>
            <a:lvl4pPr>
              <a:buClrTx/>
              <a:buFont typeface="Arial"/>
              <a:buChar char="•"/>
              <a:defRPr sz="2000" b="0" i="0">
                <a:solidFill>
                  <a:srgbClr val="606060"/>
                </a:solidFill>
                <a:latin typeface="Trebuchet MS"/>
                <a:cs typeface="Trebuchet MS"/>
              </a:defRPr>
            </a:lvl4pPr>
            <a:lvl5pPr>
              <a:buClr>
                <a:srgbClr val="ECD63F"/>
              </a:buClr>
              <a:buFontTx/>
              <a:buNone/>
              <a:defRPr sz="2000" b="0" i="1">
                <a:solidFill>
                  <a:srgbClr val="606060"/>
                </a:solidFill>
                <a:latin typeface="Trebuchet MS"/>
                <a:cs typeface="Trebuchet MS"/>
              </a:defRPr>
            </a:lvl5pPr>
            <a:lvl6pPr>
              <a:defRPr sz="2000"/>
            </a:lvl6pPr>
            <a:lvl7pPr>
              <a:defRPr sz="2000"/>
            </a:lvl7pPr>
            <a:lvl8pPr>
              <a:defRPr sz="2000"/>
            </a:lvl8pPr>
            <a:lvl9pPr>
              <a:defRPr sz="2000"/>
            </a:lvl9pPr>
          </a:lstStyle>
          <a:p>
            <a:pPr lvl="0"/>
            <a:r>
              <a:rPr lang="en-US" dirty="0" smtClean="0"/>
              <a:t>Click to edit Master text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2590800"/>
            <a:ext cx="3008313" cy="3048000"/>
          </a:xfrm>
          <a:prstGeom prst="rect">
            <a:avLst/>
          </a:prstGeom>
        </p:spPr>
        <p:txBody>
          <a:bodyPr/>
          <a:lstStyle>
            <a:lvl1pPr marL="0" indent="0">
              <a:buNone/>
              <a:defRPr sz="1400" b="0" i="0">
                <a:solidFill>
                  <a:srgbClr val="606060"/>
                </a:solidFill>
                <a:latin typeface="Trebuchet MS"/>
                <a:cs typeface="Trebuchet M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4495800"/>
            <a:ext cx="5334000" cy="566738"/>
          </a:xfrm>
          <a:prstGeom prst="rect">
            <a:avLst/>
          </a:prstGeom>
        </p:spPr>
        <p:txBody>
          <a:bodyPr anchor="b"/>
          <a:lstStyle>
            <a:lvl1pPr algn="ctr">
              <a:defRPr sz="2000" b="0" i="0">
                <a:solidFill>
                  <a:srgbClr val="606060"/>
                </a:solidFill>
                <a:latin typeface="Georgia"/>
                <a:cs typeface="Georgia"/>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1828800" y="1295400"/>
            <a:ext cx="5334000" cy="3124200"/>
          </a:xfrm>
          <a:prstGeom prst="rect">
            <a:avLst/>
          </a:prstGeom>
          <a:ln>
            <a:headEnd type="none" w="med" len="med"/>
            <a:tailEnd type="none" w="med" len="med"/>
          </a:ln>
        </p:spPr>
        <p:style>
          <a:lnRef idx="3">
            <a:schemeClr val="lt1"/>
          </a:lnRef>
          <a:fillRef idx="1">
            <a:schemeClr val="accent3"/>
          </a:fillRef>
          <a:effectRef idx="1">
            <a:schemeClr val="accent3"/>
          </a:effectRef>
          <a:fontRef idx="none"/>
        </p:style>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828800" y="5062538"/>
            <a:ext cx="5334000" cy="804862"/>
          </a:xfrm>
          <a:prstGeom prst="rect">
            <a:avLst/>
          </a:prstGeom>
        </p:spPr>
        <p:txBody>
          <a:bodyPr/>
          <a:lstStyle>
            <a:lvl1pPr marL="0" indent="0" algn="ctr">
              <a:buNone/>
              <a:defRPr sz="1400" b="0" i="0">
                <a:solidFill>
                  <a:srgbClr val="606060"/>
                </a:solidFill>
                <a:latin typeface="Trebuchet MS"/>
                <a:cs typeface="Trebuchet M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gray_seal_alt.jpg"/>
          <p:cNvPicPr>
            <a:picLocks noChangeAspect="1"/>
          </p:cNvPicPr>
          <p:nvPr userDrawn="1"/>
        </p:nvPicPr>
        <p:blipFill>
          <a:blip r:embed="rId10"/>
          <a:stretch>
            <a:fillRect/>
          </a:stretch>
        </p:blipFill>
        <p:spPr>
          <a:xfrm>
            <a:off x="0" y="0"/>
            <a:ext cx="9144000" cy="6858000"/>
          </a:xfrm>
          <a:prstGeom prst="rect">
            <a:avLst/>
          </a:prstGeom>
        </p:spPr>
      </p:pic>
    </p:spTree>
  </p:cSld>
  <p:clrMap bg1="lt1" tx1="dk1" bg2="lt2" tx2="dk2" accent1="accent1" accent2="accent2" accent3="accent3" accent4="accent4" accent5="accent5" accent6="accent6" hlink="hlink" folHlink="folHlink"/>
  <p:sldLayoutIdLst>
    <p:sldLayoutId id="2147483837" r:id="rId1"/>
    <p:sldLayoutId id="2147483838" r:id="rId2"/>
    <p:sldLayoutId id="2147483844" r:id="rId3"/>
    <p:sldLayoutId id="2147483839" r:id="rId4"/>
    <p:sldLayoutId id="2147483840" r:id="rId5"/>
    <p:sldLayoutId id="2147483841" r:id="rId6"/>
    <p:sldLayoutId id="2147483842" r:id="rId7"/>
    <p:sldLayoutId id="2147483843" r:id="rId8"/>
  </p:sldLayoutIdLst>
  <p:txStyles>
    <p:titleStyle>
      <a:lvl1pPr algn="l" rtl="0" eaLnBrk="0" fontAlgn="base" hangingPunct="0">
        <a:spcBef>
          <a:spcPct val="0"/>
        </a:spcBef>
        <a:spcAft>
          <a:spcPct val="0"/>
        </a:spcAft>
        <a:defRPr sz="3600">
          <a:solidFill>
            <a:schemeClr val="bg1"/>
          </a:solidFill>
          <a:latin typeface="+mj-lt"/>
          <a:ea typeface="ＭＳ Ｐゴシック" pitchFamily="122" charset="-128"/>
          <a:cs typeface="ＭＳ Ｐゴシック" pitchFamily="122" charset="-128"/>
        </a:defRPr>
      </a:lvl1pPr>
      <a:lvl2pPr algn="l" rtl="0" eaLnBrk="0" fontAlgn="base" hangingPunct="0">
        <a:spcBef>
          <a:spcPct val="0"/>
        </a:spcBef>
        <a:spcAft>
          <a:spcPct val="0"/>
        </a:spcAft>
        <a:defRPr sz="3600">
          <a:solidFill>
            <a:schemeClr val="bg1"/>
          </a:solidFill>
          <a:latin typeface="Georgia" pitchFamily="125" charset="0"/>
          <a:ea typeface="ＭＳ Ｐゴシック" pitchFamily="122" charset="-128"/>
          <a:cs typeface="ＭＳ Ｐゴシック" pitchFamily="122" charset="-128"/>
        </a:defRPr>
      </a:lvl2pPr>
      <a:lvl3pPr algn="l" rtl="0" eaLnBrk="0" fontAlgn="base" hangingPunct="0">
        <a:spcBef>
          <a:spcPct val="0"/>
        </a:spcBef>
        <a:spcAft>
          <a:spcPct val="0"/>
        </a:spcAft>
        <a:defRPr sz="3600">
          <a:solidFill>
            <a:schemeClr val="bg1"/>
          </a:solidFill>
          <a:latin typeface="Georgia" pitchFamily="125" charset="0"/>
          <a:ea typeface="ＭＳ Ｐゴシック" pitchFamily="122" charset="-128"/>
          <a:cs typeface="ＭＳ Ｐゴシック" pitchFamily="122" charset="-128"/>
        </a:defRPr>
      </a:lvl3pPr>
      <a:lvl4pPr algn="l" rtl="0" eaLnBrk="0" fontAlgn="base" hangingPunct="0">
        <a:spcBef>
          <a:spcPct val="0"/>
        </a:spcBef>
        <a:spcAft>
          <a:spcPct val="0"/>
        </a:spcAft>
        <a:defRPr sz="3600">
          <a:solidFill>
            <a:schemeClr val="bg1"/>
          </a:solidFill>
          <a:latin typeface="Georgia" pitchFamily="125" charset="0"/>
          <a:ea typeface="ＭＳ Ｐゴシック" pitchFamily="122" charset="-128"/>
          <a:cs typeface="ＭＳ Ｐゴシック" pitchFamily="122" charset="-128"/>
        </a:defRPr>
      </a:lvl4pPr>
      <a:lvl5pPr algn="l" rtl="0" eaLnBrk="0" fontAlgn="base" hangingPunct="0">
        <a:spcBef>
          <a:spcPct val="0"/>
        </a:spcBef>
        <a:spcAft>
          <a:spcPct val="0"/>
        </a:spcAft>
        <a:defRPr sz="3600">
          <a:solidFill>
            <a:schemeClr val="bg1"/>
          </a:solidFill>
          <a:latin typeface="Georgia" pitchFamily="125" charset="0"/>
          <a:ea typeface="ＭＳ Ｐゴシック" pitchFamily="122" charset="-128"/>
          <a:cs typeface="ＭＳ Ｐゴシック" pitchFamily="122" charset="-128"/>
        </a:defRPr>
      </a:lvl5pPr>
      <a:lvl6pPr marL="457200" algn="l" rtl="0" fontAlgn="base">
        <a:spcBef>
          <a:spcPct val="0"/>
        </a:spcBef>
        <a:spcAft>
          <a:spcPct val="0"/>
        </a:spcAft>
        <a:defRPr sz="3600">
          <a:solidFill>
            <a:schemeClr val="bg1"/>
          </a:solidFill>
          <a:latin typeface="Times" pitchFamily="122" charset="0"/>
        </a:defRPr>
      </a:lvl6pPr>
      <a:lvl7pPr marL="914400" algn="l" rtl="0" fontAlgn="base">
        <a:spcBef>
          <a:spcPct val="0"/>
        </a:spcBef>
        <a:spcAft>
          <a:spcPct val="0"/>
        </a:spcAft>
        <a:defRPr sz="3600">
          <a:solidFill>
            <a:schemeClr val="bg1"/>
          </a:solidFill>
          <a:latin typeface="Times" pitchFamily="122" charset="0"/>
        </a:defRPr>
      </a:lvl7pPr>
      <a:lvl8pPr marL="1371600" algn="l" rtl="0" fontAlgn="base">
        <a:spcBef>
          <a:spcPct val="0"/>
        </a:spcBef>
        <a:spcAft>
          <a:spcPct val="0"/>
        </a:spcAft>
        <a:defRPr sz="3600">
          <a:solidFill>
            <a:schemeClr val="bg1"/>
          </a:solidFill>
          <a:latin typeface="Times" pitchFamily="122" charset="0"/>
        </a:defRPr>
      </a:lvl8pPr>
      <a:lvl9pPr marL="1828800" algn="l" rtl="0" fontAlgn="base">
        <a:spcBef>
          <a:spcPct val="0"/>
        </a:spcBef>
        <a:spcAft>
          <a:spcPct val="0"/>
        </a:spcAft>
        <a:defRPr sz="3600">
          <a:solidFill>
            <a:schemeClr val="bg1"/>
          </a:solidFill>
          <a:latin typeface="Times" pitchFamily="122" charset="0"/>
        </a:defRPr>
      </a:lvl9pPr>
    </p:titleStyle>
    <p:bodyStyle>
      <a:lvl1pPr marL="342900" indent="-342900" algn="l" rtl="0" eaLnBrk="0" fontAlgn="base" hangingPunct="0">
        <a:spcBef>
          <a:spcPct val="20000"/>
        </a:spcBef>
        <a:spcAft>
          <a:spcPct val="0"/>
        </a:spcAft>
        <a:buClr>
          <a:srgbClr val="FF6600"/>
        </a:buClr>
        <a:defRPr sz="2400">
          <a:solidFill>
            <a:schemeClr val="bg1"/>
          </a:solidFill>
          <a:latin typeface="+mn-lt"/>
          <a:ea typeface="ＭＳ Ｐゴシック" pitchFamily="122" charset="-128"/>
          <a:cs typeface="ＭＳ Ｐゴシック" pitchFamily="122" charset="-128"/>
        </a:defRPr>
      </a:lvl1pPr>
      <a:lvl2pPr marL="742950" indent="-285750" algn="l" rtl="0" eaLnBrk="0" fontAlgn="base" hangingPunct="0">
        <a:spcBef>
          <a:spcPct val="20000"/>
        </a:spcBef>
        <a:spcAft>
          <a:spcPct val="0"/>
        </a:spcAft>
        <a:buClr>
          <a:srgbClr val="FF6633"/>
        </a:buClr>
        <a:buSzPct val="80000"/>
        <a:buFont typeface="Times" charset="0"/>
        <a:buChar char="•"/>
        <a:defRPr sz="2400">
          <a:solidFill>
            <a:schemeClr val="bg1"/>
          </a:solidFill>
          <a:latin typeface="+mn-lt"/>
          <a:ea typeface="ＭＳ Ｐゴシック" pitchFamily="122" charset="-128"/>
        </a:defRPr>
      </a:lvl2pPr>
      <a:lvl3pPr marL="1143000" indent="-228600" algn="l" rtl="0" eaLnBrk="0" fontAlgn="base" hangingPunct="0">
        <a:spcBef>
          <a:spcPct val="20000"/>
        </a:spcBef>
        <a:spcAft>
          <a:spcPct val="0"/>
        </a:spcAft>
        <a:buClr>
          <a:srgbClr val="FF6600"/>
        </a:buClr>
        <a:buChar char="•"/>
        <a:defRPr sz="2000">
          <a:solidFill>
            <a:schemeClr val="bg1"/>
          </a:solidFill>
          <a:latin typeface="+mn-lt"/>
          <a:ea typeface="ＭＳ Ｐゴシック" pitchFamily="122" charset="-128"/>
        </a:defRPr>
      </a:lvl3pPr>
      <a:lvl4pPr marL="1600200" indent="-228600" algn="l" rtl="0" eaLnBrk="0" fontAlgn="base" hangingPunct="0">
        <a:spcBef>
          <a:spcPct val="20000"/>
        </a:spcBef>
        <a:spcAft>
          <a:spcPct val="0"/>
        </a:spcAft>
        <a:buClr>
          <a:srgbClr val="FF6600"/>
        </a:buClr>
        <a:buSzPct val="95000"/>
        <a:buFont typeface="Times" charset="0"/>
        <a:buChar char="•"/>
        <a:defRPr sz="2000">
          <a:solidFill>
            <a:schemeClr val="bg1"/>
          </a:solidFill>
          <a:latin typeface="+mn-lt"/>
          <a:ea typeface="ＭＳ Ｐゴシック" pitchFamily="122" charset="-128"/>
        </a:defRPr>
      </a:lvl4pPr>
      <a:lvl5pPr marL="2057400" indent="-228600" algn="l" rtl="0" eaLnBrk="0" fontAlgn="base" hangingPunct="0">
        <a:spcBef>
          <a:spcPct val="20000"/>
        </a:spcBef>
        <a:spcAft>
          <a:spcPct val="0"/>
        </a:spcAft>
        <a:buClr>
          <a:schemeClr val="bg1"/>
        </a:buClr>
        <a:defRPr sz="2000">
          <a:solidFill>
            <a:schemeClr val="bg1"/>
          </a:solidFill>
          <a:latin typeface="+mn-lt"/>
          <a:ea typeface="ＭＳ Ｐゴシック" pitchFamily="122" charset="-128"/>
        </a:defRPr>
      </a:lvl5pPr>
      <a:lvl6pPr marL="2514600" indent="-228600" algn="l" rtl="0" fontAlgn="base">
        <a:spcBef>
          <a:spcPct val="20000"/>
        </a:spcBef>
        <a:spcAft>
          <a:spcPct val="0"/>
        </a:spcAft>
        <a:buClr>
          <a:schemeClr val="bg1"/>
        </a:buClr>
        <a:defRPr sz="2000">
          <a:solidFill>
            <a:schemeClr val="bg1"/>
          </a:solidFill>
          <a:latin typeface="+mn-lt"/>
          <a:ea typeface="ＭＳ Ｐゴシック" pitchFamily="122" charset="-128"/>
        </a:defRPr>
      </a:lvl6pPr>
      <a:lvl7pPr marL="2971800" indent="-228600" algn="l" rtl="0" fontAlgn="base">
        <a:spcBef>
          <a:spcPct val="20000"/>
        </a:spcBef>
        <a:spcAft>
          <a:spcPct val="0"/>
        </a:spcAft>
        <a:buClr>
          <a:schemeClr val="bg1"/>
        </a:buClr>
        <a:defRPr sz="2000">
          <a:solidFill>
            <a:schemeClr val="bg1"/>
          </a:solidFill>
          <a:latin typeface="+mn-lt"/>
          <a:ea typeface="ＭＳ Ｐゴシック" pitchFamily="122" charset="-128"/>
        </a:defRPr>
      </a:lvl7pPr>
      <a:lvl8pPr marL="3429000" indent="-228600" algn="l" rtl="0" fontAlgn="base">
        <a:spcBef>
          <a:spcPct val="20000"/>
        </a:spcBef>
        <a:spcAft>
          <a:spcPct val="0"/>
        </a:spcAft>
        <a:buClr>
          <a:schemeClr val="bg1"/>
        </a:buClr>
        <a:defRPr sz="2000">
          <a:solidFill>
            <a:schemeClr val="bg1"/>
          </a:solidFill>
          <a:latin typeface="+mn-lt"/>
          <a:ea typeface="ＭＳ Ｐゴシック" pitchFamily="122" charset="-128"/>
        </a:defRPr>
      </a:lvl8pPr>
      <a:lvl9pPr marL="3886200" indent="-228600" algn="l" rtl="0" fontAlgn="base">
        <a:spcBef>
          <a:spcPct val="20000"/>
        </a:spcBef>
        <a:spcAft>
          <a:spcPct val="0"/>
        </a:spcAft>
        <a:buClr>
          <a:schemeClr val="bg1"/>
        </a:buClr>
        <a:defRPr sz="2000">
          <a:solidFill>
            <a:schemeClr val="bg1"/>
          </a:solidFill>
          <a:latin typeface="+mn-lt"/>
          <a:ea typeface="ＭＳ Ｐゴシック" pitchFamily="122"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Ghosts in the machine:</a:t>
            </a:r>
            <a:br>
              <a:rPr lang="en-US" sz="4800" dirty="0" smtClean="0"/>
            </a:br>
            <a:r>
              <a:rPr lang="en-US" sz="3200" dirty="0" smtClean="0"/>
              <a:t>The role of human factors in cybersecurity</a:t>
            </a:r>
            <a:endParaRPr lang="en-US" sz="3200" dirty="0"/>
          </a:p>
        </p:txBody>
      </p:sp>
      <p:sp>
        <p:nvSpPr>
          <p:cNvPr id="3" name="Subtitle 2"/>
          <p:cNvSpPr>
            <a:spLocks noGrp="1"/>
          </p:cNvSpPr>
          <p:nvPr>
            <p:ph type="subTitle" idx="1"/>
          </p:nvPr>
        </p:nvSpPr>
        <p:spPr>
          <a:xfrm>
            <a:off x="533400" y="3216613"/>
            <a:ext cx="7924800" cy="3276600"/>
          </a:xfrm>
        </p:spPr>
        <p:txBody>
          <a:bodyPr/>
          <a:lstStyle/>
          <a:p>
            <a:r>
              <a:rPr lang="en-US" dirty="0" smtClean="0"/>
              <a:t>Adam Houser</a:t>
            </a:r>
          </a:p>
          <a:p>
            <a:r>
              <a:rPr lang="en-US" sz="1600" dirty="0" smtClean="0"/>
              <a:t>PhD Student, Formal Human Systems Laboratory</a:t>
            </a:r>
          </a:p>
          <a:p>
            <a:r>
              <a:rPr lang="en-US" sz="1600" dirty="0" smtClean="0"/>
              <a:t>Junior Cognitive Systems Engineer, Resilient Cognitive Solutions</a:t>
            </a:r>
          </a:p>
          <a:p>
            <a:r>
              <a:rPr lang="en-US" sz="1600" dirty="0" smtClean="0"/>
              <a:t>Pittsburgh PA</a:t>
            </a:r>
          </a:p>
          <a:p>
            <a:endParaRPr lang="en-US" sz="1600" dirty="0"/>
          </a:p>
          <a:p>
            <a:r>
              <a:rPr lang="en-US" dirty="0" smtClean="0"/>
              <a:t>Kylie </a:t>
            </a:r>
            <a:r>
              <a:rPr lang="en-US" dirty="0" err="1" smtClean="0"/>
              <a:t>Molinaro</a:t>
            </a:r>
            <a:endParaRPr lang="en-US" dirty="0" smtClean="0"/>
          </a:p>
          <a:p>
            <a:r>
              <a:rPr lang="en-US" sz="1600" dirty="0" smtClean="0"/>
              <a:t>PhD Student, Formal Human Systems Laboratory</a:t>
            </a:r>
          </a:p>
          <a:p>
            <a:r>
              <a:rPr lang="en-US" sz="1600" dirty="0" smtClean="0"/>
              <a:t>Research Associate, Johns Hopkins Applied Physics Laboratory</a:t>
            </a:r>
          </a:p>
          <a:p>
            <a:r>
              <a:rPr lang="en-US" sz="1600" dirty="0" smtClean="0"/>
              <a:t>Laurel MD</a:t>
            </a:r>
            <a:endParaRPr lang="en-US" sz="1600" dirty="0"/>
          </a:p>
        </p:txBody>
      </p:sp>
    </p:spTree>
    <p:extLst>
      <p:ext uri="{BB962C8B-B14F-4D97-AF65-F5344CB8AC3E}">
        <p14:creationId xmlns:p14="http://schemas.microsoft.com/office/powerpoint/2010/main" val="1087944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838200"/>
          </a:xfrm>
        </p:spPr>
        <p:txBody>
          <a:bodyPr/>
          <a:lstStyle/>
          <a:p>
            <a:r>
              <a:rPr lang="en-US" dirty="0" smtClean="0"/>
              <a:t>The 21</a:t>
            </a:r>
            <a:r>
              <a:rPr lang="en-US" baseline="30000" dirty="0" smtClean="0"/>
              <a:t>st</a:t>
            </a:r>
            <a:r>
              <a:rPr lang="en-US" dirty="0" smtClean="0"/>
              <a:t> century battlefield</a:t>
            </a:r>
            <a:endParaRPr lang="en-US" dirty="0"/>
          </a:p>
        </p:txBody>
      </p:sp>
      <p:sp>
        <p:nvSpPr>
          <p:cNvPr id="3" name="Content Placeholder 2"/>
          <p:cNvSpPr>
            <a:spLocks noGrp="1"/>
          </p:cNvSpPr>
          <p:nvPr>
            <p:ph idx="1"/>
          </p:nvPr>
        </p:nvSpPr>
        <p:spPr>
          <a:xfrm>
            <a:off x="685800" y="1981200"/>
            <a:ext cx="7772400" cy="4038600"/>
          </a:xfrm>
        </p:spPr>
        <p:txBody>
          <a:bodyPr/>
          <a:lstStyle/>
          <a:p>
            <a:r>
              <a:rPr lang="en-US" dirty="0" smtClean="0"/>
              <a:t>2015 Private Sector</a:t>
            </a:r>
          </a:p>
          <a:p>
            <a:pPr>
              <a:buFont typeface="Arial" panose="020B0604020202020204" pitchFamily="34" charset="0"/>
              <a:buChar char="•"/>
            </a:pPr>
            <a:r>
              <a:rPr lang="en-US" dirty="0" smtClean="0"/>
              <a:t>November: 70m prison phone records (</a:t>
            </a:r>
            <a:r>
              <a:rPr lang="en-US" dirty="0" err="1" smtClean="0"/>
              <a:t>Securus</a:t>
            </a:r>
            <a:r>
              <a:rPr lang="en-US" dirty="0" smtClean="0"/>
              <a:t>)</a:t>
            </a:r>
          </a:p>
          <a:p>
            <a:pPr>
              <a:buFont typeface="Arial" panose="020B0604020202020204" pitchFamily="34" charset="0"/>
              <a:buChar char="•"/>
            </a:pPr>
            <a:r>
              <a:rPr lang="en-US" dirty="0" smtClean="0"/>
              <a:t>October: 15m T-Mobile customer records (Experian)</a:t>
            </a:r>
          </a:p>
          <a:p>
            <a:pPr>
              <a:buFont typeface="Arial" panose="020B0604020202020204" pitchFamily="34" charset="0"/>
              <a:buChar char="•"/>
            </a:pPr>
            <a:r>
              <a:rPr lang="en-US" dirty="0" smtClean="0"/>
              <a:t>September: 37m customer records (Ashley Madison)</a:t>
            </a:r>
          </a:p>
          <a:p>
            <a:pPr marL="0" indent="0"/>
            <a:endParaRPr lang="en-US" dirty="0"/>
          </a:p>
          <a:p>
            <a:pPr marL="0" indent="0"/>
            <a:r>
              <a:rPr lang="en-US" dirty="0" smtClean="0"/>
              <a:t>2015 Public Sector</a:t>
            </a:r>
          </a:p>
          <a:p>
            <a:pPr>
              <a:buFont typeface="Arial" panose="020B0604020202020204" pitchFamily="34" charset="0"/>
              <a:buChar char="•"/>
            </a:pPr>
            <a:r>
              <a:rPr lang="en-US" dirty="0" smtClean="0"/>
              <a:t>November: US arrest records, info portal (FBI et al.)</a:t>
            </a:r>
          </a:p>
          <a:p>
            <a:pPr>
              <a:buFont typeface="Arial" panose="020B0604020202020204" pitchFamily="34" charset="0"/>
              <a:buChar char="•"/>
            </a:pPr>
            <a:r>
              <a:rPr lang="en-US" dirty="0" smtClean="0"/>
              <a:t>June: 22m highly-sensitive records (OPM)</a:t>
            </a:r>
          </a:p>
          <a:p>
            <a:pPr>
              <a:buFont typeface="Arial" panose="020B0604020202020204" pitchFamily="34" charset="0"/>
              <a:buChar char="•"/>
            </a:pPr>
            <a:r>
              <a:rPr lang="en-US" dirty="0" smtClean="0"/>
              <a:t>May: 100k tax and personal records (IRS)</a:t>
            </a:r>
            <a:endParaRPr lang="en-US" dirty="0"/>
          </a:p>
        </p:txBody>
      </p:sp>
    </p:spTree>
    <p:extLst>
      <p:ext uri="{BB962C8B-B14F-4D97-AF65-F5344CB8AC3E}">
        <p14:creationId xmlns:p14="http://schemas.microsoft.com/office/powerpoint/2010/main" val="310855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838200"/>
          </a:xfrm>
        </p:spPr>
        <p:txBody>
          <a:bodyPr/>
          <a:lstStyle/>
          <a:p>
            <a:r>
              <a:rPr lang="en-US" dirty="0" smtClean="0"/>
              <a:t>AA&amp;R in cybersecurity domains</a:t>
            </a:r>
            <a:endParaRPr lang="en-US" dirty="0"/>
          </a:p>
        </p:txBody>
      </p:sp>
      <p:sp>
        <p:nvSpPr>
          <p:cNvPr id="3" name="Content Placeholder 2"/>
          <p:cNvSpPr>
            <a:spLocks noGrp="1"/>
          </p:cNvSpPr>
          <p:nvPr>
            <p:ph idx="1"/>
          </p:nvPr>
        </p:nvSpPr>
        <p:spPr>
          <a:xfrm>
            <a:off x="685800" y="1981200"/>
            <a:ext cx="7772400" cy="4038600"/>
          </a:xfrm>
        </p:spPr>
        <p:txBody>
          <a:bodyPr/>
          <a:lstStyle/>
          <a:p>
            <a:pPr>
              <a:buFont typeface="Arial" panose="020B0604020202020204" pitchFamily="34" charset="0"/>
              <a:buChar char="•"/>
            </a:pPr>
            <a:r>
              <a:rPr lang="en-US" dirty="0" smtClean="0"/>
              <a:t>Authority, autonomy, responsibility</a:t>
            </a:r>
          </a:p>
          <a:p>
            <a:pPr marL="0" indent="0"/>
            <a:endParaRPr lang="en-US" dirty="0" smtClean="0"/>
          </a:p>
          <a:p>
            <a:pPr>
              <a:buFont typeface="Arial" panose="020B0604020202020204" pitchFamily="34" charset="0"/>
              <a:buChar char="•"/>
            </a:pPr>
            <a:r>
              <a:rPr lang="en-US" dirty="0" smtClean="0"/>
              <a:t>Multi-user or multi-agency systems: </a:t>
            </a:r>
          </a:p>
          <a:p>
            <a:pPr lvl="1">
              <a:buFont typeface="Arial" panose="020B0604020202020204" pitchFamily="34" charset="0"/>
              <a:buChar char="•"/>
            </a:pPr>
            <a:r>
              <a:rPr lang="en-US" dirty="0" smtClean="0"/>
              <a:t>Lots of employees (NSA/GCHQ)</a:t>
            </a:r>
          </a:p>
          <a:p>
            <a:pPr lvl="1">
              <a:buFont typeface="Arial" panose="020B0604020202020204" pitchFamily="34" charset="0"/>
              <a:buChar char="•"/>
            </a:pPr>
            <a:r>
              <a:rPr lang="en-US" dirty="0" smtClean="0"/>
              <a:t>Each has clearance level or compartment</a:t>
            </a:r>
            <a:endParaRPr lang="en-US" dirty="0"/>
          </a:p>
          <a:p>
            <a:pPr lvl="1">
              <a:buFont typeface="Arial" panose="020B0604020202020204" pitchFamily="34" charset="0"/>
              <a:buChar char="•"/>
            </a:pPr>
            <a:r>
              <a:rPr lang="en-US" dirty="0" smtClean="0"/>
              <a:t>Who is on the critical path for task execution?</a:t>
            </a:r>
          </a:p>
          <a:p>
            <a:pPr>
              <a:buFont typeface="Arial" panose="020B0604020202020204" pitchFamily="34" charset="0"/>
              <a:buChar char="•"/>
            </a:pPr>
            <a:endParaRPr lang="en-US" dirty="0"/>
          </a:p>
          <a:p>
            <a:pPr>
              <a:buFont typeface="Arial" panose="020B0604020202020204" pitchFamily="34" charset="0"/>
              <a:buChar char="•"/>
            </a:pPr>
            <a:r>
              <a:rPr lang="en-US" dirty="0" smtClean="0"/>
              <a:t>AA&amp;R is a useful framework for identifying trouble spots in large sensitive systems and networks</a:t>
            </a:r>
          </a:p>
          <a:p>
            <a:pPr>
              <a:buFont typeface="Arial" panose="020B0604020202020204" pitchFamily="34" charset="0"/>
              <a:buChar char="•"/>
            </a:pPr>
            <a:endParaRPr lang="en-US" dirty="0"/>
          </a:p>
          <a:p>
            <a:pPr>
              <a:buFont typeface="Arial" panose="020B0604020202020204" pitchFamily="34" charset="0"/>
              <a:buChar char="•"/>
            </a:pPr>
            <a:endParaRPr lang="en-US" dirty="0" smtClean="0"/>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2312507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838200"/>
          </a:xfrm>
        </p:spPr>
        <p:txBody>
          <a:bodyPr/>
          <a:lstStyle/>
          <a:p>
            <a:r>
              <a:rPr lang="en-US" dirty="0" smtClean="0"/>
              <a:t>A research agenda</a:t>
            </a:r>
            <a:endParaRPr lang="en-US" dirty="0"/>
          </a:p>
        </p:txBody>
      </p:sp>
      <p:sp>
        <p:nvSpPr>
          <p:cNvPr id="3" name="Content Placeholder 2"/>
          <p:cNvSpPr>
            <a:spLocks noGrp="1"/>
          </p:cNvSpPr>
          <p:nvPr>
            <p:ph idx="1"/>
          </p:nvPr>
        </p:nvSpPr>
        <p:spPr>
          <a:xfrm>
            <a:off x="685800" y="1981200"/>
            <a:ext cx="7772400" cy="4038600"/>
          </a:xfrm>
        </p:spPr>
        <p:txBody>
          <a:bodyPr/>
          <a:lstStyle/>
          <a:p>
            <a:pPr>
              <a:buFont typeface="Arial" panose="020B0604020202020204" pitchFamily="34" charset="0"/>
              <a:buChar char="•"/>
            </a:pPr>
            <a:r>
              <a:rPr lang="en-US" dirty="0" smtClean="0"/>
              <a:t>Formal methods can be used for system modeling and exploration</a:t>
            </a:r>
            <a:endParaRPr lang="en-US" dirty="0"/>
          </a:p>
          <a:p>
            <a:pPr>
              <a:buFont typeface="Arial" panose="020B0604020202020204" pitchFamily="34" charset="0"/>
              <a:buChar char="•"/>
            </a:pPr>
            <a:endParaRPr lang="en-US" dirty="0" smtClean="0"/>
          </a:p>
          <a:p>
            <a:pPr>
              <a:buFont typeface="Arial" panose="020B0604020202020204" pitchFamily="34" charset="0"/>
              <a:buChar char="•"/>
            </a:pPr>
            <a:r>
              <a:rPr lang="en-US" dirty="0" smtClean="0"/>
              <a:t>Very good at finding corner cases; exceptional </a:t>
            </a:r>
            <a:r>
              <a:rPr lang="en-US" dirty="0" err="1" smtClean="0"/>
              <a:t>combinatoric</a:t>
            </a:r>
            <a:r>
              <a:rPr lang="en-US" dirty="0" smtClean="0"/>
              <a:t> conditions; rare but critical system behavior</a:t>
            </a:r>
          </a:p>
          <a:p>
            <a:pPr>
              <a:buFont typeface="Arial" panose="020B0604020202020204" pitchFamily="34" charset="0"/>
              <a:buChar char="•"/>
            </a:pPr>
            <a:endParaRPr lang="en-US" dirty="0"/>
          </a:p>
          <a:p>
            <a:pPr>
              <a:buFont typeface="Arial" panose="020B0604020202020204" pitchFamily="34" charset="0"/>
              <a:buChar char="•"/>
            </a:pPr>
            <a:r>
              <a:rPr lang="en-US" dirty="0" smtClean="0"/>
              <a:t>Potential use cases: personnel management; insider threat analysis; pen-testing and red-teaming</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073796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0"/>
            <a:ext cx="7772400" cy="838200"/>
          </a:xfrm>
        </p:spPr>
        <p:txBody>
          <a:bodyPr/>
          <a:lstStyle/>
          <a:p>
            <a:r>
              <a:rPr lang="en-US" sz="3200" dirty="0"/>
              <a:t>Understanding the </a:t>
            </a:r>
            <a:r>
              <a:rPr lang="en-US" sz="3200" dirty="0" smtClean="0"/>
              <a:t>response </a:t>
            </a:r>
            <a:r>
              <a:rPr lang="en-US" sz="3200" dirty="0"/>
              <a:t>to </a:t>
            </a:r>
            <a:r>
              <a:rPr lang="en-US" sz="3200" dirty="0" smtClean="0"/>
              <a:t>phishing emails</a:t>
            </a:r>
            <a:endParaRPr lang="en-US" sz="3200" dirty="0"/>
          </a:p>
        </p:txBody>
      </p:sp>
      <p:sp>
        <p:nvSpPr>
          <p:cNvPr id="3" name="Content Placeholder 2"/>
          <p:cNvSpPr>
            <a:spLocks noGrp="1"/>
          </p:cNvSpPr>
          <p:nvPr>
            <p:ph idx="1"/>
          </p:nvPr>
        </p:nvSpPr>
        <p:spPr>
          <a:xfrm>
            <a:off x="685800" y="1981200"/>
            <a:ext cx="7772400" cy="4495800"/>
          </a:xfrm>
        </p:spPr>
        <p:txBody>
          <a:bodyPr/>
          <a:lstStyle/>
          <a:p>
            <a:pPr>
              <a:buFont typeface="Arial" panose="020B0604020202020204" pitchFamily="34" charset="0"/>
              <a:buChar char="•"/>
            </a:pPr>
            <a:r>
              <a:rPr lang="en-US" dirty="0" smtClean="0"/>
              <a:t>Goal:</a:t>
            </a:r>
          </a:p>
          <a:p>
            <a:pPr lvl="1">
              <a:buFont typeface="Trebuchet MS" panose="020B0603020202020204" pitchFamily="34" charset="0"/>
              <a:buChar char="—"/>
            </a:pPr>
            <a:r>
              <a:rPr lang="en-US" dirty="0" smtClean="0"/>
              <a:t>Use </a:t>
            </a:r>
            <a:r>
              <a:rPr lang="en-US" dirty="0"/>
              <a:t>the lens model to understand and predict how people synthesize cues into judgments when assessing a potential phishing email</a:t>
            </a:r>
          </a:p>
          <a:p>
            <a:pPr>
              <a:lnSpc>
                <a:spcPct val="150000"/>
              </a:lnSpc>
              <a:buFont typeface="Arial" panose="020B0604020202020204" pitchFamily="34" charset="0"/>
              <a:buChar char="•"/>
            </a:pPr>
            <a:r>
              <a:rPr lang="en-US" dirty="0"/>
              <a:t>Phishing emails &amp; their impact</a:t>
            </a:r>
          </a:p>
          <a:p>
            <a:pPr>
              <a:lnSpc>
                <a:spcPct val="150000"/>
              </a:lnSpc>
              <a:buFont typeface="Arial" panose="020B0604020202020204" pitchFamily="34" charset="0"/>
              <a:buChar char="•"/>
            </a:pPr>
            <a:r>
              <a:rPr lang="en-US" dirty="0"/>
              <a:t>The </a:t>
            </a:r>
            <a:r>
              <a:rPr lang="en-US" i="1" dirty="0"/>
              <a:t>n</a:t>
            </a:r>
            <a:r>
              <a:rPr lang="en-US" dirty="0"/>
              <a:t>-system lens </a:t>
            </a:r>
            <a:r>
              <a:rPr lang="en-US" dirty="0" smtClean="0"/>
              <a:t>model</a:t>
            </a:r>
            <a:endParaRPr lang="en-US" dirty="0"/>
          </a:p>
          <a:p>
            <a:pPr>
              <a:lnSpc>
                <a:spcPct val="150000"/>
              </a:lnSpc>
              <a:buFont typeface="Arial" panose="020B0604020202020204" pitchFamily="34" charset="0"/>
              <a:buChar char="•"/>
            </a:pPr>
            <a:r>
              <a:rPr lang="en-US" dirty="0"/>
              <a:t>Known information </a:t>
            </a:r>
            <a:r>
              <a:rPr lang="en-US" dirty="0" smtClean="0"/>
              <a:t>sources</a:t>
            </a:r>
          </a:p>
          <a:p>
            <a:pPr lvl="1">
              <a:buFont typeface="Trebuchet MS" panose="020B0603020202020204" pitchFamily="34" charset="0"/>
              <a:buChar char="—"/>
            </a:pPr>
            <a:r>
              <a:rPr lang="en-US" dirty="0" smtClean="0"/>
              <a:t>Expertise matters</a:t>
            </a:r>
            <a:endParaRPr lang="en-US" dirty="0"/>
          </a:p>
        </p:txBody>
      </p:sp>
    </p:spTree>
    <p:extLst>
      <p:ext uri="{BB962C8B-B14F-4D97-AF65-F5344CB8AC3E}">
        <p14:creationId xmlns:p14="http://schemas.microsoft.com/office/powerpoint/2010/main" val="1082773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838200"/>
          </a:xfrm>
        </p:spPr>
        <p:txBody>
          <a:bodyPr/>
          <a:lstStyle/>
          <a:p>
            <a:r>
              <a:rPr lang="en-US" dirty="0"/>
              <a:t>Research</a:t>
            </a:r>
            <a:r>
              <a:rPr lang="en-US" sz="3200" dirty="0"/>
              <a:t> </a:t>
            </a:r>
            <a:r>
              <a:rPr lang="en-US" dirty="0" smtClean="0"/>
              <a:t>aims</a:t>
            </a:r>
            <a:r>
              <a:rPr lang="en-US" sz="3200" dirty="0"/>
              <a:t>	</a:t>
            </a:r>
          </a:p>
        </p:txBody>
      </p:sp>
      <p:sp>
        <p:nvSpPr>
          <p:cNvPr id="3" name="Content Placeholder 2"/>
          <p:cNvSpPr>
            <a:spLocks noGrp="1"/>
          </p:cNvSpPr>
          <p:nvPr>
            <p:ph idx="1"/>
          </p:nvPr>
        </p:nvSpPr>
        <p:spPr>
          <a:xfrm>
            <a:off x="685800" y="1981200"/>
            <a:ext cx="7772400" cy="4495800"/>
          </a:xfrm>
        </p:spPr>
        <p:txBody>
          <a:bodyPr/>
          <a:lstStyle/>
          <a:p>
            <a:pPr>
              <a:buFont typeface="Arial" panose="020B0604020202020204" pitchFamily="34" charset="0"/>
              <a:buChar char="•"/>
            </a:pPr>
            <a:r>
              <a:rPr lang="en-US" dirty="0"/>
              <a:t>Aim 1: Identifying Cues</a:t>
            </a:r>
          </a:p>
          <a:p>
            <a:pPr lvl="1">
              <a:buFont typeface="Trebuchet MS" panose="020B0603020202020204" pitchFamily="34" charset="0"/>
              <a:buChar char="—"/>
            </a:pPr>
            <a:r>
              <a:rPr lang="en-US" dirty="0"/>
              <a:t>Literature review</a:t>
            </a:r>
          </a:p>
          <a:p>
            <a:pPr lvl="1">
              <a:buFont typeface="Trebuchet MS" panose="020B0603020202020204" pitchFamily="34" charset="0"/>
              <a:buChar char="—"/>
            </a:pPr>
            <a:r>
              <a:rPr lang="en-US" dirty="0"/>
              <a:t>Interviews</a:t>
            </a:r>
          </a:p>
          <a:p>
            <a:pPr lvl="1">
              <a:buFont typeface="Trebuchet MS" panose="020B0603020202020204" pitchFamily="34" charset="0"/>
              <a:buChar char="—"/>
            </a:pPr>
            <a:r>
              <a:rPr lang="en-US" dirty="0"/>
              <a:t>Surveys</a:t>
            </a:r>
          </a:p>
          <a:p>
            <a:pPr>
              <a:buFont typeface="Arial" panose="020B0604020202020204" pitchFamily="34" charset="0"/>
              <a:buChar char="•"/>
            </a:pPr>
            <a:r>
              <a:rPr lang="en-US" dirty="0"/>
              <a:t>Aim 2: Logistic-based Modeling &amp; Analysis </a:t>
            </a:r>
          </a:p>
          <a:p>
            <a:pPr lvl="1">
              <a:buFont typeface="Trebuchet MS" panose="020B0603020202020204" pitchFamily="34" charset="0"/>
              <a:buChar char="—"/>
            </a:pPr>
            <a:r>
              <a:rPr lang="en-US" dirty="0"/>
              <a:t>Human subjects experiment</a:t>
            </a:r>
          </a:p>
          <a:p>
            <a:pPr lvl="1">
              <a:buFont typeface="Trebuchet MS" panose="020B0603020202020204" pitchFamily="34" charset="0"/>
              <a:buChar char="—"/>
            </a:pPr>
            <a:r>
              <a:rPr lang="en-US" dirty="0"/>
              <a:t>Logistic Regression </a:t>
            </a:r>
          </a:p>
          <a:p>
            <a:pPr>
              <a:buFont typeface="Arial" panose="020B0604020202020204" pitchFamily="34" charset="0"/>
              <a:buChar char="•"/>
            </a:pPr>
            <a:r>
              <a:rPr lang="en-US" dirty="0"/>
              <a:t>Aim 3: Identifying General Judgment Strategies</a:t>
            </a:r>
          </a:p>
          <a:p>
            <a:pPr lvl="1">
              <a:buFont typeface="Trebuchet MS" panose="020B0603020202020204" pitchFamily="34" charset="0"/>
              <a:buChar char="—"/>
            </a:pPr>
            <a:r>
              <a:rPr lang="en-US" dirty="0"/>
              <a:t>Which strategies are most successful? </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466929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66800"/>
            <a:ext cx="7772400" cy="838200"/>
          </a:xfrm>
        </p:spPr>
        <p:txBody>
          <a:bodyPr/>
          <a:lstStyle/>
          <a:p>
            <a:pPr algn="ctr"/>
            <a:r>
              <a:rPr lang="en-US" dirty="0" smtClean="0"/>
              <a:t>Thanks!</a:t>
            </a:r>
            <a:endParaRPr lang="en-US" dirty="0"/>
          </a:p>
        </p:txBody>
      </p:sp>
      <p:sp>
        <p:nvSpPr>
          <p:cNvPr id="3" name="Content Placeholder 2"/>
          <p:cNvSpPr>
            <a:spLocks noGrp="1"/>
          </p:cNvSpPr>
          <p:nvPr>
            <p:ph idx="1"/>
          </p:nvPr>
        </p:nvSpPr>
        <p:spPr>
          <a:xfrm>
            <a:off x="685800" y="1981200"/>
            <a:ext cx="7772400" cy="3886200"/>
          </a:xfrm>
        </p:spPr>
        <p:txBody>
          <a:bodyPr/>
          <a:lstStyle/>
          <a:p>
            <a:pPr lvl="0"/>
            <a:r>
              <a:rPr lang="en-US" sz="1200" dirty="0" err="1"/>
              <a:t>Radicati</a:t>
            </a:r>
            <a:r>
              <a:rPr lang="en-US" sz="1200" dirty="0"/>
              <a:t>, S. (2014). Email statistics report, 2014-2018. The </a:t>
            </a:r>
            <a:r>
              <a:rPr lang="en-US" sz="1200" dirty="0" err="1"/>
              <a:t>Radicati</a:t>
            </a:r>
            <a:r>
              <a:rPr lang="en-US" sz="1200" dirty="0"/>
              <a:t> Group. </a:t>
            </a:r>
            <a:r>
              <a:rPr lang="en-US" sz="1200" i="1" dirty="0"/>
              <a:t>Inc., London</a:t>
            </a:r>
            <a:r>
              <a:rPr lang="en-US" sz="1200" dirty="0"/>
              <a:t>.</a:t>
            </a:r>
          </a:p>
          <a:p>
            <a:pPr lvl="0"/>
            <a:r>
              <a:rPr lang="en-US" sz="1200" dirty="0"/>
              <a:t>McAfee. (2014). Phishing Deceives the Masses. McAfee, Inc.  </a:t>
            </a:r>
          </a:p>
          <a:p>
            <a:pPr lvl="0"/>
            <a:r>
              <a:rPr lang="en-US" sz="1200" dirty="0"/>
              <a:t>Microsoft Computing Safety Index. (2014). 2013 Microsoft Computing Safety Index (MCSI) Worldwide Results Summary. </a:t>
            </a:r>
            <a:r>
              <a:rPr lang="en-US" sz="1200" i="1" dirty="0"/>
              <a:t>Trustworthy computing. </a:t>
            </a:r>
            <a:r>
              <a:rPr lang="en-US" sz="1200" dirty="0"/>
              <a:t>Microsoft Corporation.</a:t>
            </a:r>
          </a:p>
          <a:p>
            <a:pPr lvl="0"/>
            <a:r>
              <a:rPr lang="en-US" sz="1200" dirty="0" err="1"/>
              <a:t>Kumaraguru</a:t>
            </a:r>
            <a:r>
              <a:rPr lang="en-US" sz="1200" dirty="0"/>
              <a:t>, P., Rhee, Y., </a:t>
            </a:r>
            <a:r>
              <a:rPr lang="en-US" sz="1200" dirty="0" err="1"/>
              <a:t>Acquisti</a:t>
            </a:r>
            <a:r>
              <a:rPr lang="en-US" sz="1200" dirty="0"/>
              <a:t>, A., </a:t>
            </a:r>
            <a:r>
              <a:rPr lang="en-US" sz="1200" dirty="0" err="1"/>
              <a:t>Cranor</a:t>
            </a:r>
            <a:r>
              <a:rPr lang="en-US" sz="1200" dirty="0"/>
              <a:t>, L. F., Hong, J., &amp; </a:t>
            </a:r>
            <a:r>
              <a:rPr lang="en-US" sz="1200" dirty="0" err="1"/>
              <a:t>Nunge</a:t>
            </a:r>
            <a:r>
              <a:rPr lang="en-US" sz="1200" dirty="0"/>
              <a:t>, E. (2007, April). Protecting people from phishing: the design and evaluation of an embedded training email system. In </a:t>
            </a:r>
            <a:r>
              <a:rPr lang="en-US" sz="1200" i="1" dirty="0"/>
              <a:t>Proceedings of the SIGCHI conference on Human factors in computing systems</a:t>
            </a:r>
            <a:r>
              <a:rPr lang="en-US" sz="1200" dirty="0"/>
              <a:t> (pp. 905-914). ACM.</a:t>
            </a:r>
          </a:p>
          <a:p>
            <a:pPr lvl="0"/>
            <a:r>
              <a:rPr lang="en-US" sz="1200" dirty="0" err="1"/>
              <a:t>Brunswik</a:t>
            </a:r>
            <a:r>
              <a:rPr lang="en-US" sz="1200" dirty="0"/>
              <a:t>, E. (1955). Representative design and probabilistic theory in a functional psychology. </a:t>
            </a:r>
            <a:r>
              <a:rPr lang="en-US" sz="1200" i="1" dirty="0"/>
              <a:t>Psychological review</a:t>
            </a:r>
            <a:r>
              <a:rPr lang="en-US" sz="1200" dirty="0"/>
              <a:t>, </a:t>
            </a:r>
            <a:r>
              <a:rPr lang="en-US" sz="1200" i="1" dirty="0"/>
              <a:t>62</a:t>
            </a:r>
            <a:r>
              <a:rPr lang="en-US" sz="1200" dirty="0"/>
              <a:t>(3), 193.</a:t>
            </a:r>
          </a:p>
          <a:p>
            <a:pPr lvl="0"/>
            <a:r>
              <a:rPr lang="en-US" sz="1200" dirty="0"/>
              <a:t>Cooksey, R. W. (1996). Judgment analysis: Theory, methods, and applications. Academic Press.</a:t>
            </a:r>
          </a:p>
          <a:p>
            <a:pPr lvl="0"/>
            <a:r>
              <a:rPr lang="en-US" sz="1200" dirty="0"/>
              <a:t>Downs, J. S., Holbrook, M. B., &amp; </a:t>
            </a:r>
            <a:r>
              <a:rPr lang="en-US" sz="1200" dirty="0" err="1"/>
              <a:t>Cranor</a:t>
            </a:r>
            <a:r>
              <a:rPr lang="en-US" sz="1200" dirty="0"/>
              <a:t>, L. F. (2006, July). Decision strategies and susceptibility to phishing. In </a:t>
            </a:r>
            <a:r>
              <a:rPr lang="en-US" sz="1200" i="1" dirty="0"/>
              <a:t>Proceedings of the second symposium on Usable privacy and security</a:t>
            </a:r>
            <a:r>
              <a:rPr lang="en-US" sz="1200" dirty="0"/>
              <a:t> (pp. 79-90). ACM.</a:t>
            </a:r>
          </a:p>
          <a:p>
            <a:pPr lvl="0"/>
            <a:r>
              <a:rPr lang="en-US" sz="1200" dirty="0"/>
              <a:t>Kim, C. N., &amp; McLeod Jr, R. (1999). Expert, linear models, and nonlinear models of expert decision making in bankruptcy prediction: a lens model analysis. </a:t>
            </a:r>
            <a:r>
              <a:rPr lang="en-US" sz="1200" i="1" dirty="0"/>
              <a:t>Journal of Management Information Systems</a:t>
            </a:r>
            <a:r>
              <a:rPr lang="en-US" sz="1200" dirty="0"/>
              <a:t>, 189-206.</a:t>
            </a:r>
          </a:p>
          <a:p>
            <a:endParaRPr lang="en-US" dirty="0"/>
          </a:p>
        </p:txBody>
      </p:sp>
    </p:spTree>
    <p:extLst>
      <p:ext uri="{BB962C8B-B14F-4D97-AF65-F5344CB8AC3E}">
        <p14:creationId xmlns:p14="http://schemas.microsoft.com/office/powerpoint/2010/main" val="3068743751"/>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2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22"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702</TotalTime>
  <Words>1701</Words>
  <Application>Microsoft Office PowerPoint</Application>
  <PresentationFormat>On-screen Show (4:3)</PresentationFormat>
  <Paragraphs>89</Paragraphs>
  <Slides>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ＭＳ Ｐゴシック</vt:lpstr>
      <vt:lpstr>Arial</vt:lpstr>
      <vt:lpstr>Calibri</vt:lpstr>
      <vt:lpstr>Georgia</vt:lpstr>
      <vt:lpstr>Times</vt:lpstr>
      <vt:lpstr>Trebuchet MS</vt:lpstr>
      <vt:lpstr>Office Theme</vt:lpstr>
      <vt:lpstr>Ghosts in the machine: The role of human factors in cybersecurity</vt:lpstr>
      <vt:lpstr>The 21st century battlefield</vt:lpstr>
      <vt:lpstr>AA&amp;R in cybersecurity domains</vt:lpstr>
      <vt:lpstr>A research agenda</vt:lpstr>
      <vt:lpstr>Understanding the response to phishing emails</vt:lpstr>
      <vt:lpstr>Research aims </vt:lpstr>
      <vt:lpstr>Thanks!</vt:lpstr>
    </vt:vector>
  </TitlesOfParts>
  <Company>SUNY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Creative/News Services</dc:creator>
  <cp:lastModifiedBy>Adam</cp:lastModifiedBy>
  <cp:revision>55</cp:revision>
  <dcterms:created xsi:type="dcterms:W3CDTF">2011-06-08T13:22:31Z</dcterms:created>
  <dcterms:modified xsi:type="dcterms:W3CDTF">2015-11-17T04:20:41Z</dcterms:modified>
</cp:coreProperties>
</file>