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3" r:id="rId12"/>
    <p:sldId id="276" r:id="rId13"/>
    <p:sldId id="274" r:id="rId14"/>
    <p:sldId id="275" r:id="rId15"/>
    <p:sldId id="277" r:id="rId16"/>
    <p:sldId id="266" r:id="rId17"/>
    <p:sldId id="268" r:id="rId18"/>
    <p:sldId id="269" r:id="rId19"/>
    <p:sldId id="270" r:id="rId20"/>
    <p:sldId id="272" r:id="rId21"/>
    <p:sldId id="26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bolton" initials="m" lastIdx="8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08" y="1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11/14/2014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11/14/2014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11/14/2014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11/14/2014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11/14/2014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11/14/2014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11/14/2014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11/14/2014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11/14/2014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11/14/2014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11/14/2014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11/14/2014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11/14/2014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11/14/2014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11/14/2014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11/14/2014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11/14/2014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11/14/2014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1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110917"/>
            <a:ext cx="8825658" cy="2650958"/>
          </a:xfrm>
        </p:spPr>
        <p:txBody>
          <a:bodyPr/>
          <a:lstStyle/>
          <a:p>
            <a:r>
              <a:rPr lang="en-US" sz="6000" dirty="0" smtClean="0"/>
              <a:t>Safety not guaranteed:</a:t>
            </a:r>
            <a:br>
              <a:rPr lang="en-US" sz="6000" dirty="0" smtClean="0"/>
            </a:br>
            <a:r>
              <a:rPr lang="en-US" sz="2700" dirty="0" smtClean="0"/>
              <a:t>Using formal methods in human factors engineering</a:t>
            </a:r>
            <a:endParaRPr lang="en-US" sz="27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592895"/>
            <a:ext cx="8825658" cy="1946128"/>
          </a:xfrm>
        </p:spPr>
        <p:txBody>
          <a:bodyPr>
            <a:normAutofit fontScale="85000" lnSpcReduction="20000"/>
          </a:bodyPr>
          <a:lstStyle/>
          <a:p>
            <a:r>
              <a:rPr lang="en-US" cap="none" dirty="0" smtClean="0"/>
              <a:t>Adam Houser</a:t>
            </a:r>
          </a:p>
          <a:p>
            <a:r>
              <a:rPr lang="en-US" cap="none" dirty="0" smtClean="0"/>
              <a:t>PhD Candidate, UB Department of Industrial and Systems Engineering</a:t>
            </a:r>
          </a:p>
          <a:p>
            <a:r>
              <a:rPr lang="en-US" cap="none" dirty="0" smtClean="0"/>
              <a:t>Inter-University Workshop 2014</a:t>
            </a:r>
          </a:p>
          <a:p>
            <a:endParaRPr lang="en-US" cap="none" dirty="0" smtClean="0"/>
          </a:p>
          <a:p>
            <a:r>
              <a:rPr lang="en-US" sz="1700" cap="none" dirty="0"/>
              <a:t>Work Supported by Scenario </a:t>
            </a:r>
            <a:r>
              <a:rPr lang="en-US" sz="1700" cap="none" dirty="0" smtClean="0"/>
              <a:t>Development Through </a:t>
            </a:r>
            <a:r>
              <a:rPr lang="en-US" sz="1700" cap="none" dirty="0"/>
              <a:t>Computational and Formal Modeling for Verification and Validation of Authority and Autonomy (A&amp;A) Constructs in </a:t>
            </a:r>
            <a:r>
              <a:rPr lang="en-US" sz="1700" cap="none" dirty="0" smtClean="0"/>
              <a:t>Aviation, subcontract from the Georgia Institute of Technology, sponsored by the NASA Ames Research </a:t>
            </a:r>
            <a:r>
              <a:rPr lang="en-US" sz="1700" cap="none" dirty="0" smtClean="0"/>
              <a:t>Center.</a:t>
            </a:r>
            <a:endParaRPr lang="en-US" sz="1700" cap="none" dirty="0" smtClean="0"/>
          </a:p>
        </p:txBody>
      </p:sp>
    </p:spTree>
    <p:extLst>
      <p:ext uri="{BB962C8B-B14F-4D97-AF65-F5344CB8AC3E}">
        <p14:creationId xmlns:p14="http://schemas.microsoft.com/office/powerpoint/2010/main" val="2923526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Safety and simulation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Safety-critical systems: our lives and safety depend on them</a:t>
            </a:r>
          </a:p>
          <a:p>
            <a:endParaRPr lang="en-US" dirty="0"/>
          </a:p>
          <a:p>
            <a:r>
              <a:rPr lang="en-US" dirty="0" smtClean="0"/>
              <a:t>More specifically, on their </a:t>
            </a:r>
            <a:r>
              <a:rPr lang="en-US" u="sng" dirty="0" smtClean="0"/>
              <a:t>correctness</a:t>
            </a:r>
            <a:r>
              <a:rPr lang="en-US" dirty="0" smtClean="0"/>
              <a:t> and </a:t>
            </a:r>
            <a:r>
              <a:rPr lang="en-US" u="sng" dirty="0" smtClean="0"/>
              <a:t>robustness</a:t>
            </a:r>
            <a:r>
              <a:rPr lang="en-US" dirty="0" smtClean="0"/>
              <a:t> (among other attributes)</a:t>
            </a:r>
          </a:p>
          <a:p>
            <a:endParaRPr lang="en-US" dirty="0"/>
          </a:p>
          <a:p>
            <a:r>
              <a:rPr lang="en-US" dirty="0" smtClean="0"/>
              <a:t>Size and complexity concerns</a:t>
            </a:r>
          </a:p>
          <a:p>
            <a:endParaRPr lang="en-US" dirty="0"/>
          </a:p>
          <a:p>
            <a:r>
              <a:rPr lang="en-US" dirty="0" smtClean="0"/>
              <a:t>The use of simulation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855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Safety and simulation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Why simulate?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1600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 smtClean="0"/>
              <a:t>Cost-effective (comparatively)</a:t>
            </a:r>
          </a:p>
          <a:p>
            <a:pPr marL="457200" lvl="1" indent="0">
              <a:buNone/>
            </a:pPr>
            <a:endParaRPr lang="en-US" sz="1600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 smtClean="0"/>
              <a:t>Useful event traces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1600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 smtClean="0"/>
              <a:t>Scalable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1600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 smtClean="0"/>
              <a:t>Diverse scenario exploration</a:t>
            </a:r>
          </a:p>
          <a:p>
            <a:pPr marL="457200" lvl="1" indent="0">
              <a:buNone/>
            </a:pPr>
            <a:endParaRPr lang="en-US" sz="1600" dirty="0" smtClean="0"/>
          </a:p>
          <a:p>
            <a:pPr marL="285750" lvl="1"/>
            <a:r>
              <a:rPr lang="en-US" dirty="0" smtClean="0"/>
              <a:t>Why not simulate?</a:t>
            </a:r>
          </a:p>
        </p:txBody>
      </p:sp>
    </p:spTree>
    <p:extLst>
      <p:ext uri="{BB962C8B-B14F-4D97-AF65-F5344CB8AC3E}">
        <p14:creationId xmlns:p14="http://schemas.microsoft.com/office/powerpoint/2010/main" val="1081721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Formal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Formal methods: collections of tools and techniques to prove (</a:t>
            </a:r>
            <a:r>
              <a:rPr lang="en-US" i="1" dirty="0" smtClean="0"/>
              <a:t>guarantee</a:t>
            </a:r>
            <a:r>
              <a:rPr lang="en-US" dirty="0" smtClean="0"/>
              <a:t>) a system will perform as intended</a:t>
            </a:r>
          </a:p>
          <a:p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 smtClean="0"/>
              <a:t>Modeling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1600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 smtClean="0"/>
              <a:t>Specification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1600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 smtClean="0"/>
              <a:t>Verification</a:t>
            </a:r>
            <a:endParaRPr lang="en-US" sz="1600" dirty="0"/>
          </a:p>
        </p:txBody>
      </p:sp>
      <p:pic>
        <p:nvPicPr>
          <p:cNvPr id="1026" name="Picture 2" descr="http://www.sciencecartoonsplus.com/gallery/math/math22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0728" y="3019424"/>
            <a:ext cx="4429125" cy="3228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8341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Formal Methods</a:t>
            </a:r>
            <a:endParaRPr lang="en-US" dirty="0"/>
          </a:p>
        </p:txBody>
      </p:sp>
      <p:grpSp>
        <p:nvGrpSpPr>
          <p:cNvPr id="4" name="Group 24"/>
          <p:cNvGrpSpPr/>
          <p:nvPr/>
        </p:nvGrpSpPr>
        <p:grpSpPr>
          <a:xfrm>
            <a:off x="2133600" y="2288060"/>
            <a:ext cx="7924800" cy="3352800"/>
            <a:chOff x="990600" y="3505200"/>
            <a:chExt cx="7162800" cy="2971800"/>
          </a:xfrm>
          <a:solidFill>
            <a:sysClr val="window" lastClr="FFFFFF">
              <a:lumMod val="95000"/>
            </a:sysClr>
          </a:solidFill>
        </p:grpSpPr>
        <p:sp>
          <p:nvSpPr>
            <p:cNvPr id="5" name="Flowchart: Document 4"/>
            <p:cNvSpPr/>
            <p:nvPr/>
          </p:nvSpPr>
          <p:spPr>
            <a:xfrm>
              <a:off x="990600" y="3505200"/>
              <a:ext cx="2016711" cy="1273629"/>
            </a:xfrm>
            <a:prstGeom prst="flowChartDocument">
              <a:avLst/>
            </a:prstGeom>
            <a:solidFill>
              <a:schemeClr val="tx1"/>
            </a:solidFill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System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Model</a:t>
              </a:r>
            </a:p>
          </p:txBody>
        </p:sp>
        <p:sp>
          <p:nvSpPr>
            <p:cNvPr id="6" name="Flowchart: Process 5"/>
            <p:cNvSpPr/>
            <p:nvPr/>
          </p:nvSpPr>
          <p:spPr>
            <a:xfrm>
              <a:off x="3563645" y="3505200"/>
              <a:ext cx="2016711" cy="1273629"/>
            </a:xfrm>
            <a:prstGeom prst="flowChartProcess">
              <a:avLst/>
            </a:prstGeom>
            <a:solidFill>
              <a:schemeClr val="tx2">
                <a:lumMod val="50000"/>
              </a:schemeClr>
            </a:solidFill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Model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Checker</a:t>
              </a:r>
            </a:p>
          </p:txBody>
        </p:sp>
        <p:sp>
          <p:nvSpPr>
            <p:cNvPr id="7" name="Flowchart: Document 6"/>
            <p:cNvSpPr/>
            <p:nvPr/>
          </p:nvSpPr>
          <p:spPr>
            <a:xfrm>
              <a:off x="6136689" y="3505200"/>
              <a:ext cx="2016711" cy="1273629"/>
            </a:xfrm>
            <a:prstGeom prst="flowChartDocument">
              <a:avLst/>
            </a:prstGeom>
            <a:solidFill>
              <a:schemeClr val="tx2">
                <a:lumMod val="50000"/>
              </a:schemeClr>
            </a:solidFill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Verification Report</a:t>
              </a:r>
            </a:p>
          </p:txBody>
        </p:sp>
        <p:sp>
          <p:nvSpPr>
            <p:cNvPr id="8" name="Flowchart: Card 7"/>
            <p:cNvSpPr/>
            <p:nvPr/>
          </p:nvSpPr>
          <p:spPr>
            <a:xfrm>
              <a:off x="3563645" y="5203371"/>
              <a:ext cx="2016711" cy="1273629"/>
            </a:xfrm>
            <a:prstGeom prst="flowChartPunchedCard">
              <a:avLst/>
            </a:prstGeom>
            <a:solidFill>
              <a:schemeClr val="tx2">
                <a:lumMod val="50000"/>
              </a:schemeClr>
            </a:solidFill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Specification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endParaRPr>
            </a:p>
          </p:txBody>
        </p:sp>
        <p:cxnSp>
          <p:nvCxnSpPr>
            <p:cNvPr id="9" name="Straight Arrow Connector 8"/>
            <p:cNvCxnSpPr>
              <a:stCxn id="5" idx="3"/>
              <a:endCxn id="6" idx="1"/>
            </p:cNvCxnSpPr>
            <p:nvPr/>
          </p:nvCxnSpPr>
          <p:spPr>
            <a:xfrm>
              <a:off x="3007311" y="4142015"/>
              <a:ext cx="556334" cy="1588"/>
            </a:xfrm>
            <a:prstGeom prst="straightConnector1">
              <a:avLst/>
            </a:prstGeom>
            <a:grpFill/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  <a:tailEnd type="stealth" w="lg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0" name="Straight Arrow Connector 9"/>
            <p:cNvCxnSpPr>
              <a:stCxn id="8" idx="0"/>
              <a:endCxn id="6" idx="2"/>
            </p:cNvCxnSpPr>
            <p:nvPr/>
          </p:nvCxnSpPr>
          <p:spPr>
            <a:xfrm rot="5400000" flipH="1" flipV="1">
              <a:off x="4359730" y="4991100"/>
              <a:ext cx="424542" cy="1588"/>
            </a:xfrm>
            <a:prstGeom prst="straightConnector1">
              <a:avLst/>
            </a:prstGeom>
            <a:grpFill/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  <a:tailEnd type="stealth" w="lg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1" name="Straight Arrow Connector 10"/>
            <p:cNvCxnSpPr>
              <a:stCxn id="6" idx="3"/>
              <a:endCxn id="7" idx="1"/>
            </p:cNvCxnSpPr>
            <p:nvPr/>
          </p:nvCxnSpPr>
          <p:spPr>
            <a:xfrm>
              <a:off x="5580356" y="4142015"/>
              <a:ext cx="556333" cy="1588"/>
            </a:xfrm>
            <a:prstGeom prst="straightConnector1">
              <a:avLst/>
            </a:prstGeom>
            <a:grpFill/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  <a:tailEnd type="stealth" w="lg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</p:grpSp>
    </p:spTree>
    <p:extLst>
      <p:ext uri="{BB962C8B-B14F-4D97-AF65-F5344CB8AC3E}">
        <p14:creationId xmlns:p14="http://schemas.microsoft.com/office/powerpoint/2010/main" val="582004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Formal Methods</a:t>
            </a:r>
            <a:endParaRPr lang="en-US" dirty="0"/>
          </a:p>
        </p:txBody>
      </p:sp>
      <p:grpSp>
        <p:nvGrpSpPr>
          <p:cNvPr id="4" name="Group 24"/>
          <p:cNvGrpSpPr/>
          <p:nvPr/>
        </p:nvGrpSpPr>
        <p:grpSpPr>
          <a:xfrm>
            <a:off x="2133600" y="2288060"/>
            <a:ext cx="7924800" cy="3352800"/>
            <a:chOff x="990600" y="3505200"/>
            <a:chExt cx="7162800" cy="2971800"/>
          </a:xfrm>
          <a:solidFill>
            <a:sysClr val="window" lastClr="FFFFFF">
              <a:lumMod val="95000"/>
            </a:sysClr>
          </a:solidFill>
        </p:grpSpPr>
        <p:sp>
          <p:nvSpPr>
            <p:cNvPr id="5" name="Flowchart: Document 4"/>
            <p:cNvSpPr/>
            <p:nvPr/>
          </p:nvSpPr>
          <p:spPr>
            <a:xfrm>
              <a:off x="990600" y="3505200"/>
              <a:ext cx="2016711" cy="1273629"/>
            </a:xfrm>
            <a:prstGeom prst="flowChartDocument">
              <a:avLst/>
            </a:prstGeom>
            <a:solidFill>
              <a:schemeClr val="tx2">
                <a:lumMod val="50000"/>
              </a:schemeClr>
            </a:solidFill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System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Model</a:t>
              </a:r>
            </a:p>
          </p:txBody>
        </p:sp>
        <p:sp>
          <p:nvSpPr>
            <p:cNvPr id="6" name="Flowchart: Process 5"/>
            <p:cNvSpPr/>
            <p:nvPr/>
          </p:nvSpPr>
          <p:spPr>
            <a:xfrm>
              <a:off x="3563645" y="3505200"/>
              <a:ext cx="2016711" cy="1273629"/>
            </a:xfrm>
            <a:prstGeom prst="flowChartProcess">
              <a:avLst/>
            </a:prstGeom>
            <a:solidFill>
              <a:schemeClr val="tx2">
                <a:lumMod val="50000"/>
              </a:schemeClr>
            </a:solidFill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Model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Checker</a:t>
              </a:r>
            </a:p>
          </p:txBody>
        </p:sp>
        <p:sp>
          <p:nvSpPr>
            <p:cNvPr id="7" name="Flowchart: Document 6"/>
            <p:cNvSpPr/>
            <p:nvPr/>
          </p:nvSpPr>
          <p:spPr>
            <a:xfrm>
              <a:off x="6136689" y="3505200"/>
              <a:ext cx="2016711" cy="1273629"/>
            </a:xfrm>
            <a:prstGeom prst="flowChartDocument">
              <a:avLst/>
            </a:prstGeom>
            <a:solidFill>
              <a:schemeClr val="tx2">
                <a:lumMod val="50000"/>
              </a:schemeClr>
            </a:solidFill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Verification Report</a:t>
              </a:r>
            </a:p>
          </p:txBody>
        </p:sp>
        <p:sp>
          <p:nvSpPr>
            <p:cNvPr id="8" name="Flowchart: Card 7"/>
            <p:cNvSpPr/>
            <p:nvPr/>
          </p:nvSpPr>
          <p:spPr>
            <a:xfrm>
              <a:off x="3563645" y="5203371"/>
              <a:ext cx="2016711" cy="1273629"/>
            </a:xfrm>
            <a:prstGeom prst="flowChartPunchedCard">
              <a:avLst/>
            </a:prstGeom>
            <a:solidFill>
              <a:schemeClr val="tx1"/>
            </a:solidFill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Specification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endParaRPr>
            </a:p>
          </p:txBody>
        </p:sp>
        <p:cxnSp>
          <p:nvCxnSpPr>
            <p:cNvPr id="9" name="Straight Arrow Connector 8"/>
            <p:cNvCxnSpPr>
              <a:stCxn id="5" idx="3"/>
              <a:endCxn id="6" idx="1"/>
            </p:cNvCxnSpPr>
            <p:nvPr/>
          </p:nvCxnSpPr>
          <p:spPr>
            <a:xfrm>
              <a:off x="3007311" y="4142015"/>
              <a:ext cx="556334" cy="1588"/>
            </a:xfrm>
            <a:prstGeom prst="straightConnector1">
              <a:avLst/>
            </a:prstGeom>
            <a:grpFill/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  <a:tailEnd type="stealth" w="lg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0" name="Straight Arrow Connector 9"/>
            <p:cNvCxnSpPr>
              <a:stCxn id="8" idx="0"/>
              <a:endCxn id="6" idx="2"/>
            </p:cNvCxnSpPr>
            <p:nvPr/>
          </p:nvCxnSpPr>
          <p:spPr>
            <a:xfrm rot="5400000" flipH="1" flipV="1">
              <a:off x="4359730" y="4991100"/>
              <a:ext cx="424542" cy="1588"/>
            </a:xfrm>
            <a:prstGeom prst="straightConnector1">
              <a:avLst/>
            </a:prstGeom>
            <a:grpFill/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  <a:tailEnd type="stealth" w="lg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1" name="Straight Arrow Connector 10"/>
            <p:cNvCxnSpPr>
              <a:stCxn id="6" idx="3"/>
              <a:endCxn id="7" idx="1"/>
            </p:cNvCxnSpPr>
            <p:nvPr/>
          </p:nvCxnSpPr>
          <p:spPr>
            <a:xfrm>
              <a:off x="5580356" y="4142015"/>
              <a:ext cx="556333" cy="1588"/>
            </a:xfrm>
            <a:prstGeom prst="straightConnector1">
              <a:avLst/>
            </a:prstGeom>
            <a:grpFill/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  <a:tailEnd type="stealth" w="lg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</p:grpSp>
    </p:spTree>
    <p:extLst>
      <p:ext uri="{BB962C8B-B14F-4D97-AF65-F5344CB8AC3E}">
        <p14:creationId xmlns:p14="http://schemas.microsoft.com/office/powerpoint/2010/main" val="1882703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Formal Methods</a:t>
            </a:r>
            <a:endParaRPr lang="en-US" dirty="0"/>
          </a:p>
        </p:txBody>
      </p:sp>
      <p:grpSp>
        <p:nvGrpSpPr>
          <p:cNvPr id="4" name="Group 24"/>
          <p:cNvGrpSpPr/>
          <p:nvPr/>
        </p:nvGrpSpPr>
        <p:grpSpPr>
          <a:xfrm>
            <a:off x="2133600" y="2288060"/>
            <a:ext cx="7924800" cy="3352800"/>
            <a:chOff x="990600" y="3505200"/>
            <a:chExt cx="7162800" cy="2971800"/>
          </a:xfrm>
          <a:solidFill>
            <a:sysClr val="window" lastClr="FFFFFF">
              <a:lumMod val="95000"/>
            </a:sysClr>
          </a:solidFill>
        </p:grpSpPr>
        <p:sp>
          <p:nvSpPr>
            <p:cNvPr id="5" name="Flowchart: Document 4"/>
            <p:cNvSpPr/>
            <p:nvPr/>
          </p:nvSpPr>
          <p:spPr>
            <a:xfrm>
              <a:off x="990600" y="3505200"/>
              <a:ext cx="2016711" cy="1273629"/>
            </a:xfrm>
            <a:prstGeom prst="flowChartDocument">
              <a:avLst/>
            </a:prstGeom>
            <a:solidFill>
              <a:schemeClr val="tx2">
                <a:lumMod val="50000"/>
              </a:schemeClr>
            </a:solidFill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System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Model</a:t>
              </a:r>
            </a:p>
          </p:txBody>
        </p:sp>
        <p:sp>
          <p:nvSpPr>
            <p:cNvPr id="6" name="Flowchart: Process 5"/>
            <p:cNvSpPr/>
            <p:nvPr/>
          </p:nvSpPr>
          <p:spPr>
            <a:xfrm>
              <a:off x="3563645" y="3505200"/>
              <a:ext cx="2016711" cy="1273629"/>
            </a:xfrm>
            <a:prstGeom prst="flowChartProcess">
              <a:avLst/>
            </a:prstGeom>
            <a:solidFill>
              <a:schemeClr val="tx1"/>
            </a:solidFill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Model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Checker</a:t>
              </a:r>
            </a:p>
          </p:txBody>
        </p:sp>
        <p:sp>
          <p:nvSpPr>
            <p:cNvPr id="7" name="Flowchart: Document 6"/>
            <p:cNvSpPr/>
            <p:nvPr/>
          </p:nvSpPr>
          <p:spPr>
            <a:xfrm>
              <a:off x="6136689" y="3505200"/>
              <a:ext cx="2016711" cy="1273629"/>
            </a:xfrm>
            <a:prstGeom prst="flowChartDocument">
              <a:avLst/>
            </a:prstGeom>
            <a:solidFill>
              <a:schemeClr val="tx2">
                <a:lumMod val="50000"/>
              </a:schemeClr>
            </a:solidFill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Verification Report</a:t>
              </a:r>
            </a:p>
          </p:txBody>
        </p:sp>
        <p:sp>
          <p:nvSpPr>
            <p:cNvPr id="8" name="Flowchart: Card 7"/>
            <p:cNvSpPr/>
            <p:nvPr/>
          </p:nvSpPr>
          <p:spPr>
            <a:xfrm>
              <a:off x="3563645" y="5203371"/>
              <a:ext cx="2016711" cy="1273629"/>
            </a:xfrm>
            <a:prstGeom prst="flowChartPunchedCard">
              <a:avLst/>
            </a:prstGeom>
            <a:solidFill>
              <a:schemeClr val="tx2">
                <a:lumMod val="50000"/>
              </a:schemeClr>
            </a:solidFill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Specification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endParaRPr>
            </a:p>
          </p:txBody>
        </p:sp>
        <p:cxnSp>
          <p:nvCxnSpPr>
            <p:cNvPr id="9" name="Straight Arrow Connector 8"/>
            <p:cNvCxnSpPr>
              <a:stCxn id="5" idx="3"/>
              <a:endCxn id="6" idx="1"/>
            </p:cNvCxnSpPr>
            <p:nvPr/>
          </p:nvCxnSpPr>
          <p:spPr>
            <a:xfrm>
              <a:off x="3007311" y="4142015"/>
              <a:ext cx="556334" cy="1588"/>
            </a:xfrm>
            <a:prstGeom prst="straightConnector1">
              <a:avLst/>
            </a:prstGeom>
            <a:grpFill/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  <a:tailEnd type="stealth" w="lg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0" name="Straight Arrow Connector 9"/>
            <p:cNvCxnSpPr>
              <a:stCxn id="8" idx="0"/>
              <a:endCxn id="6" idx="2"/>
            </p:cNvCxnSpPr>
            <p:nvPr/>
          </p:nvCxnSpPr>
          <p:spPr>
            <a:xfrm rot="5400000" flipH="1" flipV="1">
              <a:off x="4359730" y="4991100"/>
              <a:ext cx="424542" cy="1588"/>
            </a:xfrm>
            <a:prstGeom prst="straightConnector1">
              <a:avLst/>
            </a:prstGeom>
            <a:grpFill/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  <a:tailEnd type="stealth" w="lg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1" name="Straight Arrow Connector 10"/>
            <p:cNvCxnSpPr>
              <a:stCxn id="6" idx="3"/>
              <a:endCxn id="7" idx="1"/>
            </p:cNvCxnSpPr>
            <p:nvPr/>
          </p:nvCxnSpPr>
          <p:spPr>
            <a:xfrm>
              <a:off x="5580356" y="4142015"/>
              <a:ext cx="556333" cy="1588"/>
            </a:xfrm>
            <a:prstGeom prst="straightConnector1">
              <a:avLst/>
            </a:prstGeom>
            <a:grpFill/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  <a:tailEnd type="stealth" w="lg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</p:grpSp>
    </p:spTree>
    <p:extLst>
      <p:ext uri="{BB962C8B-B14F-4D97-AF65-F5344CB8AC3E}">
        <p14:creationId xmlns:p14="http://schemas.microsoft.com/office/powerpoint/2010/main" val="2674109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Formal Methods</a:t>
            </a:r>
            <a:endParaRPr lang="en-US" dirty="0"/>
          </a:p>
        </p:txBody>
      </p:sp>
      <p:grpSp>
        <p:nvGrpSpPr>
          <p:cNvPr id="4" name="Group 24"/>
          <p:cNvGrpSpPr/>
          <p:nvPr/>
        </p:nvGrpSpPr>
        <p:grpSpPr>
          <a:xfrm>
            <a:off x="2133600" y="2288060"/>
            <a:ext cx="7924800" cy="3352800"/>
            <a:chOff x="990600" y="3505200"/>
            <a:chExt cx="7162800" cy="2971800"/>
          </a:xfrm>
          <a:solidFill>
            <a:sysClr val="window" lastClr="FFFFFF">
              <a:lumMod val="95000"/>
            </a:sysClr>
          </a:solidFill>
        </p:grpSpPr>
        <p:sp>
          <p:nvSpPr>
            <p:cNvPr id="5" name="Flowchart: Document 4"/>
            <p:cNvSpPr/>
            <p:nvPr/>
          </p:nvSpPr>
          <p:spPr>
            <a:xfrm>
              <a:off x="990600" y="3505200"/>
              <a:ext cx="2016711" cy="1273629"/>
            </a:xfrm>
            <a:prstGeom prst="flowChartDocument">
              <a:avLst/>
            </a:prstGeom>
            <a:solidFill>
              <a:schemeClr val="tx2">
                <a:lumMod val="50000"/>
              </a:schemeClr>
            </a:solidFill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System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Model</a:t>
              </a:r>
            </a:p>
          </p:txBody>
        </p:sp>
        <p:sp>
          <p:nvSpPr>
            <p:cNvPr id="6" name="Flowchart: Process 5"/>
            <p:cNvSpPr/>
            <p:nvPr/>
          </p:nvSpPr>
          <p:spPr>
            <a:xfrm>
              <a:off x="3563645" y="3505200"/>
              <a:ext cx="2016711" cy="1273629"/>
            </a:xfrm>
            <a:prstGeom prst="flowChartProcess">
              <a:avLst/>
            </a:prstGeom>
            <a:solidFill>
              <a:schemeClr val="tx2">
                <a:lumMod val="50000"/>
              </a:schemeClr>
            </a:solidFill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Model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Checker</a:t>
              </a:r>
            </a:p>
          </p:txBody>
        </p:sp>
        <p:sp>
          <p:nvSpPr>
            <p:cNvPr id="7" name="Flowchart: Document 6"/>
            <p:cNvSpPr/>
            <p:nvPr/>
          </p:nvSpPr>
          <p:spPr>
            <a:xfrm>
              <a:off x="6136689" y="3505200"/>
              <a:ext cx="2016711" cy="1273629"/>
            </a:xfrm>
            <a:prstGeom prst="flowChartDocument">
              <a:avLst/>
            </a:prstGeom>
            <a:solidFill>
              <a:schemeClr val="tx1"/>
            </a:solidFill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Verification Report</a:t>
              </a:r>
            </a:p>
          </p:txBody>
        </p:sp>
        <p:sp>
          <p:nvSpPr>
            <p:cNvPr id="8" name="Flowchart: Card 7"/>
            <p:cNvSpPr/>
            <p:nvPr/>
          </p:nvSpPr>
          <p:spPr>
            <a:xfrm>
              <a:off x="3563645" y="5203371"/>
              <a:ext cx="2016711" cy="1273629"/>
            </a:xfrm>
            <a:prstGeom prst="flowChartPunchedCard">
              <a:avLst/>
            </a:prstGeom>
            <a:solidFill>
              <a:schemeClr val="tx2">
                <a:lumMod val="50000"/>
              </a:schemeClr>
            </a:solidFill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Specification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endParaRPr>
            </a:p>
          </p:txBody>
        </p:sp>
        <p:cxnSp>
          <p:nvCxnSpPr>
            <p:cNvPr id="9" name="Straight Arrow Connector 8"/>
            <p:cNvCxnSpPr>
              <a:stCxn id="5" idx="3"/>
              <a:endCxn id="6" idx="1"/>
            </p:cNvCxnSpPr>
            <p:nvPr/>
          </p:nvCxnSpPr>
          <p:spPr>
            <a:xfrm>
              <a:off x="3007311" y="4142015"/>
              <a:ext cx="556334" cy="1588"/>
            </a:xfrm>
            <a:prstGeom prst="straightConnector1">
              <a:avLst/>
            </a:prstGeom>
            <a:grpFill/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  <a:tailEnd type="stealth" w="lg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0" name="Straight Arrow Connector 9"/>
            <p:cNvCxnSpPr>
              <a:stCxn id="8" idx="0"/>
              <a:endCxn id="6" idx="2"/>
            </p:cNvCxnSpPr>
            <p:nvPr/>
          </p:nvCxnSpPr>
          <p:spPr>
            <a:xfrm rot="5400000" flipH="1" flipV="1">
              <a:off x="4359730" y="4991100"/>
              <a:ext cx="424542" cy="1588"/>
            </a:xfrm>
            <a:prstGeom prst="straightConnector1">
              <a:avLst/>
            </a:prstGeom>
            <a:grpFill/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  <a:tailEnd type="stealth" w="lg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1" name="Straight Arrow Connector 10"/>
            <p:cNvCxnSpPr>
              <a:stCxn id="6" idx="3"/>
              <a:endCxn id="7" idx="1"/>
            </p:cNvCxnSpPr>
            <p:nvPr/>
          </p:nvCxnSpPr>
          <p:spPr>
            <a:xfrm>
              <a:off x="5580356" y="4142015"/>
              <a:ext cx="556333" cy="1588"/>
            </a:xfrm>
            <a:prstGeom prst="straightConnector1">
              <a:avLst/>
            </a:prstGeom>
            <a:grpFill/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  <a:tailEnd type="stealth" w="lg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</p:grpSp>
    </p:spTree>
    <p:extLst>
      <p:ext uri="{BB962C8B-B14F-4D97-AF65-F5344CB8AC3E}">
        <p14:creationId xmlns:p14="http://schemas.microsoft.com/office/powerpoint/2010/main" val="1947949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Simulation and Formal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 smtClean="0"/>
              <a:t>Simulations are better at…</a:t>
            </a:r>
          </a:p>
          <a:p>
            <a:endParaRPr lang="en-US" sz="1000" dirty="0" smtClean="0"/>
          </a:p>
          <a:p>
            <a:r>
              <a:rPr lang="en-US" sz="1600" dirty="0" smtClean="0"/>
              <a:t>Scalable computability</a:t>
            </a:r>
          </a:p>
          <a:p>
            <a:endParaRPr lang="en-US" sz="1000" dirty="0" smtClean="0"/>
          </a:p>
          <a:p>
            <a:r>
              <a:rPr lang="en-US" sz="1600" dirty="0" smtClean="0"/>
              <a:t>Large-scope, scenario exploration</a:t>
            </a:r>
            <a:endParaRPr lang="en-US" sz="1600" dirty="0"/>
          </a:p>
          <a:p>
            <a:endParaRPr lang="en-US" sz="1000" dirty="0"/>
          </a:p>
          <a:p>
            <a:r>
              <a:rPr lang="en-US" sz="1600" dirty="0" smtClean="0"/>
              <a:t>Producing diverse performance </a:t>
            </a:r>
            <a:br>
              <a:rPr lang="en-US" sz="1600" dirty="0" smtClean="0"/>
            </a:br>
            <a:r>
              <a:rPr lang="en-US" sz="1600" dirty="0" smtClean="0"/>
              <a:t>and/or stochastic measures of system performance</a:t>
            </a:r>
            <a:endParaRPr lang="en-US" sz="16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548286" cy="4200245"/>
          </a:xfrm>
        </p:spPr>
        <p:txBody>
          <a:bodyPr/>
          <a:lstStyle/>
          <a:p>
            <a:pPr marL="0" indent="0">
              <a:buNone/>
            </a:pPr>
            <a:r>
              <a:rPr lang="en-US" sz="2200" dirty="0" smtClean="0"/>
              <a:t>Formal methods are better at …</a:t>
            </a:r>
          </a:p>
          <a:p>
            <a:pPr marL="0" indent="0">
              <a:buNone/>
            </a:pPr>
            <a:endParaRPr lang="en-US" sz="1000" dirty="0" smtClean="0"/>
          </a:p>
          <a:p>
            <a:r>
              <a:rPr lang="en-US" sz="1600" dirty="0" smtClean="0"/>
              <a:t>Complete state-space evaluation</a:t>
            </a:r>
          </a:p>
          <a:p>
            <a:endParaRPr lang="en-US" sz="1000" dirty="0"/>
          </a:p>
          <a:p>
            <a:r>
              <a:rPr lang="en-US" sz="1600" dirty="0" smtClean="0"/>
              <a:t>Small-scope, area of interest exploration</a:t>
            </a:r>
          </a:p>
          <a:p>
            <a:pPr marL="0" indent="0">
              <a:buNone/>
            </a:pPr>
            <a:endParaRPr lang="en-US" sz="1000" dirty="0" smtClean="0"/>
          </a:p>
          <a:p>
            <a:r>
              <a:rPr lang="en-US" sz="1600" dirty="0" smtClean="0"/>
              <a:t>Making specific guarantees about system model behavior </a:t>
            </a:r>
            <a:r>
              <a:rPr lang="en-US" sz="1600" dirty="0"/>
              <a:t>or </a:t>
            </a:r>
            <a:r>
              <a:rPr lang="en-US" sz="1600" dirty="0" smtClean="0"/>
              <a:t>finding </a:t>
            </a:r>
            <a:r>
              <a:rPr lang="en-US" sz="1600" dirty="0"/>
              <a:t>specific (potential unusual) occurrences of system conditions</a:t>
            </a:r>
          </a:p>
        </p:txBody>
      </p:sp>
    </p:spTree>
    <p:extLst>
      <p:ext uri="{BB962C8B-B14F-4D97-AF65-F5344CB8AC3E}">
        <p14:creationId xmlns:p14="http://schemas.microsoft.com/office/powerpoint/2010/main" val="2115986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Current Research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 smtClean="0"/>
              <a:t>Working with Georgia Tech, Honeywell, and Drexel U, </a:t>
            </a:r>
            <a:br>
              <a:rPr lang="en-US" dirty="0" smtClean="0"/>
            </a:br>
            <a:r>
              <a:rPr lang="en-US" dirty="0" smtClean="0"/>
              <a:t>sponsored by NASA </a:t>
            </a:r>
            <a:endParaRPr lang="en-US" dirty="0"/>
          </a:p>
          <a:p>
            <a:pPr>
              <a:spcAft>
                <a:spcPts val="600"/>
              </a:spcAft>
            </a:pPr>
            <a:r>
              <a:rPr lang="en-US" dirty="0" smtClean="0"/>
              <a:t>Our slice: Using formal methods to do sensitivity analysis on simulation scenarios for evaluating authority and autonomy in </a:t>
            </a:r>
            <a:r>
              <a:rPr lang="en-US" dirty="0" err="1" smtClean="0"/>
              <a:t>NextGen</a:t>
            </a:r>
            <a:r>
              <a:rPr lang="en-US" dirty="0" smtClean="0"/>
              <a:t> Air Traffic Control 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6757774" y="4146805"/>
            <a:ext cx="3513594" cy="1543424"/>
            <a:chOff x="990600" y="3505200"/>
            <a:chExt cx="7162800" cy="3085558"/>
          </a:xfrm>
          <a:solidFill>
            <a:schemeClr val="tx1">
              <a:lumMod val="95000"/>
            </a:schemeClr>
          </a:solidFill>
        </p:grpSpPr>
        <p:sp>
          <p:nvSpPr>
            <p:cNvPr id="7" name="Flowchart: Document 6"/>
            <p:cNvSpPr/>
            <p:nvPr/>
          </p:nvSpPr>
          <p:spPr>
            <a:xfrm>
              <a:off x="990600" y="3505200"/>
              <a:ext cx="2016711" cy="1273629"/>
            </a:xfrm>
            <a:prstGeom prst="flowChartDocument">
              <a:avLst/>
            </a:prstGeom>
            <a:grpFill/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b="0" dirty="0" smtClean="0">
                  <a:latin typeface="Calibri" panose="020F0502020204030204" pitchFamily="34" charset="0"/>
                  <a:cs typeface="Calibri" pitchFamily="34" charset="0"/>
                </a:rPr>
                <a:t>System</a:t>
              </a:r>
            </a:p>
            <a:p>
              <a:pPr algn="ctr"/>
              <a:r>
                <a:rPr lang="en-US" sz="1200" b="0" dirty="0" smtClean="0">
                  <a:latin typeface="Calibri" panose="020F0502020204030204" pitchFamily="34" charset="0"/>
                  <a:cs typeface="Calibri" pitchFamily="34" charset="0"/>
                </a:rPr>
                <a:t>Model</a:t>
              </a:r>
              <a:endParaRPr lang="en-US" sz="1200" b="0" dirty="0">
                <a:latin typeface="Calibri" panose="020F0502020204030204" pitchFamily="34" charset="0"/>
                <a:cs typeface="Calibri" pitchFamily="34" charset="0"/>
              </a:endParaRPr>
            </a:p>
          </p:txBody>
        </p:sp>
        <p:sp>
          <p:nvSpPr>
            <p:cNvPr id="8" name="Flowchart: Process 7"/>
            <p:cNvSpPr/>
            <p:nvPr/>
          </p:nvSpPr>
          <p:spPr>
            <a:xfrm>
              <a:off x="3563645" y="3505200"/>
              <a:ext cx="2016711" cy="1273629"/>
            </a:xfrm>
            <a:prstGeom prst="flowChartProcess">
              <a:avLst/>
            </a:prstGeom>
            <a:grpFill/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b="0" dirty="0" smtClean="0">
                  <a:latin typeface="Calibri" panose="020F0502020204030204" pitchFamily="34" charset="0"/>
                  <a:cs typeface="Calibri" pitchFamily="34" charset="0"/>
                </a:rPr>
                <a:t>Model</a:t>
              </a:r>
            </a:p>
            <a:p>
              <a:pPr algn="ctr"/>
              <a:r>
                <a:rPr lang="en-US" sz="1200" b="0" dirty="0" smtClean="0">
                  <a:latin typeface="Calibri" panose="020F0502020204030204" pitchFamily="34" charset="0"/>
                  <a:cs typeface="Calibri" pitchFamily="34" charset="0"/>
                </a:rPr>
                <a:t>Checker</a:t>
              </a:r>
              <a:endParaRPr lang="en-US" sz="1200" b="0" dirty="0">
                <a:latin typeface="Calibri" panose="020F0502020204030204" pitchFamily="34" charset="0"/>
                <a:cs typeface="Calibri" pitchFamily="34" charset="0"/>
              </a:endParaRPr>
            </a:p>
          </p:txBody>
        </p:sp>
        <p:sp>
          <p:nvSpPr>
            <p:cNvPr id="9" name="Flowchart: Document 8"/>
            <p:cNvSpPr/>
            <p:nvPr/>
          </p:nvSpPr>
          <p:spPr>
            <a:xfrm>
              <a:off x="6136689" y="3505200"/>
              <a:ext cx="2016711" cy="1273629"/>
            </a:xfrm>
            <a:prstGeom prst="flowChartDocument">
              <a:avLst/>
            </a:prstGeom>
            <a:grpFill/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b="0" dirty="0" smtClean="0">
                  <a:latin typeface="Calibri" panose="020F0502020204030204" pitchFamily="34" charset="0"/>
                  <a:cs typeface="Calibri" pitchFamily="34" charset="0"/>
                </a:rPr>
                <a:t>Trace</a:t>
              </a:r>
              <a:endParaRPr lang="en-US" sz="1200" b="0" dirty="0">
                <a:latin typeface="Calibri" panose="020F0502020204030204" pitchFamily="34" charset="0"/>
                <a:cs typeface="Calibri" pitchFamily="34" charset="0"/>
              </a:endParaRPr>
            </a:p>
          </p:txBody>
        </p:sp>
        <p:sp>
          <p:nvSpPr>
            <p:cNvPr id="10" name="Flowchart: Card 9"/>
            <p:cNvSpPr/>
            <p:nvPr/>
          </p:nvSpPr>
          <p:spPr>
            <a:xfrm>
              <a:off x="3563646" y="5203371"/>
              <a:ext cx="2016710" cy="1387387"/>
            </a:xfrm>
            <a:prstGeom prst="flowChartPunchedCard">
              <a:avLst/>
            </a:prstGeom>
            <a:grpFill/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b="0" dirty="0" smtClean="0">
                  <a:latin typeface="Calibri" panose="020F0502020204030204" pitchFamily="34" charset="0"/>
                  <a:cs typeface="Calibri" pitchFamily="34" charset="0"/>
                </a:rPr>
                <a:t>Specification</a:t>
              </a:r>
              <a:br>
                <a:rPr lang="en-US" sz="1200" b="0" dirty="0" smtClean="0">
                  <a:latin typeface="Calibri" panose="020F0502020204030204" pitchFamily="34" charset="0"/>
                  <a:cs typeface="Calibri" pitchFamily="34" charset="0"/>
                </a:rPr>
              </a:br>
              <a:endParaRPr lang="en-US" sz="1200" b="0" dirty="0">
                <a:latin typeface="Calibri" panose="020F0502020204030204" pitchFamily="34" charset="0"/>
                <a:cs typeface="Calibri" pitchFamily="34" charset="0"/>
              </a:endParaRPr>
            </a:p>
          </p:txBody>
        </p:sp>
        <p:cxnSp>
          <p:nvCxnSpPr>
            <p:cNvPr id="11" name="Straight Arrow Connector 10"/>
            <p:cNvCxnSpPr>
              <a:stCxn id="7" idx="3"/>
              <a:endCxn id="8" idx="1"/>
            </p:cNvCxnSpPr>
            <p:nvPr/>
          </p:nvCxnSpPr>
          <p:spPr>
            <a:xfrm>
              <a:off x="3007311" y="4142015"/>
              <a:ext cx="556334" cy="1588"/>
            </a:xfrm>
            <a:prstGeom prst="straightConnector1">
              <a:avLst/>
            </a:prstGeom>
            <a:grpFill/>
            <a:ln>
              <a:tailEnd type="stealth" w="lg" len="lg"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</p:cxnSp>
        <p:cxnSp>
          <p:nvCxnSpPr>
            <p:cNvPr id="12" name="Straight Arrow Connector 11"/>
            <p:cNvCxnSpPr>
              <a:stCxn id="10" idx="0"/>
              <a:endCxn id="8" idx="2"/>
            </p:cNvCxnSpPr>
            <p:nvPr/>
          </p:nvCxnSpPr>
          <p:spPr>
            <a:xfrm flipH="1" flipV="1">
              <a:off x="4572000" y="4778829"/>
              <a:ext cx="2" cy="424542"/>
            </a:xfrm>
            <a:prstGeom prst="straightConnector1">
              <a:avLst/>
            </a:prstGeom>
            <a:grpFill/>
            <a:ln>
              <a:tailEnd type="stealth" w="lg" len="lg"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</p:cxnSp>
        <p:cxnSp>
          <p:nvCxnSpPr>
            <p:cNvPr id="13" name="Straight Arrow Connector 12"/>
            <p:cNvCxnSpPr>
              <a:stCxn id="8" idx="3"/>
              <a:endCxn id="9" idx="1"/>
            </p:cNvCxnSpPr>
            <p:nvPr/>
          </p:nvCxnSpPr>
          <p:spPr>
            <a:xfrm>
              <a:off x="5580356" y="4142015"/>
              <a:ext cx="556333" cy="1588"/>
            </a:xfrm>
            <a:prstGeom prst="straightConnector1">
              <a:avLst/>
            </a:prstGeom>
            <a:grpFill/>
            <a:ln>
              <a:tailEnd type="stealth" w="lg" len="lg"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</p:cxnSp>
      </p:grpSp>
      <p:sp>
        <p:nvSpPr>
          <p:cNvPr id="17" name="TextBox 16"/>
          <p:cNvSpPr txBox="1"/>
          <p:nvPr/>
        </p:nvSpPr>
        <p:spPr>
          <a:xfrm>
            <a:off x="697328" y="4387992"/>
            <a:ext cx="3277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Trebuchet MS" panose="020B0603020202020204" pitchFamily="34" charset="0"/>
              </a:rPr>
              <a:t>WMC Simulation Scenario</a:t>
            </a:r>
            <a:endParaRPr lang="en-US" dirty="0">
              <a:latin typeface="Trebuchet MS" panose="020B0603020202020204" pitchFamily="34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3163588" y="4701288"/>
            <a:ext cx="2886894" cy="2079354"/>
            <a:chOff x="1193085" y="5182683"/>
            <a:chExt cx="3918587" cy="2822455"/>
          </a:xfrm>
        </p:grpSpPr>
        <p:pic>
          <p:nvPicPr>
            <p:cNvPr id="14" name="Picture 12" descr="Airport control tower, airport, control tower,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4399" y="5661987"/>
              <a:ext cx="3137273" cy="23431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 descr="Cargo airplane, cargo airplane,"/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000" t="27300" r="16104" b="29403"/>
            <a:stretch/>
          </p:blipFill>
          <p:spPr bwMode="auto">
            <a:xfrm>
              <a:off x="1262975" y="5775183"/>
              <a:ext cx="1947553" cy="9856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6" descr="Passenger airplane, passenger airplane,"/>
            <p:cNvPicPr>
              <a:picLocks noChangeAspect="1" noChangeArrowheads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73" t="33691" r="20994" b="32783"/>
            <a:stretch/>
          </p:blipFill>
          <p:spPr bwMode="auto">
            <a:xfrm>
              <a:off x="2434178" y="5182683"/>
              <a:ext cx="1552699" cy="6889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22" descr="Aircraft vector material"/>
            <p:cNvPicPr>
              <a:picLocks noChangeAspect="1" noChangeArrowheads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762" b="53025"/>
            <a:stretch/>
          </p:blipFill>
          <p:spPr bwMode="auto">
            <a:xfrm>
              <a:off x="1193085" y="5279111"/>
              <a:ext cx="1238250" cy="4960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9" name="Right Arrow 18"/>
          <p:cNvSpPr/>
          <p:nvPr/>
        </p:nvSpPr>
        <p:spPr bwMode="auto">
          <a:xfrm rot="20046718">
            <a:off x="5096566" y="4716773"/>
            <a:ext cx="1658377" cy="187834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0" name="Bent Arrow 19"/>
          <p:cNvSpPr/>
          <p:nvPr/>
        </p:nvSpPr>
        <p:spPr bwMode="auto">
          <a:xfrm rot="10800000">
            <a:off x="5148605" y="4850785"/>
            <a:ext cx="4847500" cy="1131479"/>
          </a:xfrm>
          <a:prstGeom prst="bentArrow">
            <a:avLst>
              <a:gd name="adj1" fmla="val 7987"/>
              <a:gd name="adj2" fmla="val 8484"/>
              <a:gd name="adj3" fmla="val 8175"/>
              <a:gd name="adj4" fmla="val 95922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2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3321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Current Research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7"/>
            <a:ext cx="8946541" cy="4325023"/>
          </a:xfrm>
        </p:spPr>
        <p:txBody>
          <a:bodyPr>
            <a:normAutofit/>
          </a:bodyPr>
          <a:lstStyle/>
          <a:p>
            <a:pPr>
              <a:spcAft>
                <a:spcPts val="1000"/>
              </a:spcAft>
            </a:pPr>
            <a:r>
              <a:rPr lang="en-US" dirty="0" smtClean="0"/>
              <a:t>Modeling WMC concepts in SAL to </a:t>
            </a:r>
            <a:r>
              <a:rPr lang="en-US" dirty="0" smtClean="0"/>
              <a:t>facilitate </a:t>
            </a:r>
            <a:r>
              <a:rPr lang="en-US" dirty="0"/>
              <a:t>WMC ↔ SAL scenario </a:t>
            </a:r>
            <a:r>
              <a:rPr lang="en-US" dirty="0" smtClean="0"/>
              <a:t>translations</a:t>
            </a:r>
            <a:endParaRPr lang="en-US" dirty="0"/>
          </a:p>
          <a:p>
            <a:pPr lvl="1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A</a:t>
            </a:r>
            <a:r>
              <a:rPr lang="en-US" sz="1600" dirty="0" smtClean="0"/>
              <a:t>gents, a series of actions the agents must perform, a scheduler to arrange incoming actions, and flight “resources” (ex: altitude, speed)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dirty="0" smtClean="0"/>
              <a:t>Developing formal specification properties capable of finding interesting authority and autonomy conditions in air traffic scenarios:</a:t>
            </a:r>
          </a:p>
          <a:p>
            <a:pPr lvl="1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dirty="0" smtClean="0"/>
              <a:t>Authority-responsibility double-bind</a:t>
            </a:r>
          </a:p>
          <a:p>
            <a:pPr lvl="1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dirty="0" smtClean="0"/>
              <a:t>Multistep action interruptions</a:t>
            </a:r>
          </a:p>
          <a:p>
            <a:pPr lvl="1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dirty="0" smtClean="0"/>
              <a:t>Clumsy automation / bad function allocation</a:t>
            </a:r>
            <a:endParaRPr lang="en-US" sz="1600" dirty="0"/>
          </a:p>
          <a:p>
            <a:pPr lvl="1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dirty="0" smtClean="0"/>
              <a:t>Excessive human task load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53511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Conclusions and Future 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Automated translation:  </a:t>
            </a:r>
            <a:r>
              <a:rPr lang="en-US" dirty="0"/>
              <a:t>SAL ↔</a:t>
            </a:r>
            <a:r>
              <a:rPr lang="en-US" dirty="0" smtClean="0">
                <a:sym typeface="Wingdings" panose="05000000000000000000" pitchFamily="2" charset="2"/>
              </a:rPr>
              <a:t> WMC</a:t>
            </a:r>
          </a:p>
          <a:p>
            <a:endParaRPr lang="en-US" dirty="0" smtClean="0"/>
          </a:p>
          <a:p>
            <a:r>
              <a:rPr lang="en-US" dirty="0" smtClean="0"/>
              <a:t>Examining real-world scenarios, </a:t>
            </a:r>
            <a:r>
              <a:rPr lang="en-US" dirty="0" err="1" smtClean="0"/>
              <a:t>backfeed</a:t>
            </a:r>
            <a:r>
              <a:rPr lang="en-US" dirty="0" smtClean="0"/>
              <a:t> into WMC </a:t>
            </a:r>
          </a:p>
          <a:p>
            <a:endParaRPr lang="en-US" dirty="0"/>
          </a:p>
          <a:p>
            <a:r>
              <a:rPr lang="en-US" dirty="0" smtClean="0"/>
              <a:t>Applications to novel scenarios at previously-unexplored levels of rigor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Adam’s interests: 	autonomy, authority and responsibility;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				dynamic function allocation;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				trust (</a:t>
            </a:r>
            <a:r>
              <a:rPr lang="en-US" i="1" u="sng" dirty="0" smtClean="0"/>
              <a:t>guarantees?</a:t>
            </a:r>
            <a:r>
              <a:rPr lang="en-US" dirty="0" smtClean="0"/>
              <a:t>) in automation.</a:t>
            </a:r>
            <a:endParaRPr lang="en-US" dirty="0"/>
          </a:p>
        </p:txBody>
      </p:sp>
      <p:sp>
        <p:nvSpPr>
          <p:cNvPr id="4" name="Right Brace 3"/>
          <p:cNvSpPr/>
          <p:nvPr/>
        </p:nvSpPr>
        <p:spPr>
          <a:xfrm>
            <a:off x="8726905" y="4973053"/>
            <a:ext cx="721895" cy="1275346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9448800" y="5410671"/>
            <a:ext cx="2286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Formal Methods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17772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References upon request.</a:t>
            </a:r>
          </a:p>
          <a:p>
            <a:endParaRPr lang="en-US" dirty="0"/>
          </a:p>
          <a:p>
            <a:r>
              <a:rPr lang="en-US" dirty="0" smtClean="0"/>
              <a:t>Constructive commentary and questions to: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sz="3200" dirty="0" smtClean="0"/>
              <a:t>adamhous@buffalo.edu</a:t>
            </a:r>
          </a:p>
          <a:p>
            <a:endParaRPr lang="en-US" dirty="0"/>
          </a:p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 smtClean="0"/>
              <a:t>Thanks for listening!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8205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Additional Slides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9014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3080084" y="569493"/>
            <a:ext cx="13736960" cy="5322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2316275"/>
              </p:ext>
            </p:extLst>
          </p:nvPr>
        </p:nvGraphicFramePr>
        <p:xfrm>
          <a:off x="3080084" y="1026693"/>
          <a:ext cx="6365048" cy="51896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r:id="rId3" imgW="5520987" imgH="4724580" progId="Visio.Drawing.11">
                  <p:embed/>
                </p:oleObj>
              </mc:Choice>
              <mc:Fallback>
                <p:oleObj r:id="rId3" imgW="5520987" imgH="472458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4538"/>
                      <a:stretch>
                        <a:fillRect/>
                      </a:stretch>
                    </p:blipFill>
                    <p:spPr bwMode="auto">
                      <a:xfrm>
                        <a:off x="3080084" y="1026693"/>
                        <a:ext cx="6365048" cy="518962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3080084" y="5484393"/>
            <a:ext cx="1373696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527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3" name="Straight Arrow Connector 82"/>
          <p:cNvCxnSpPr/>
          <p:nvPr/>
        </p:nvCxnSpPr>
        <p:spPr>
          <a:xfrm flipH="1">
            <a:off x="8134785" y="3076290"/>
            <a:ext cx="454255" cy="0"/>
          </a:xfrm>
          <a:prstGeom prst="straightConnector1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4" name="Rectangle 2"/>
          <p:cNvSpPr>
            <a:spLocks noChangeAspect="1" noChangeArrowheads="1"/>
          </p:cNvSpPr>
          <p:nvPr/>
        </p:nvSpPr>
        <p:spPr bwMode="auto">
          <a:xfrm>
            <a:off x="-342900" y="-133350"/>
            <a:ext cx="12192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3"/>
          <p:cNvSpPr>
            <a:spLocks noChangeAspect="1" noChangeArrowheads="1"/>
          </p:cNvSpPr>
          <p:nvPr/>
        </p:nvSpPr>
        <p:spPr bwMode="auto">
          <a:xfrm>
            <a:off x="-342900" y="4076700"/>
            <a:ext cx="12192000" cy="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cxnSp>
        <p:nvCxnSpPr>
          <p:cNvPr id="43" name="Elbow Connector 42"/>
          <p:cNvCxnSpPr>
            <a:cxnSpLocks noChangeAspect="1"/>
            <a:endCxn id="74" idx="1"/>
          </p:cNvCxnSpPr>
          <p:nvPr/>
        </p:nvCxnSpPr>
        <p:spPr>
          <a:xfrm>
            <a:off x="2419350" y="2765280"/>
            <a:ext cx="1690546" cy="19032"/>
          </a:xfrm>
          <a:prstGeom prst="bentConnector3">
            <a:avLst>
              <a:gd name="adj1" fmla="val 50000"/>
            </a:avLst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44" name="Flowchart: Document 43"/>
          <p:cNvSpPr>
            <a:spLocks noChangeAspect="1"/>
          </p:cNvSpPr>
          <p:nvPr/>
        </p:nvSpPr>
        <p:spPr>
          <a:xfrm>
            <a:off x="4112369" y="1065999"/>
            <a:ext cx="1692737" cy="1091897"/>
          </a:xfrm>
          <a:prstGeom prst="flowChartDocument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WMC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Model</a:t>
            </a:r>
          </a:p>
        </p:txBody>
      </p:sp>
      <p:cxnSp>
        <p:nvCxnSpPr>
          <p:cNvPr id="45" name="Straight Arrow Connector 44"/>
          <p:cNvCxnSpPr>
            <a:cxnSpLocks noChangeAspect="1"/>
          </p:cNvCxnSpPr>
          <p:nvPr/>
        </p:nvCxnSpPr>
        <p:spPr>
          <a:xfrm flipH="1">
            <a:off x="8607489" y="3069248"/>
            <a:ext cx="6995" cy="0"/>
          </a:xfrm>
          <a:prstGeom prst="straightConnector1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46" name="Flowchart: Document 45"/>
          <p:cNvSpPr>
            <a:spLocks noChangeAspect="1"/>
          </p:cNvSpPr>
          <p:nvPr/>
        </p:nvSpPr>
        <p:spPr>
          <a:xfrm>
            <a:off x="6229350" y="2420121"/>
            <a:ext cx="1692737" cy="1091897"/>
          </a:xfrm>
          <a:prstGeom prst="flowChartDocument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Modified Scenarios</a:t>
            </a:r>
          </a:p>
        </p:txBody>
      </p:sp>
      <p:sp>
        <p:nvSpPr>
          <p:cNvPr id="47" name="Flowchart: Card 46"/>
          <p:cNvSpPr>
            <a:spLocks noChangeAspect="1"/>
          </p:cNvSpPr>
          <p:nvPr/>
        </p:nvSpPr>
        <p:spPr>
          <a:xfrm>
            <a:off x="4019550" y="5379933"/>
            <a:ext cx="1692737" cy="1091897"/>
          </a:xfrm>
          <a:prstGeom prst="flowChartPunchedCard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Coverage Criteria &amp; Specifications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  <p:sp>
        <p:nvSpPr>
          <p:cNvPr id="48" name="Flowchart: Document 47"/>
          <p:cNvSpPr>
            <a:spLocks noChangeAspect="1"/>
          </p:cNvSpPr>
          <p:nvPr/>
        </p:nvSpPr>
        <p:spPr>
          <a:xfrm>
            <a:off x="1504950" y="631680"/>
            <a:ext cx="2094115" cy="3472715"/>
          </a:xfrm>
          <a:prstGeom prst="flowChartDocument">
            <a:avLst/>
          </a:prstGeom>
          <a:solidFill>
            <a:schemeClr val="tx1">
              <a:lumMod val="65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Scenario</a:t>
            </a:r>
          </a:p>
        </p:txBody>
      </p:sp>
      <p:sp>
        <p:nvSpPr>
          <p:cNvPr id="49" name="Flowchart: Process 48"/>
          <p:cNvSpPr>
            <a:spLocks noChangeAspect="1"/>
          </p:cNvSpPr>
          <p:nvPr/>
        </p:nvSpPr>
        <p:spPr>
          <a:xfrm>
            <a:off x="6326216" y="3965878"/>
            <a:ext cx="1692737" cy="1091897"/>
          </a:xfrm>
          <a:prstGeom prst="flowChartProcess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Model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Checker</a:t>
            </a:r>
          </a:p>
        </p:txBody>
      </p:sp>
      <p:sp>
        <p:nvSpPr>
          <p:cNvPr id="50" name="Flowchart: Document 49"/>
          <p:cNvSpPr>
            <a:spLocks noChangeAspect="1"/>
          </p:cNvSpPr>
          <p:nvPr/>
        </p:nvSpPr>
        <p:spPr>
          <a:xfrm>
            <a:off x="8499013" y="3965878"/>
            <a:ext cx="1692737" cy="1091897"/>
          </a:xfrm>
          <a:prstGeom prst="flowChartDocument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Test Cases</a:t>
            </a:r>
          </a:p>
        </p:txBody>
      </p:sp>
      <p:sp>
        <p:nvSpPr>
          <p:cNvPr id="51" name="Flowchart: Card 50"/>
          <p:cNvSpPr>
            <a:spLocks noChangeAspect="1"/>
          </p:cNvSpPr>
          <p:nvPr/>
        </p:nvSpPr>
        <p:spPr>
          <a:xfrm>
            <a:off x="4112070" y="5468121"/>
            <a:ext cx="1692737" cy="1091897"/>
          </a:xfrm>
          <a:prstGeom prst="flowChartPunchedCard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Coverage Criteria &amp; Specifications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  <p:cxnSp>
        <p:nvCxnSpPr>
          <p:cNvPr id="52" name="Straight Arrow Connector 51"/>
          <p:cNvCxnSpPr>
            <a:cxnSpLocks noChangeAspect="1"/>
            <a:stCxn id="71" idx="3"/>
            <a:endCxn id="49" idx="1"/>
          </p:cNvCxnSpPr>
          <p:nvPr/>
        </p:nvCxnSpPr>
        <p:spPr>
          <a:xfrm>
            <a:off x="5804807" y="4511827"/>
            <a:ext cx="521409" cy="0"/>
          </a:xfrm>
          <a:prstGeom prst="straightConnector1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53" name="Straight Arrow Connector 52"/>
          <p:cNvCxnSpPr>
            <a:cxnSpLocks noChangeAspect="1"/>
            <a:stCxn id="49" idx="3"/>
            <a:endCxn id="50" idx="1"/>
          </p:cNvCxnSpPr>
          <p:nvPr/>
        </p:nvCxnSpPr>
        <p:spPr>
          <a:xfrm>
            <a:off x="8018953" y="4511827"/>
            <a:ext cx="480060" cy="0"/>
          </a:xfrm>
          <a:prstGeom prst="straightConnector1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54" name="Flowchart: Process 53"/>
          <p:cNvSpPr>
            <a:spLocks noChangeAspect="1"/>
          </p:cNvSpPr>
          <p:nvPr/>
        </p:nvSpPr>
        <p:spPr>
          <a:xfrm>
            <a:off x="6325511" y="1065457"/>
            <a:ext cx="1692737" cy="1091897"/>
          </a:xfrm>
          <a:prstGeom prst="flowChartProcess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WMC Simulation</a:t>
            </a:r>
          </a:p>
        </p:txBody>
      </p:sp>
      <p:cxnSp>
        <p:nvCxnSpPr>
          <p:cNvPr id="55" name="Straight Arrow Connector 54"/>
          <p:cNvCxnSpPr>
            <a:cxnSpLocks noChangeAspect="1"/>
            <a:stCxn id="50" idx="0"/>
            <a:endCxn id="56" idx="2"/>
          </p:cNvCxnSpPr>
          <p:nvPr/>
        </p:nvCxnSpPr>
        <p:spPr>
          <a:xfrm flipV="1">
            <a:off x="9345382" y="3607565"/>
            <a:ext cx="0" cy="358313"/>
          </a:xfrm>
          <a:prstGeom prst="straightConnector1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56" name="Flowchart: Process 55"/>
          <p:cNvSpPr>
            <a:spLocks noChangeAspect="1"/>
          </p:cNvSpPr>
          <p:nvPr/>
        </p:nvSpPr>
        <p:spPr>
          <a:xfrm>
            <a:off x="8499013" y="2515668"/>
            <a:ext cx="1692737" cy="1091897"/>
          </a:xfrm>
          <a:prstGeom prst="flowChartProcess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Translation</a:t>
            </a:r>
          </a:p>
        </p:txBody>
      </p:sp>
      <p:sp>
        <p:nvSpPr>
          <p:cNvPr id="57" name="Flowchart: Document 56"/>
          <p:cNvSpPr>
            <a:spLocks noChangeAspect="1"/>
          </p:cNvSpPr>
          <p:nvPr/>
        </p:nvSpPr>
        <p:spPr>
          <a:xfrm>
            <a:off x="6325550" y="2515668"/>
            <a:ext cx="1692737" cy="1091897"/>
          </a:xfrm>
          <a:prstGeom prst="flowChartDocument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Modified Scenarios</a:t>
            </a:r>
          </a:p>
        </p:txBody>
      </p:sp>
      <p:cxnSp>
        <p:nvCxnSpPr>
          <p:cNvPr id="58" name="Straight Arrow Connector 57"/>
          <p:cNvCxnSpPr>
            <a:cxnSpLocks noChangeAspect="1"/>
            <a:stCxn id="57" idx="0"/>
            <a:endCxn id="54" idx="2"/>
          </p:cNvCxnSpPr>
          <p:nvPr/>
        </p:nvCxnSpPr>
        <p:spPr>
          <a:xfrm flipH="1" flipV="1">
            <a:off x="7171880" y="2157354"/>
            <a:ext cx="39" cy="358314"/>
          </a:xfrm>
          <a:prstGeom prst="straightConnector1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59" name="Flowchart: Document 58"/>
          <p:cNvSpPr>
            <a:spLocks noChangeAspect="1"/>
          </p:cNvSpPr>
          <p:nvPr/>
        </p:nvSpPr>
        <p:spPr>
          <a:xfrm>
            <a:off x="8462702" y="1065457"/>
            <a:ext cx="1692737" cy="1091897"/>
          </a:xfrm>
          <a:prstGeom prst="flowChartDocument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Simulation Results</a:t>
            </a:r>
          </a:p>
        </p:txBody>
      </p:sp>
      <p:cxnSp>
        <p:nvCxnSpPr>
          <p:cNvPr id="60" name="Straight Arrow Connector 59"/>
          <p:cNvCxnSpPr>
            <a:cxnSpLocks noChangeAspect="1"/>
            <a:stCxn id="54" idx="3"/>
            <a:endCxn id="59" idx="1"/>
          </p:cNvCxnSpPr>
          <p:nvPr/>
        </p:nvCxnSpPr>
        <p:spPr>
          <a:xfrm>
            <a:off x="8018248" y="1611406"/>
            <a:ext cx="444454" cy="0"/>
          </a:xfrm>
          <a:prstGeom prst="straightConnector1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61" name="Flowchart: Document 60"/>
          <p:cNvSpPr>
            <a:spLocks noChangeAspect="1"/>
          </p:cNvSpPr>
          <p:nvPr/>
        </p:nvSpPr>
        <p:spPr>
          <a:xfrm>
            <a:off x="1710775" y="1065999"/>
            <a:ext cx="1692737" cy="1091897"/>
          </a:xfrm>
          <a:prstGeom prst="flowChartDocument">
            <a:avLst/>
          </a:prstGeom>
          <a:solidFill>
            <a:schemeClr val="accent6">
              <a:lumMod val="75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Generic Graphical</a:t>
            </a:r>
            <a:b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Model</a:t>
            </a:r>
          </a:p>
        </p:txBody>
      </p:sp>
      <p:sp>
        <p:nvSpPr>
          <p:cNvPr id="62" name="Flowchart: Document 61"/>
          <p:cNvSpPr>
            <a:spLocks noChangeAspect="1"/>
          </p:cNvSpPr>
          <p:nvPr/>
        </p:nvSpPr>
        <p:spPr>
          <a:xfrm>
            <a:off x="1710775" y="2477323"/>
            <a:ext cx="1692737" cy="1091897"/>
          </a:xfrm>
          <a:prstGeom prst="flowChartDocument">
            <a:avLst/>
          </a:prstGeom>
          <a:solidFill>
            <a:schemeClr val="accent6">
              <a:lumMod val="75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Inputs </a:t>
            </a:r>
            <a:b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+mn-ea"/>
                <a:cs typeface="Calibri" pitchFamily="34" charset="0"/>
              </a:rPr>
              <a:t>(preconditions, post-conditions, scripted events)</a:t>
            </a: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+mn-ea"/>
              <a:cs typeface="Calibri" pitchFamily="34" charset="0"/>
            </a:endParaRPr>
          </a:p>
        </p:txBody>
      </p:sp>
      <p:sp>
        <p:nvSpPr>
          <p:cNvPr id="63" name="Flowchart: Manual Input 62"/>
          <p:cNvSpPr>
            <a:spLocks noChangeAspect="1"/>
          </p:cNvSpPr>
          <p:nvPr/>
        </p:nvSpPr>
        <p:spPr>
          <a:xfrm>
            <a:off x="1710775" y="4127752"/>
            <a:ext cx="1688803" cy="769663"/>
          </a:xfrm>
          <a:prstGeom prst="flowChartManualInput">
            <a:avLst/>
          </a:prstGeom>
          <a:solidFill>
            <a:schemeClr val="accent6">
              <a:lumMod val="75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Constraints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64" name="Elbow Connector 63"/>
          <p:cNvCxnSpPr>
            <a:cxnSpLocks noChangeAspect="1"/>
            <a:stCxn id="63" idx="3"/>
            <a:endCxn id="75" idx="1"/>
          </p:cNvCxnSpPr>
          <p:nvPr/>
        </p:nvCxnSpPr>
        <p:spPr>
          <a:xfrm flipV="1">
            <a:off x="3399578" y="3339485"/>
            <a:ext cx="710318" cy="1173099"/>
          </a:xfrm>
          <a:prstGeom prst="bentConnector3">
            <a:avLst>
              <a:gd name="adj1" fmla="val 50000"/>
            </a:avLst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65" name="Straight Arrow Connector 64"/>
          <p:cNvCxnSpPr>
            <a:cxnSpLocks noChangeAspect="1"/>
            <a:stCxn id="76" idx="2"/>
            <a:endCxn id="71" idx="0"/>
          </p:cNvCxnSpPr>
          <p:nvPr/>
        </p:nvCxnSpPr>
        <p:spPr>
          <a:xfrm>
            <a:off x="4958439" y="3604395"/>
            <a:ext cx="0" cy="361483"/>
          </a:xfrm>
          <a:prstGeom prst="straightConnector1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66" name="Straight Arrow Connector 65"/>
          <p:cNvCxnSpPr>
            <a:cxnSpLocks noChangeAspect="1"/>
            <a:stCxn id="57" idx="2"/>
            <a:endCxn id="49" idx="0"/>
          </p:cNvCxnSpPr>
          <p:nvPr/>
        </p:nvCxnSpPr>
        <p:spPr>
          <a:xfrm>
            <a:off x="7171919" y="3535378"/>
            <a:ext cx="666" cy="430500"/>
          </a:xfrm>
          <a:prstGeom prst="straightConnector1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67" name="Elbow Connector 66"/>
          <p:cNvCxnSpPr>
            <a:cxnSpLocks noChangeAspect="1"/>
            <a:stCxn id="63" idx="3"/>
            <a:endCxn id="51" idx="1"/>
          </p:cNvCxnSpPr>
          <p:nvPr/>
        </p:nvCxnSpPr>
        <p:spPr>
          <a:xfrm>
            <a:off x="3399578" y="4512584"/>
            <a:ext cx="712492" cy="1501486"/>
          </a:xfrm>
          <a:prstGeom prst="bentConnector3">
            <a:avLst>
              <a:gd name="adj1" fmla="val 50000"/>
            </a:avLst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68" name="Elbow Connector 67"/>
          <p:cNvCxnSpPr>
            <a:cxnSpLocks noChangeAspect="1"/>
            <a:stCxn id="51" idx="3"/>
            <a:endCxn id="49" idx="2"/>
          </p:cNvCxnSpPr>
          <p:nvPr/>
        </p:nvCxnSpPr>
        <p:spPr>
          <a:xfrm flipV="1">
            <a:off x="5804807" y="5057775"/>
            <a:ext cx="1367778" cy="956295"/>
          </a:xfrm>
          <a:prstGeom prst="bentConnector2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69" name="Flowchart: Card 68"/>
          <p:cNvSpPr>
            <a:spLocks noChangeAspect="1"/>
          </p:cNvSpPr>
          <p:nvPr/>
        </p:nvSpPr>
        <p:spPr>
          <a:xfrm>
            <a:off x="4205343" y="5544321"/>
            <a:ext cx="1692737" cy="1091897"/>
          </a:xfrm>
          <a:prstGeom prst="flowChartPunchedCard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Coverage Criteria &amp; Specifications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  <p:sp>
        <p:nvSpPr>
          <p:cNvPr id="70" name="Flowchart: Document 69"/>
          <p:cNvSpPr>
            <a:spLocks noChangeAspect="1"/>
          </p:cNvSpPr>
          <p:nvPr/>
        </p:nvSpPr>
        <p:spPr>
          <a:xfrm>
            <a:off x="6442048" y="2612880"/>
            <a:ext cx="1692737" cy="1091897"/>
          </a:xfrm>
          <a:prstGeom prst="flowChartDocument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Generated WMC Models</a:t>
            </a:r>
          </a:p>
        </p:txBody>
      </p:sp>
      <p:sp>
        <p:nvSpPr>
          <p:cNvPr id="71" name="Flowchart: Document 70"/>
          <p:cNvSpPr>
            <a:spLocks noChangeAspect="1"/>
          </p:cNvSpPr>
          <p:nvPr/>
        </p:nvSpPr>
        <p:spPr>
          <a:xfrm>
            <a:off x="4112070" y="3965878"/>
            <a:ext cx="1692737" cy="1091897"/>
          </a:xfrm>
          <a:prstGeom prst="flowChartDocument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Abstract Model</a:t>
            </a:r>
          </a:p>
        </p:txBody>
      </p:sp>
      <p:cxnSp>
        <p:nvCxnSpPr>
          <p:cNvPr id="72" name="Straight Arrow Connector 71"/>
          <p:cNvCxnSpPr>
            <a:cxnSpLocks noChangeAspect="1"/>
            <a:stCxn id="76" idx="0"/>
            <a:endCxn id="44" idx="2"/>
          </p:cNvCxnSpPr>
          <p:nvPr/>
        </p:nvCxnSpPr>
        <p:spPr>
          <a:xfrm flipV="1">
            <a:off x="4958439" y="2085709"/>
            <a:ext cx="299" cy="426789"/>
          </a:xfrm>
          <a:prstGeom prst="straightConnector1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73" name="Straight Arrow Connector 72"/>
          <p:cNvCxnSpPr>
            <a:cxnSpLocks noChangeAspect="1"/>
            <a:stCxn id="44" idx="3"/>
            <a:endCxn id="54" idx="1"/>
          </p:cNvCxnSpPr>
          <p:nvPr/>
        </p:nvCxnSpPr>
        <p:spPr>
          <a:xfrm flipV="1">
            <a:off x="5805106" y="1611406"/>
            <a:ext cx="520405" cy="542"/>
          </a:xfrm>
          <a:prstGeom prst="straightConnector1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74" name="Rectangle 73"/>
          <p:cNvSpPr>
            <a:spLocks noChangeAspect="1"/>
          </p:cNvSpPr>
          <p:nvPr/>
        </p:nvSpPr>
        <p:spPr>
          <a:xfrm>
            <a:off x="4109896" y="2510552"/>
            <a:ext cx="900321" cy="547520"/>
          </a:xfrm>
          <a:prstGeom prst="rect">
            <a:avLst/>
          </a:prstGeom>
          <a:solidFill>
            <a:schemeClr val="tx2">
              <a:lumMod val="5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5" name="Rectangle 74"/>
          <p:cNvSpPr>
            <a:spLocks noChangeAspect="1"/>
          </p:cNvSpPr>
          <p:nvPr/>
        </p:nvSpPr>
        <p:spPr>
          <a:xfrm>
            <a:off x="4109896" y="3065725"/>
            <a:ext cx="900321" cy="547520"/>
          </a:xfrm>
          <a:prstGeom prst="rect">
            <a:avLst/>
          </a:prstGeom>
          <a:solidFill>
            <a:schemeClr val="tx2">
              <a:lumMod val="5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6" name="Flowchart: Process 75"/>
          <p:cNvSpPr>
            <a:spLocks noChangeAspect="1"/>
          </p:cNvSpPr>
          <p:nvPr/>
        </p:nvSpPr>
        <p:spPr>
          <a:xfrm>
            <a:off x="4112070" y="2512498"/>
            <a:ext cx="1692737" cy="1091897"/>
          </a:xfrm>
          <a:prstGeom prst="flowChartProcess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Translation</a:t>
            </a:r>
          </a:p>
        </p:txBody>
      </p:sp>
    </p:spTree>
    <p:extLst>
      <p:ext uri="{BB962C8B-B14F-4D97-AF65-F5344CB8AC3E}">
        <p14:creationId xmlns:p14="http://schemas.microsoft.com/office/powerpoint/2010/main" val="1579839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Straight Arrow Connector 37"/>
          <p:cNvCxnSpPr/>
          <p:nvPr/>
        </p:nvCxnSpPr>
        <p:spPr>
          <a:xfrm flipH="1">
            <a:off x="8134785" y="3076290"/>
            <a:ext cx="454255" cy="0"/>
          </a:xfrm>
          <a:prstGeom prst="straightConnector1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4" name="Rectangle 2"/>
          <p:cNvSpPr>
            <a:spLocks noChangeAspect="1" noChangeArrowheads="1"/>
          </p:cNvSpPr>
          <p:nvPr/>
        </p:nvSpPr>
        <p:spPr bwMode="auto">
          <a:xfrm>
            <a:off x="-342900" y="-133350"/>
            <a:ext cx="12192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3"/>
          <p:cNvSpPr>
            <a:spLocks noChangeAspect="1" noChangeArrowheads="1"/>
          </p:cNvSpPr>
          <p:nvPr/>
        </p:nvSpPr>
        <p:spPr bwMode="auto">
          <a:xfrm>
            <a:off x="-342900" y="4076700"/>
            <a:ext cx="12192000" cy="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cxnSp>
        <p:nvCxnSpPr>
          <p:cNvPr id="43" name="Elbow Connector 42"/>
          <p:cNvCxnSpPr>
            <a:cxnSpLocks noChangeAspect="1"/>
            <a:endCxn id="74" idx="1"/>
          </p:cNvCxnSpPr>
          <p:nvPr/>
        </p:nvCxnSpPr>
        <p:spPr>
          <a:xfrm>
            <a:off x="2419350" y="2765280"/>
            <a:ext cx="1690546" cy="19032"/>
          </a:xfrm>
          <a:prstGeom prst="bentConnector3">
            <a:avLst>
              <a:gd name="adj1" fmla="val 50000"/>
            </a:avLst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44" name="Flowchart: Document 43"/>
          <p:cNvSpPr>
            <a:spLocks noChangeAspect="1"/>
          </p:cNvSpPr>
          <p:nvPr/>
        </p:nvSpPr>
        <p:spPr>
          <a:xfrm>
            <a:off x="4112369" y="1065999"/>
            <a:ext cx="1692737" cy="1091897"/>
          </a:xfrm>
          <a:prstGeom prst="flowChartDocument">
            <a:avLst/>
          </a:prstGeom>
          <a:solidFill>
            <a:schemeClr val="accent4"/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WMC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Model</a:t>
            </a:r>
          </a:p>
        </p:txBody>
      </p:sp>
      <p:cxnSp>
        <p:nvCxnSpPr>
          <p:cNvPr id="45" name="Straight Arrow Connector 44"/>
          <p:cNvCxnSpPr>
            <a:cxnSpLocks noChangeAspect="1"/>
          </p:cNvCxnSpPr>
          <p:nvPr/>
        </p:nvCxnSpPr>
        <p:spPr>
          <a:xfrm flipH="1">
            <a:off x="8607489" y="3069248"/>
            <a:ext cx="6995" cy="0"/>
          </a:xfrm>
          <a:prstGeom prst="straightConnector1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46" name="Flowchart: Document 45"/>
          <p:cNvSpPr>
            <a:spLocks noChangeAspect="1"/>
          </p:cNvSpPr>
          <p:nvPr/>
        </p:nvSpPr>
        <p:spPr>
          <a:xfrm>
            <a:off x="6229350" y="2420121"/>
            <a:ext cx="1692737" cy="1091897"/>
          </a:xfrm>
          <a:prstGeom prst="flowChartDocument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Modified Scenarios</a:t>
            </a:r>
          </a:p>
        </p:txBody>
      </p:sp>
      <p:sp>
        <p:nvSpPr>
          <p:cNvPr id="47" name="Flowchart: Card 46"/>
          <p:cNvSpPr>
            <a:spLocks noChangeAspect="1"/>
          </p:cNvSpPr>
          <p:nvPr/>
        </p:nvSpPr>
        <p:spPr>
          <a:xfrm>
            <a:off x="4019550" y="5379933"/>
            <a:ext cx="1692737" cy="1091897"/>
          </a:xfrm>
          <a:prstGeom prst="flowChartPunchedCard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Coverage Criteria &amp; Specifications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  <p:sp>
        <p:nvSpPr>
          <p:cNvPr id="48" name="Flowchart: Document 47"/>
          <p:cNvSpPr>
            <a:spLocks noChangeAspect="1"/>
          </p:cNvSpPr>
          <p:nvPr/>
        </p:nvSpPr>
        <p:spPr>
          <a:xfrm>
            <a:off x="1504950" y="631680"/>
            <a:ext cx="2094115" cy="3472715"/>
          </a:xfrm>
          <a:prstGeom prst="flowChartDocument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Scenario</a:t>
            </a:r>
          </a:p>
        </p:txBody>
      </p:sp>
      <p:sp>
        <p:nvSpPr>
          <p:cNvPr id="49" name="Flowchart: Process 48"/>
          <p:cNvSpPr>
            <a:spLocks noChangeAspect="1"/>
          </p:cNvSpPr>
          <p:nvPr/>
        </p:nvSpPr>
        <p:spPr>
          <a:xfrm>
            <a:off x="6326216" y="3965878"/>
            <a:ext cx="1692737" cy="1091897"/>
          </a:xfrm>
          <a:prstGeom prst="flowChartProcess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Model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Checker</a:t>
            </a:r>
          </a:p>
        </p:txBody>
      </p:sp>
      <p:sp>
        <p:nvSpPr>
          <p:cNvPr id="50" name="Flowchart: Document 49"/>
          <p:cNvSpPr>
            <a:spLocks noChangeAspect="1"/>
          </p:cNvSpPr>
          <p:nvPr/>
        </p:nvSpPr>
        <p:spPr>
          <a:xfrm>
            <a:off x="8499013" y="3965878"/>
            <a:ext cx="1692737" cy="1091897"/>
          </a:xfrm>
          <a:prstGeom prst="flowChartDocument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Test Cases</a:t>
            </a:r>
          </a:p>
        </p:txBody>
      </p:sp>
      <p:sp>
        <p:nvSpPr>
          <p:cNvPr id="51" name="Flowchart: Card 50"/>
          <p:cNvSpPr>
            <a:spLocks noChangeAspect="1"/>
          </p:cNvSpPr>
          <p:nvPr/>
        </p:nvSpPr>
        <p:spPr>
          <a:xfrm>
            <a:off x="4112070" y="5468121"/>
            <a:ext cx="1692737" cy="1091897"/>
          </a:xfrm>
          <a:prstGeom prst="flowChartPunchedCard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Coverage Criteria &amp; Specifications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  <p:cxnSp>
        <p:nvCxnSpPr>
          <p:cNvPr id="52" name="Straight Arrow Connector 51"/>
          <p:cNvCxnSpPr>
            <a:cxnSpLocks noChangeAspect="1"/>
            <a:stCxn id="71" idx="3"/>
            <a:endCxn id="49" idx="1"/>
          </p:cNvCxnSpPr>
          <p:nvPr/>
        </p:nvCxnSpPr>
        <p:spPr>
          <a:xfrm>
            <a:off x="5804807" y="4511827"/>
            <a:ext cx="521409" cy="0"/>
          </a:xfrm>
          <a:prstGeom prst="straightConnector1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53" name="Straight Arrow Connector 52"/>
          <p:cNvCxnSpPr>
            <a:cxnSpLocks noChangeAspect="1"/>
            <a:stCxn id="49" idx="3"/>
            <a:endCxn id="50" idx="1"/>
          </p:cNvCxnSpPr>
          <p:nvPr/>
        </p:nvCxnSpPr>
        <p:spPr>
          <a:xfrm>
            <a:off x="8018953" y="4511827"/>
            <a:ext cx="480060" cy="0"/>
          </a:xfrm>
          <a:prstGeom prst="straightConnector1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54" name="Flowchart: Process 53"/>
          <p:cNvSpPr>
            <a:spLocks noChangeAspect="1"/>
          </p:cNvSpPr>
          <p:nvPr/>
        </p:nvSpPr>
        <p:spPr>
          <a:xfrm>
            <a:off x="6325511" y="1065457"/>
            <a:ext cx="1692737" cy="1091897"/>
          </a:xfrm>
          <a:prstGeom prst="flowChartProcess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WMC Simulation</a:t>
            </a:r>
          </a:p>
        </p:txBody>
      </p:sp>
      <p:cxnSp>
        <p:nvCxnSpPr>
          <p:cNvPr id="55" name="Straight Arrow Connector 54"/>
          <p:cNvCxnSpPr>
            <a:cxnSpLocks noChangeAspect="1"/>
            <a:stCxn id="50" idx="0"/>
            <a:endCxn id="56" idx="2"/>
          </p:cNvCxnSpPr>
          <p:nvPr/>
        </p:nvCxnSpPr>
        <p:spPr>
          <a:xfrm flipV="1">
            <a:off x="9345382" y="3607565"/>
            <a:ext cx="0" cy="358313"/>
          </a:xfrm>
          <a:prstGeom prst="straightConnector1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56" name="Flowchart: Process 55"/>
          <p:cNvSpPr>
            <a:spLocks noChangeAspect="1"/>
          </p:cNvSpPr>
          <p:nvPr/>
        </p:nvSpPr>
        <p:spPr>
          <a:xfrm>
            <a:off x="8499013" y="2515668"/>
            <a:ext cx="1692737" cy="1091897"/>
          </a:xfrm>
          <a:prstGeom prst="flowChartProcess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Translation</a:t>
            </a:r>
          </a:p>
        </p:txBody>
      </p:sp>
      <p:sp>
        <p:nvSpPr>
          <p:cNvPr id="57" name="Flowchart: Document 56"/>
          <p:cNvSpPr>
            <a:spLocks noChangeAspect="1"/>
          </p:cNvSpPr>
          <p:nvPr/>
        </p:nvSpPr>
        <p:spPr>
          <a:xfrm>
            <a:off x="6325550" y="2515668"/>
            <a:ext cx="1692737" cy="1091897"/>
          </a:xfrm>
          <a:prstGeom prst="flowChartDocument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Modified Scenarios</a:t>
            </a:r>
          </a:p>
        </p:txBody>
      </p:sp>
      <p:cxnSp>
        <p:nvCxnSpPr>
          <p:cNvPr id="58" name="Straight Arrow Connector 57"/>
          <p:cNvCxnSpPr>
            <a:cxnSpLocks noChangeAspect="1"/>
            <a:stCxn id="57" idx="0"/>
            <a:endCxn id="54" idx="2"/>
          </p:cNvCxnSpPr>
          <p:nvPr/>
        </p:nvCxnSpPr>
        <p:spPr>
          <a:xfrm flipH="1" flipV="1">
            <a:off x="7171880" y="2157354"/>
            <a:ext cx="39" cy="358314"/>
          </a:xfrm>
          <a:prstGeom prst="straightConnector1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59" name="Flowchart: Document 58"/>
          <p:cNvSpPr>
            <a:spLocks noChangeAspect="1"/>
          </p:cNvSpPr>
          <p:nvPr/>
        </p:nvSpPr>
        <p:spPr>
          <a:xfrm>
            <a:off x="8462702" y="1065457"/>
            <a:ext cx="1692737" cy="1091897"/>
          </a:xfrm>
          <a:prstGeom prst="flowChartDocument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Simulation Results</a:t>
            </a:r>
          </a:p>
        </p:txBody>
      </p:sp>
      <p:cxnSp>
        <p:nvCxnSpPr>
          <p:cNvPr id="60" name="Straight Arrow Connector 59"/>
          <p:cNvCxnSpPr>
            <a:cxnSpLocks noChangeAspect="1"/>
            <a:stCxn id="54" idx="3"/>
            <a:endCxn id="59" idx="1"/>
          </p:cNvCxnSpPr>
          <p:nvPr/>
        </p:nvCxnSpPr>
        <p:spPr>
          <a:xfrm>
            <a:off x="8018248" y="1611406"/>
            <a:ext cx="444454" cy="0"/>
          </a:xfrm>
          <a:prstGeom prst="straightConnector1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61" name="Flowchart: Document 60"/>
          <p:cNvSpPr>
            <a:spLocks noChangeAspect="1"/>
          </p:cNvSpPr>
          <p:nvPr/>
        </p:nvSpPr>
        <p:spPr>
          <a:xfrm>
            <a:off x="1710775" y="1065999"/>
            <a:ext cx="1692737" cy="1091897"/>
          </a:xfrm>
          <a:prstGeom prst="flowChartDocument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Generic Graphical</a:t>
            </a:r>
            <a:b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Model</a:t>
            </a:r>
          </a:p>
        </p:txBody>
      </p:sp>
      <p:sp>
        <p:nvSpPr>
          <p:cNvPr id="62" name="Flowchart: Document 61"/>
          <p:cNvSpPr>
            <a:spLocks noChangeAspect="1"/>
          </p:cNvSpPr>
          <p:nvPr/>
        </p:nvSpPr>
        <p:spPr>
          <a:xfrm>
            <a:off x="1710775" y="2477323"/>
            <a:ext cx="1692737" cy="1091897"/>
          </a:xfrm>
          <a:prstGeom prst="flowChartDocument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Inputs </a:t>
            </a:r>
            <a:b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+mn-ea"/>
                <a:cs typeface="Calibri" pitchFamily="34" charset="0"/>
              </a:rPr>
              <a:t>(preconditions, post-conditions, scripted events)</a:t>
            </a: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+mn-ea"/>
              <a:cs typeface="Calibri" pitchFamily="34" charset="0"/>
            </a:endParaRPr>
          </a:p>
        </p:txBody>
      </p:sp>
      <p:sp>
        <p:nvSpPr>
          <p:cNvPr id="63" name="Flowchart: Manual Input 62"/>
          <p:cNvSpPr>
            <a:spLocks noChangeAspect="1"/>
          </p:cNvSpPr>
          <p:nvPr/>
        </p:nvSpPr>
        <p:spPr>
          <a:xfrm>
            <a:off x="1710775" y="4127752"/>
            <a:ext cx="1688803" cy="769663"/>
          </a:xfrm>
          <a:prstGeom prst="flowChartManualInput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Constraints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64" name="Elbow Connector 63"/>
          <p:cNvCxnSpPr>
            <a:cxnSpLocks noChangeAspect="1"/>
            <a:stCxn id="63" idx="3"/>
            <a:endCxn id="75" idx="1"/>
          </p:cNvCxnSpPr>
          <p:nvPr/>
        </p:nvCxnSpPr>
        <p:spPr>
          <a:xfrm flipV="1">
            <a:off x="3399578" y="3339485"/>
            <a:ext cx="710318" cy="1173099"/>
          </a:xfrm>
          <a:prstGeom prst="bentConnector3">
            <a:avLst>
              <a:gd name="adj1" fmla="val 50000"/>
            </a:avLst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65" name="Straight Arrow Connector 64"/>
          <p:cNvCxnSpPr>
            <a:cxnSpLocks noChangeAspect="1"/>
            <a:stCxn id="76" idx="2"/>
            <a:endCxn id="71" idx="0"/>
          </p:cNvCxnSpPr>
          <p:nvPr/>
        </p:nvCxnSpPr>
        <p:spPr>
          <a:xfrm>
            <a:off x="4958439" y="3604395"/>
            <a:ext cx="0" cy="361483"/>
          </a:xfrm>
          <a:prstGeom prst="straightConnector1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66" name="Straight Arrow Connector 65"/>
          <p:cNvCxnSpPr>
            <a:cxnSpLocks noChangeAspect="1"/>
            <a:stCxn id="57" idx="2"/>
            <a:endCxn id="49" idx="0"/>
          </p:cNvCxnSpPr>
          <p:nvPr/>
        </p:nvCxnSpPr>
        <p:spPr>
          <a:xfrm>
            <a:off x="7171919" y="3535378"/>
            <a:ext cx="666" cy="430500"/>
          </a:xfrm>
          <a:prstGeom prst="straightConnector1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67" name="Elbow Connector 66"/>
          <p:cNvCxnSpPr>
            <a:cxnSpLocks noChangeAspect="1"/>
            <a:stCxn id="63" idx="3"/>
            <a:endCxn id="51" idx="1"/>
          </p:cNvCxnSpPr>
          <p:nvPr/>
        </p:nvCxnSpPr>
        <p:spPr>
          <a:xfrm>
            <a:off x="3399578" y="4512584"/>
            <a:ext cx="712492" cy="1501486"/>
          </a:xfrm>
          <a:prstGeom prst="bentConnector3">
            <a:avLst>
              <a:gd name="adj1" fmla="val 50000"/>
            </a:avLst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68" name="Elbow Connector 67"/>
          <p:cNvCxnSpPr>
            <a:cxnSpLocks noChangeAspect="1"/>
            <a:stCxn id="51" idx="3"/>
            <a:endCxn id="49" idx="2"/>
          </p:cNvCxnSpPr>
          <p:nvPr/>
        </p:nvCxnSpPr>
        <p:spPr>
          <a:xfrm flipV="1">
            <a:off x="5804807" y="5057775"/>
            <a:ext cx="1367778" cy="956295"/>
          </a:xfrm>
          <a:prstGeom prst="bentConnector2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69" name="Flowchart: Card 68"/>
          <p:cNvSpPr>
            <a:spLocks noChangeAspect="1"/>
          </p:cNvSpPr>
          <p:nvPr/>
        </p:nvSpPr>
        <p:spPr>
          <a:xfrm>
            <a:off x="4205343" y="5544321"/>
            <a:ext cx="1692737" cy="1091897"/>
          </a:xfrm>
          <a:prstGeom prst="flowChartPunchedCard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Coverage Criteria &amp; Specifications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  <p:sp>
        <p:nvSpPr>
          <p:cNvPr id="70" name="Flowchart: Document 69"/>
          <p:cNvSpPr>
            <a:spLocks noChangeAspect="1"/>
          </p:cNvSpPr>
          <p:nvPr/>
        </p:nvSpPr>
        <p:spPr>
          <a:xfrm>
            <a:off x="6442048" y="2612880"/>
            <a:ext cx="1692737" cy="1091897"/>
          </a:xfrm>
          <a:prstGeom prst="flowChartDocument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Generated WMC Models</a:t>
            </a:r>
          </a:p>
        </p:txBody>
      </p:sp>
      <p:sp>
        <p:nvSpPr>
          <p:cNvPr id="71" name="Flowchart: Document 70"/>
          <p:cNvSpPr>
            <a:spLocks noChangeAspect="1"/>
          </p:cNvSpPr>
          <p:nvPr/>
        </p:nvSpPr>
        <p:spPr>
          <a:xfrm>
            <a:off x="4112070" y="3965878"/>
            <a:ext cx="1692737" cy="1091897"/>
          </a:xfrm>
          <a:prstGeom prst="flowChartDocument">
            <a:avLst/>
          </a:prstGeom>
          <a:solidFill>
            <a:schemeClr val="accent1"/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Abstract Model</a:t>
            </a:r>
          </a:p>
        </p:txBody>
      </p:sp>
      <p:cxnSp>
        <p:nvCxnSpPr>
          <p:cNvPr id="72" name="Straight Arrow Connector 71"/>
          <p:cNvCxnSpPr>
            <a:cxnSpLocks noChangeAspect="1"/>
            <a:stCxn id="76" idx="0"/>
            <a:endCxn id="44" idx="2"/>
          </p:cNvCxnSpPr>
          <p:nvPr/>
        </p:nvCxnSpPr>
        <p:spPr>
          <a:xfrm flipV="1">
            <a:off x="4958439" y="2085709"/>
            <a:ext cx="299" cy="426789"/>
          </a:xfrm>
          <a:prstGeom prst="straightConnector1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73" name="Straight Arrow Connector 72"/>
          <p:cNvCxnSpPr>
            <a:cxnSpLocks noChangeAspect="1"/>
            <a:stCxn id="44" idx="3"/>
            <a:endCxn id="54" idx="1"/>
          </p:cNvCxnSpPr>
          <p:nvPr/>
        </p:nvCxnSpPr>
        <p:spPr>
          <a:xfrm flipV="1">
            <a:off x="5805106" y="1611406"/>
            <a:ext cx="520405" cy="542"/>
          </a:xfrm>
          <a:prstGeom prst="straightConnector1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74" name="Rectangle 73"/>
          <p:cNvSpPr>
            <a:spLocks noChangeAspect="1"/>
          </p:cNvSpPr>
          <p:nvPr/>
        </p:nvSpPr>
        <p:spPr>
          <a:xfrm>
            <a:off x="4109896" y="2510552"/>
            <a:ext cx="900321" cy="547520"/>
          </a:xfrm>
          <a:prstGeom prst="rect">
            <a:avLst/>
          </a:prstGeom>
          <a:solidFill>
            <a:schemeClr val="tx2">
              <a:lumMod val="5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5" name="Rectangle 74"/>
          <p:cNvSpPr>
            <a:spLocks noChangeAspect="1"/>
          </p:cNvSpPr>
          <p:nvPr/>
        </p:nvSpPr>
        <p:spPr>
          <a:xfrm>
            <a:off x="4109896" y="3065725"/>
            <a:ext cx="900321" cy="547520"/>
          </a:xfrm>
          <a:prstGeom prst="rect">
            <a:avLst/>
          </a:prstGeom>
          <a:solidFill>
            <a:schemeClr val="tx2">
              <a:lumMod val="5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6" name="Flowchart: Process 75"/>
          <p:cNvSpPr>
            <a:spLocks noChangeAspect="1"/>
          </p:cNvSpPr>
          <p:nvPr/>
        </p:nvSpPr>
        <p:spPr>
          <a:xfrm>
            <a:off x="4112070" y="2512498"/>
            <a:ext cx="1692737" cy="1091897"/>
          </a:xfrm>
          <a:prstGeom prst="flowChartProcess">
            <a:avLst/>
          </a:prstGeom>
          <a:solidFill>
            <a:schemeClr val="tx2">
              <a:lumMod val="75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Translation</a:t>
            </a:r>
          </a:p>
        </p:txBody>
      </p:sp>
    </p:spTree>
    <p:extLst>
      <p:ext uri="{BB962C8B-B14F-4D97-AF65-F5344CB8AC3E}">
        <p14:creationId xmlns:p14="http://schemas.microsoft.com/office/powerpoint/2010/main" val="3187000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Straight Arrow Connector 37"/>
          <p:cNvCxnSpPr/>
          <p:nvPr/>
        </p:nvCxnSpPr>
        <p:spPr>
          <a:xfrm flipH="1">
            <a:off x="8134785" y="3076290"/>
            <a:ext cx="454255" cy="0"/>
          </a:xfrm>
          <a:prstGeom prst="straightConnector1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4" name="Rectangle 2"/>
          <p:cNvSpPr>
            <a:spLocks noChangeAspect="1" noChangeArrowheads="1"/>
          </p:cNvSpPr>
          <p:nvPr/>
        </p:nvSpPr>
        <p:spPr bwMode="auto">
          <a:xfrm>
            <a:off x="-342900" y="-133350"/>
            <a:ext cx="12192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3"/>
          <p:cNvSpPr>
            <a:spLocks noChangeAspect="1" noChangeArrowheads="1"/>
          </p:cNvSpPr>
          <p:nvPr/>
        </p:nvSpPr>
        <p:spPr bwMode="auto">
          <a:xfrm>
            <a:off x="-342900" y="4076700"/>
            <a:ext cx="12192000" cy="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cxnSp>
        <p:nvCxnSpPr>
          <p:cNvPr id="43" name="Elbow Connector 42"/>
          <p:cNvCxnSpPr>
            <a:cxnSpLocks noChangeAspect="1"/>
            <a:endCxn id="74" idx="1"/>
          </p:cNvCxnSpPr>
          <p:nvPr/>
        </p:nvCxnSpPr>
        <p:spPr>
          <a:xfrm>
            <a:off x="2419350" y="2765280"/>
            <a:ext cx="1690546" cy="19032"/>
          </a:xfrm>
          <a:prstGeom prst="bentConnector3">
            <a:avLst>
              <a:gd name="adj1" fmla="val 50000"/>
            </a:avLst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44" name="Flowchart: Document 43"/>
          <p:cNvSpPr>
            <a:spLocks noChangeAspect="1"/>
          </p:cNvSpPr>
          <p:nvPr/>
        </p:nvSpPr>
        <p:spPr>
          <a:xfrm>
            <a:off x="4112369" y="1065999"/>
            <a:ext cx="1692737" cy="1091897"/>
          </a:xfrm>
          <a:prstGeom prst="flowChartDocument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WMC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Model</a:t>
            </a:r>
          </a:p>
        </p:txBody>
      </p:sp>
      <p:cxnSp>
        <p:nvCxnSpPr>
          <p:cNvPr id="45" name="Straight Arrow Connector 44"/>
          <p:cNvCxnSpPr>
            <a:cxnSpLocks noChangeAspect="1"/>
          </p:cNvCxnSpPr>
          <p:nvPr/>
        </p:nvCxnSpPr>
        <p:spPr>
          <a:xfrm flipH="1">
            <a:off x="8607489" y="3069248"/>
            <a:ext cx="6995" cy="0"/>
          </a:xfrm>
          <a:prstGeom prst="straightConnector1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46" name="Flowchart: Document 45"/>
          <p:cNvSpPr>
            <a:spLocks noChangeAspect="1"/>
          </p:cNvSpPr>
          <p:nvPr/>
        </p:nvSpPr>
        <p:spPr>
          <a:xfrm>
            <a:off x="6229350" y="2420121"/>
            <a:ext cx="1692737" cy="1091897"/>
          </a:xfrm>
          <a:prstGeom prst="flowChartDocument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Modified Scenarios</a:t>
            </a:r>
          </a:p>
        </p:txBody>
      </p:sp>
      <p:sp>
        <p:nvSpPr>
          <p:cNvPr id="47" name="Flowchart: Card 46"/>
          <p:cNvSpPr>
            <a:spLocks noChangeAspect="1"/>
          </p:cNvSpPr>
          <p:nvPr/>
        </p:nvSpPr>
        <p:spPr>
          <a:xfrm>
            <a:off x="4019550" y="5379933"/>
            <a:ext cx="1692737" cy="1091897"/>
          </a:xfrm>
          <a:prstGeom prst="flowChartPunchedCard">
            <a:avLst/>
          </a:prstGeom>
          <a:solidFill>
            <a:schemeClr val="accent1"/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Coverage Criteria &amp; Specifications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  <p:sp>
        <p:nvSpPr>
          <p:cNvPr id="48" name="Flowchart: Document 47"/>
          <p:cNvSpPr>
            <a:spLocks noChangeAspect="1"/>
          </p:cNvSpPr>
          <p:nvPr/>
        </p:nvSpPr>
        <p:spPr>
          <a:xfrm>
            <a:off x="1504950" y="631680"/>
            <a:ext cx="2094115" cy="3472715"/>
          </a:xfrm>
          <a:prstGeom prst="flowChartDocument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Scenario</a:t>
            </a:r>
          </a:p>
        </p:txBody>
      </p:sp>
      <p:sp>
        <p:nvSpPr>
          <p:cNvPr id="49" name="Flowchart: Process 48"/>
          <p:cNvSpPr>
            <a:spLocks noChangeAspect="1"/>
          </p:cNvSpPr>
          <p:nvPr/>
        </p:nvSpPr>
        <p:spPr>
          <a:xfrm>
            <a:off x="6326216" y="3965878"/>
            <a:ext cx="1692737" cy="1091897"/>
          </a:xfrm>
          <a:prstGeom prst="flowChartProcess">
            <a:avLst/>
          </a:prstGeom>
          <a:solidFill>
            <a:schemeClr val="accent1"/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Model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Checker</a:t>
            </a:r>
          </a:p>
        </p:txBody>
      </p:sp>
      <p:sp>
        <p:nvSpPr>
          <p:cNvPr id="50" name="Flowchart: Document 49"/>
          <p:cNvSpPr>
            <a:spLocks noChangeAspect="1"/>
          </p:cNvSpPr>
          <p:nvPr/>
        </p:nvSpPr>
        <p:spPr>
          <a:xfrm>
            <a:off x="8499013" y="3965878"/>
            <a:ext cx="1692737" cy="1091897"/>
          </a:xfrm>
          <a:prstGeom prst="flowChartDocument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Test Cases</a:t>
            </a:r>
          </a:p>
        </p:txBody>
      </p:sp>
      <p:sp>
        <p:nvSpPr>
          <p:cNvPr id="51" name="Flowchart: Card 50"/>
          <p:cNvSpPr>
            <a:spLocks noChangeAspect="1"/>
          </p:cNvSpPr>
          <p:nvPr/>
        </p:nvSpPr>
        <p:spPr>
          <a:xfrm>
            <a:off x="4112070" y="5468121"/>
            <a:ext cx="1692737" cy="1091897"/>
          </a:xfrm>
          <a:prstGeom prst="flowChartPunchedCard">
            <a:avLst/>
          </a:prstGeom>
          <a:solidFill>
            <a:schemeClr val="accent1"/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Coverage Criteria &amp; Specifications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  <p:cxnSp>
        <p:nvCxnSpPr>
          <p:cNvPr id="52" name="Straight Arrow Connector 51"/>
          <p:cNvCxnSpPr>
            <a:cxnSpLocks noChangeAspect="1"/>
            <a:stCxn id="71" idx="3"/>
            <a:endCxn id="49" idx="1"/>
          </p:cNvCxnSpPr>
          <p:nvPr/>
        </p:nvCxnSpPr>
        <p:spPr>
          <a:xfrm>
            <a:off x="5804807" y="4511827"/>
            <a:ext cx="521409" cy="0"/>
          </a:xfrm>
          <a:prstGeom prst="straightConnector1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53" name="Straight Arrow Connector 52"/>
          <p:cNvCxnSpPr>
            <a:cxnSpLocks noChangeAspect="1"/>
            <a:stCxn id="49" idx="3"/>
            <a:endCxn id="50" idx="1"/>
          </p:cNvCxnSpPr>
          <p:nvPr/>
        </p:nvCxnSpPr>
        <p:spPr>
          <a:xfrm>
            <a:off x="8018953" y="4511827"/>
            <a:ext cx="480060" cy="0"/>
          </a:xfrm>
          <a:prstGeom prst="straightConnector1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54" name="Flowchart: Process 53"/>
          <p:cNvSpPr>
            <a:spLocks noChangeAspect="1"/>
          </p:cNvSpPr>
          <p:nvPr/>
        </p:nvSpPr>
        <p:spPr>
          <a:xfrm>
            <a:off x="6325511" y="1065457"/>
            <a:ext cx="1692737" cy="1091897"/>
          </a:xfrm>
          <a:prstGeom prst="flowChartProcess">
            <a:avLst/>
          </a:prstGeom>
          <a:solidFill>
            <a:schemeClr val="accent4"/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WMC Simulation</a:t>
            </a:r>
          </a:p>
        </p:txBody>
      </p:sp>
      <p:cxnSp>
        <p:nvCxnSpPr>
          <p:cNvPr id="55" name="Straight Arrow Connector 54"/>
          <p:cNvCxnSpPr>
            <a:cxnSpLocks noChangeAspect="1"/>
            <a:stCxn id="50" idx="0"/>
            <a:endCxn id="56" idx="2"/>
          </p:cNvCxnSpPr>
          <p:nvPr/>
        </p:nvCxnSpPr>
        <p:spPr>
          <a:xfrm flipV="1">
            <a:off x="9345382" y="3607565"/>
            <a:ext cx="0" cy="358313"/>
          </a:xfrm>
          <a:prstGeom prst="straightConnector1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56" name="Flowchart: Process 55"/>
          <p:cNvSpPr>
            <a:spLocks noChangeAspect="1"/>
          </p:cNvSpPr>
          <p:nvPr/>
        </p:nvSpPr>
        <p:spPr>
          <a:xfrm>
            <a:off x="8499013" y="2515668"/>
            <a:ext cx="1692737" cy="1091897"/>
          </a:xfrm>
          <a:prstGeom prst="flowChartProcess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Translation</a:t>
            </a:r>
          </a:p>
        </p:txBody>
      </p:sp>
      <p:sp>
        <p:nvSpPr>
          <p:cNvPr id="57" name="Flowchart: Document 56"/>
          <p:cNvSpPr>
            <a:spLocks noChangeAspect="1"/>
          </p:cNvSpPr>
          <p:nvPr/>
        </p:nvSpPr>
        <p:spPr>
          <a:xfrm>
            <a:off x="6325550" y="2515668"/>
            <a:ext cx="1692737" cy="1091897"/>
          </a:xfrm>
          <a:prstGeom prst="flowChartDocument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Modified Scenarios</a:t>
            </a:r>
          </a:p>
        </p:txBody>
      </p:sp>
      <p:cxnSp>
        <p:nvCxnSpPr>
          <p:cNvPr id="58" name="Straight Arrow Connector 57"/>
          <p:cNvCxnSpPr>
            <a:cxnSpLocks noChangeAspect="1"/>
            <a:stCxn id="57" idx="0"/>
            <a:endCxn id="54" idx="2"/>
          </p:cNvCxnSpPr>
          <p:nvPr/>
        </p:nvCxnSpPr>
        <p:spPr>
          <a:xfrm flipH="1" flipV="1">
            <a:off x="7171880" y="2157354"/>
            <a:ext cx="39" cy="358314"/>
          </a:xfrm>
          <a:prstGeom prst="straightConnector1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59" name="Flowchart: Document 58"/>
          <p:cNvSpPr>
            <a:spLocks noChangeAspect="1"/>
          </p:cNvSpPr>
          <p:nvPr/>
        </p:nvSpPr>
        <p:spPr>
          <a:xfrm>
            <a:off x="8462702" y="1065457"/>
            <a:ext cx="1692737" cy="1091897"/>
          </a:xfrm>
          <a:prstGeom prst="flowChartDocument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Simulation Results</a:t>
            </a:r>
          </a:p>
        </p:txBody>
      </p:sp>
      <p:cxnSp>
        <p:nvCxnSpPr>
          <p:cNvPr id="60" name="Straight Arrow Connector 59"/>
          <p:cNvCxnSpPr>
            <a:cxnSpLocks noChangeAspect="1"/>
            <a:stCxn id="54" idx="3"/>
            <a:endCxn id="59" idx="1"/>
          </p:cNvCxnSpPr>
          <p:nvPr/>
        </p:nvCxnSpPr>
        <p:spPr>
          <a:xfrm>
            <a:off x="8018248" y="1611406"/>
            <a:ext cx="444454" cy="0"/>
          </a:xfrm>
          <a:prstGeom prst="straightConnector1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61" name="Flowchart: Document 60"/>
          <p:cNvSpPr>
            <a:spLocks noChangeAspect="1"/>
          </p:cNvSpPr>
          <p:nvPr/>
        </p:nvSpPr>
        <p:spPr>
          <a:xfrm>
            <a:off x="1710775" y="1065999"/>
            <a:ext cx="1692737" cy="1091897"/>
          </a:xfrm>
          <a:prstGeom prst="flowChartDocument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Generic Graphical</a:t>
            </a:r>
            <a:b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Model</a:t>
            </a:r>
          </a:p>
        </p:txBody>
      </p:sp>
      <p:sp>
        <p:nvSpPr>
          <p:cNvPr id="62" name="Flowchart: Document 61"/>
          <p:cNvSpPr>
            <a:spLocks noChangeAspect="1"/>
          </p:cNvSpPr>
          <p:nvPr/>
        </p:nvSpPr>
        <p:spPr>
          <a:xfrm>
            <a:off x="1710775" y="2477323"/>
            <a:ext cx="1692737" cy="1091897"/>
          </a:xfrm>
          <a:prstGeom prst="flowChartDocument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Inputs </a:t>
            </a:r>
            <a:b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+mn-ea"/>
                <a:cs typeface="Calibri" pitchFamily="34" charset="0"/>
              </a:rPr>
              <a:t>(preconditions, post-conditions, scripted events)</a:t>
            </a: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+mn-ea"/>
              <a:cs typeface="Calibri" pitchFamily="34" charset="0"/>
            </a:endParaRPr>
          </a:p>
        </p:txBody>
      </p:sp>
      <p:sp>
        <p:nvSpPr>
          <p:cNvPr id="63" name="Flowchart: Manual Input 62"/>
          <p:cNvSpPr>
            <a:spLocks noChangeAspect="1"/>
          </p:cNvSpPr>
          <p:nvPr/>
        </p:nvSpPr>
        <p:spPr>
          <a:xfrm>
            <a:off x="1710775" y="4127752"/>
            <a:ext cx="1688803" cy="769663"/>
          </a:xfrm>
          <a:prstGeom prst="flowChartManualInput">
            <a:avLst/>
          </a:prstGeom>
          <a:solidFill>
            <a:schemeClr val="accent1"/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Constraints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64" name="Elbow Connector 63"/>
          <p:cNvCxnSpPr>
            <a:cxnSpLocks noChangeAspect="1"/>
            <a:stCxn id="63" idx="3"/>
            <a:endCxn id="75" idx="1"/>
          </p:cNvCxnSpPr>
          <p:nvPr/>
        </p:nvCxnSpPr>
        <p:spPr>
          <a:xfrm flipV="1">
            <a:off x="3399578" y="3339485"/>
            <a:ext cx="710318" cy="1173099"/>
          </a:xfrm>
          <a:prstGeom prst="bentConnector3">
            <a:avLst>
              <a:gd name="adj1" fmla="val 50000"/>
            </a:avLst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65" name="Straight Arrow Connector 64"/>
          <p:cNvCxnSpPr>
            <a:cxnSpLocks noChangeAspect="1"/>
            <a:stCxn id="76" idx="2"/>
            <a:endCxn id="71" idx="0"/>
          </p:cNvCxnSpPr>
          <p:nvPr/>
        </p:nvCxnSpPr>
        <p:spPr>
          <a:xfrm>
            <a:off x="4958439" y="3604395"/>
            <a:ext cx="0" cy="361483"/>
          </a:xfrm>
          <a:prstGeom prst="straightConnector1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66" name="Straight Arrow Connector 65"/>
          <p:cNvCxnSpPr>
            <a:cxnSpLocks noChangeAspect="1"/>
            <a:stCxn id="57" idx="2"/>
            <a:endCxn id="49" idx="0"/>
          </p:cNvCxnSpPr>
          <p:nvPr/>
        </p:nvCxnSpPr>
        <p:spPr>
          <a:xfrm>
            <a:off x="7171919" y="3535378"/>
            <a:ext cx="666" cy="430500"/>
          </a:xfrm>
          <a:prstGeom prst="straightConnector1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67" name="Elbow Connector 66"/>
          <p:cNvCxnSpPr>
            <a:cxnSpLocks noChangeAspect="1"/>
            <a:stCxn id="63" idx="3"/>
            <a:endCxn id="51" idx="1"/>
          </p:cNvCxnSpPr>
          <p:nvPr/>
        </p:nvCxnSpPr>
        <p:spPr>
          <a:xfrm>
            <a:off x="3399578" y="4512584"/>
            <a:ext cx="712492" cy="1501486"/>
          </a:xfrm>
          <a:prstGeom prst="bentConnector3">
            <a:avLst>
              <a:gd name="adj1" fmla="val 50000"/>
            </a:avLst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68" name="Elbow Connector 67"/>
          <p:cNvCxnSpPr>
            <a:cxnSpLocks noChangeAspect="1"/>
            <a:stCxn id="51" idx="3"/>
            <a:endCxn id="49" idx="2"/>
          </p:cNvCxnSpPr>
          <p:nvPr/>
        </p:nvCxnSpPr>
        <p:spPr>
          <a:xfrm flipV="1">
            <a:off x="5804807" y="5057775"/>
            <a:ext cx="1367778" cy="956295"/>
          </a:xfrm>
          <a:prstGeom prst="bentConnector2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69" name="Flowchart: Card 68"/>
          <p:cNvSpPr>
            <a:spLocks noChangeAspect="1"/>
          </p:cNvSpPr>
          <p:nvPr/>
        </p:nvSpPr>
        <p:spPr>
          <a:xfrm>
            <a:off x="4205343" y="5544321"/>
            <a:ext cx="1692737" cy="1091897"/>
          </a:xfrm>
          <a:prstGeom prst="flowChartPunchedCard">
            <a:avLst/>
          </a:prstGeom>
          <a:solidFill>
            <a:schemeClr val="accent1"/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Coverage Criteria &amp; Specifications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  <p:sp>
        <p:nvSpPr>
          <p:cNvPr id="70" name="Flowchart: Document 69"/>
          <p:cNvSpPr>
            <a:spLocks noChangeAspect="1"/>
          </p:cNvSpPr>
          <p:nvPr/>
        </p:nvSpPr>
        <p:spPr>
          <a:xfrm>
            <a:off x="6442048" y="2612880"/>
            <a:ext cx="1692737" cy="1091897"/>
          </a:xfrm>
          <a:prstGeom prst="flowChartDocument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Generated WMC Models</a:t>
            </a:r>
          </a:p>
        </p:txBody>
      </p:sp>
      <p:sp>
        <p:nvSpPr>
          <p:cNvPr id="71" name="Flowchart: Document 70"/>
          <p:cNvSpPr>
            <a:spLocks noChangeAspect="1"/>
          </p:cNvSpPr>
          <p:nvPr/>
        </p:nvSpPr>
        <p:spPr>
          <a:xfrm>
            <a:off x="4112070" y="3965878"/>
            <a:ext cx="1692737" cy="1091897"/>
          </a:xfrm>
          <a:prstGeom prst="flowChartDocument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Abstract Model</a:t>
            </a:r>
          </a:p>
        </p:txBody>
      </p:sp>
      <p:cxnSp>
        <p:nvCxnSpPr>
          <p:cNvPr id="72" name="Straight Arrow Connector 71"/>
          <p:cNvCxnSpPr>
            <a:cxnSpLocks noChangeAspect="1"/>
            <a:stCxn id="76" idx="0"/>
            <a:endCxn id="44" idx="2"/>
          </p:cNvCxnSpPr>
          <p:nvPr/>
        </p:nvCxnSpPr>
        <p:spPr>
          <a:xfrm flipV="1">
            <a:off x="4958439" y="2085709"/>
            <a:ext cx="299" cy="426789"/>
          </a:xfrm>
          <a:prstGeom prst="straightConnector1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73" name="Straight Arrow Connector 72"/>
          <p:cNvCxnSpPr>
            <a:cxnSpLocks noChangeAspect="1"/>
            <a:stCxn id="44" idx="3"/>
            <a:endCxn id="54" idx="1"/>
          </p:cNvCxnSpPr>
          <p:nvPr/>
        </p:nvCxnSpPr>
        <p:spPr>
          <a:xfrm flipV="1">
            <a:off x="5805106" y="1611406"/>
            <a:ext cx="520405" cy="542"/>
          </a:xfrm>
          <a:prstGeom prst="straightConnector1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74" name="Rectangle 73"/>
          <p:cNvSpPr>
            <a:spLocks noChangeAspect="1"/>
          </p:cNvSpPr>
          <p:nvPr/>
        </p:nvSpPr>
        <p:spPr>
          <a:xfrm>
            <a:off x="4109896" y="2510552"/>
            <a:ext cx="900321" cy="547520"/>
          </a:xfrm>
          <a:prstGeom prst="rect">
            <a:avLst/>
          </a:prstGeom>
          <a:solidFill>
            <a:schemeClr val="tx2">
              <a:lumMod val="5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5" name="Rectangle 74"/>
          <p:cNvSpPr>
            <a:spLocks noChangeAspect="1"/>
          </p:cNvSpPr>
          <p:nvPr/>
        </p:nvSpPr>
        <p:spPr>
          <a:xfrm>
            <a:off x="4109896" y="3065725"/>
            <a:ext cx="900321" cy="547520"/>
          </a:xfrm>
          <a:prstGeom prst="rect">
            <a:avLst/>
          </a:prstGeom>
          <a:solidFill>
            <a:schemeClr val="tx2">
              <a:lumMod val="5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6" name="Flowchart: Process 75"/>
          <p:cNvSpPr>
            <a:spLocks noChangeAspect="1"/>
          </p:cNvSpPr>
          <p:nvPr/>
        </p:nvSpPr>
        <p:spPr>
          <a:xfrm>
            <a:off x="4112070" y="2512498"/>
            <a:ext cx="1692737" cy="1091897"/>
          </a:xfrm>
          <a:prstGeom prst="flowChartProcess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Translation</a:t>
            </a:r>
          </a:p>
        </p:txBody>
      </p:sp>
    </p:spTree>
    <p:extLst>
      <p:ext uri="{BB962C8B-B14F-4D97-AF65-F5344CB8AC3E}">
        <p14:creationId xmlns:p14="http://schemas.microsoft.com/office/powerpoint/2010/main" val="1908761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Straight Arrow Connector 37"/>
          <p:cNvCxnSpPr/>
          <p:nvPr/>
        </p:nvCxnSpPr>
        <p:spPr>
          <a:xfrm flipH="1">
            <a:off x="8134785" y="3076290"/>
            <a:ext cx="454255" cy="0"/>
          </a:xfrm>
          <a:prstGeom prst="straightConnector1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4" name="Rectangle 2"/>
          <p:cNvSpPr>
            <a:spLocks noChangeAspect="1" noChangeArrowheads="1"/>
          </p:cNvSpPr>
          <p:nvPr/>
        </p:nvSpPr>
        <p:spPr bwMode="auto">
          <a:xfrm>
            <a:off x="-342900" y="-133350"/>
            <a:ext cx="12192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3"/>
          <p:cNvSpPr>
            <a:spLocks noChangeAspect="1" noChangeArrowheads="1"/>
          </p:cNvSpPr>
          <p:nvPr/>
        </p:nvSpPr>
        <p:spPr bwMode="auto">
          <a:xfrm>
            <a:off x="-342900" y="4076700"/>
            <a:ext cx="12192000" cy="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cxnSp>
        <p:nvCxnSpPr>
          <p:cNvPr id="43" name="Elbow Connector 42"/>
          <p:cNvCxnSpPr>
            <a:cxnSpLocks noChangeAspect="1"/>
            <a:endCxn id="74" idx="1"/>
          </p:cNvCxnSpPr>
          <p:nvPr/>
        </p:nvCxnSpPr>
        <p:spPr>
          <a:xfrm>
            <a:off x="2419350" y="2765280"/>
            <a:ext cx="1690546" cy="19032"/>
          </a:xfrm>
          <a:prstGeom prst="bentConnector3">
            <a:avLst>
              <a:gd name="adj1" fmla="val 50000"/>
            </a:avLst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44" name="Flowchart: Document 43"/>
          <p:cNvSpPr>
            <a:spLocks noChangeAspect="1"/>
          </p:cNvSpPr>
          <p:nvPr/>
        </p:nvSpPr>
        <p:spPr>
          <a:xfrm>
            <a:off x="4112369" y="1065999"/>
            <a:ext cx="1692737" cy="1091897"/>
          </a:xfrm>
          <a:prstGeom prst="flowChartDocument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WMC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Model</a:t>
            </a:r>
          </a:p>
        </p:txBody>
      </p:sp>
      <p:cxnSp>
        <p:nvCxnSpPr>
          <p:cNvPr id="45" name="Straight Arrow Connector 44"/>
          <p:cNvCxnSpPr>
            <a:cxnSpLocks noChangeAspect="1"/>
          </p:cNvCxnSpPr>
          <p:nvPr/>
        </p:nvCxnSpPr>
        <p:spPr>
          <a:xfrm flipH="1">
            <a:off x="8607489" y="3069248"/>
            <a:ext cx="6995" cy="0"/>
          </a:xfrm>
          <a:prstGeom prst="straightConnector1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46" name="Flowchart: Document 45"/>
          <p:cNvSpPr>
            <a:spLocks noChangeAspect="1"/>
          </p:cNvSpPr>
          <p:nvPr/>
        </p:nvSpPr>
        <p:spPr>
          <a:xfrm>
            <a:off x="6229350" y="2420121"/>
            <a:ext cx="1692737" cy="1091897"/>
          </a:xfrm>
          <a:prstGeom prst="flowChartDocument">
            <a:avLst/>
          </a:prstGeom>
          <a:solidFill>
            <a:schemeClr val="accent1"/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Modified Scenarios</a:t>
            </a:r>
          </a:p>
        </p:txBody>
      </p:sp>
      <p:sp>
        <p:nvSpPr>
          <p:cNvPr id="47" name="Flowchart: Card 46"/>
          <p:cNvSpPr>
            <a:spLocks noChangeAspect="1"/>
          </p:cNvSpPr>
          <p:nvPr/>
        </p:nvSpPr>
        <p:spPr>
          <a:xfrm>
            <a:off x="4019550" y="5379933"/>
            <a:ext cx="1692737" cy="1091897"/>
          </a:xfrm>
          <a:prstGeom prst="flowChartPunchedCard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Coverage Criteria &amp; Specifications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  <p:sp>
        <p:nvSpPr>
          <p:cNvPr id="48" name="Flowchart: Document 47"/>
          <p:cNvSpPr>
            <a:spLocks noChangeAspect="1"/>
          </p:cNvSpPr>
          <p:nvPr/>
        </p:nvSpPr>
        <p:spPr>
          <a:xfrm>
            <a:off x="1504950" y="631680"/>
            <a:ext cx="2094115" cy="3472715"/>
          </a:xfrm>
          <a:prstGeom prst="flowChartDocument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Scenario</a:t>
            </a:r>
          </a:p>
        </p:txBody>
      </p:sp>
      <p:sp>
        <p:nvSpPr>
          <p:cNvPr id="49" name="Flowchart: Process 48"/>
          <p:cNvSpPr>
            <a:spLocks noChangeAspect="1"/>
          </p:cNvSpPr>
          <p:nvPr/>
        </p:nvSpPr>
        <p:spPr>
          <a:xfrm>
            <a:off x="6326216" y="3965878"/>
            <a:ext cx="1692737" cy="1091897"/>
          </a:xfrm>
          <a:prstGeom prst="flowChartProcess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Model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Checker</a:t>
            </a:r>
          </a:p>
        </p:txBody>
      </p:sp>
      <p:sp>
        <p:nvSpPr>
          <p:cNvPr id="50" name="Flowchart: Document 49"/>
          <p:cNvSpPr>
            <a:spLocks noChangeAspect="1"/>
          </p:cNvSpPr>
          <p:nvPr/>
        </p:nvSpPr>
        <p:spPr>
          <a:xfrm>
            <a:off x="8499013" y="3965878"/>
            <a:ext cx="1692737" cy="1091897"/>
          </a:xfrm>
          <a:prstGeom prst="flowChartDocument">
            <a:avLst/>
          </a:prstGeom>
          <a:solidFill>
            <a:schemeClr val="accent1"/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Test Cases</a:t>
            </a:r>
          </a:p>
        </p:txBody>
      </p:sp>
      <p:sp>
        <p:nvSpPr>
          <p:cNvPr id="51" name="Flowchart: Card 50"/>
          <p:cNvSpPr>
            <a:spLocks noChangeAspect="1"/>
          </p:cNvSpPr>
          <p:nvPr/>
        </p:nvSpPr>
        <p:spPr>
          <a:xfrm>
            <a:off x="4112070" y="5468121"/>
            <a:ext cx="1692737" cy="1091897"/>
          </a:xfrm>
          <a:prstGeom prst="flowChartPunchedCard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Coverage Criteria &amp; Specifications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  <p:cxnSp>
        <p:nvCxnSpPr>
          <p:cNvPr id="52" name="Straight Arrow Connector 51"/>
          <p:cNvCxnSpPr>
            <a:cxnSpLocks noChangeAspect="1"/>
            <a:stCxn id="71" idx="3"/>
            <a:endCxn id="49" idx="1"/>
          </p:cNvCxnSpPr>
          <p:nvPr/>
        </p:nvCxnSpPr>
        <p:spPr>
          <a:xfrm>
            <a:off x="5804807" y="4511827"/>
            <a:ext cx="521409" cy="0"/>
          </a:xfrm>
          <a:prstGeom prst="straightConnector1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53" name="Straight Arrow Connector 52"/>
          <p:cNvCxnSpPr>
            <a:cxnSpLocks noChangeAspect="1"/>
            <a:stCxn id="49" idx="3"/>
            <a:endCxn id="50" idx="1"/>
          </p:cNvCxnSpPr>
          <p:nvPr/>
        </p:nvCxnSpPr>
        <p:spPr>
          <a:xfrm>
            <a:off x="8018953" y="4511827"/>
            <a:ext cx="480060" cy="0"/>
          </a:xfrm>
          <a:prstGeom prst="straightConnector1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54" name="Flowchart: Process 53"/>
          <p:cNvSpPr>
            <a:spLocks noChangeAspect="1"/>
          </p:cNvSpPr>
          <p:nvPr/>
        </p:nvSpPr>
        <p:spPr>
          <a:xfrm>
            <a:off x="6325511" y="1065457"/>
            <a:ext cx="1692737" cy="1091897"/>
          </a:xfrm>
          <a:prstGeom prst="flowChartProcess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WMC Simulation</a:t>
            </a:r>
          </a:p>
        </p:txBody>
      </p:sp>
      <p:cxnSp>
        <p:nvCxnSpPr>
          <p:cNvPr id="55" name="Straight Arrow Connector 54"/>
          <p:cNvCxnSpPr>
            <a:cxnSpLocks noChangeAspect="1"/>
            <a:stCxn id="50" idx="0"/>
            <a:endCxn id="56" idx="2"/>
          </p:cNvCxnSpPr>
          <p:nvPr/>
        </p:nvCxnSpPr>
        <p:spPr>
          <a:xfrm flipV="1">
            <a:off x="9345382" y="3607565"/>
            <a:ext cx="0" cy="358313"/>
          </a:xfrm>
          <a:prstGeom prst="straightConnector1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56" name="Flowchart: Process 55"/>
          <p:cNvSpPr>
            <a:spLocks noChangeAspect="1"/>
          </p:cNvSpPr>
          <p:nvPr/>
        </p:nvSpPr>
        <p:spPr>
          <a:xfrm>
            <a:off x="8499013" y="2515668"/>
            <a:ext cx="1692737" cy="1091897"/>
          </a:xfrm>
          <a:prstGeom prst="flowChartProcess">
            <a:avLst/>
          </a:prstGeom>
          <a:solidFill>
            <a:schemeClr val="accent1"/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Translation</a:t>
            </a:r>
          </a:p>
        </p:txBody>
      </p:sp>
      <p:sp>
        <p:nvSpPr>
          <p:cNvPr id="57" name="Flowchart: Document 56"/>
          <p:cNvSpPr>
            <a:spLocks noChangeAspect="1"/>
          </p:cNvSpPr>
          <p:nvPr/>
        </p:nvSpPr>
        <p:spPr>
          <a:xfrm>
            <a:off x="6325550" y="2515668"/>
            <a:ext cx="1692737" cy="1091897"/>
          </a:xfrm>
          <a:prstGeom prst="flowChartDocument">
            <a:avLst/>
          </a:prstGeom>
          <a:solidFill>
            <a:schemeClr val="accent4"/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Modified Scenarios</a:t>
            </a:r>
          </a:p>
        </p:txBody>
      </p:sp>
      <p:cxnSp>
        <p:nvCxnSpPr>
          <p:cNvPr id="58" name="Straight Arrow Connector 57"/>
          <p:cNvCxnSpPr>
            <a:cxnSpLocks noChangeAspect="1"/>
            <a:stCxn id="57" idx="0"/>
            <a:endCxn id="54" idx="2"/>
          </p:cNvCxnSpPr>
          <p:nvPr/>
        </p:nvCxnSpPr>
        <p:spPr>
          <a:xfrm flipH="1" flipV="1">
            <a:off x="7171880" y="2157354"/>
            <a:ext cx="39" cy="358314"/>
          </a:xfrm>
          <a:prstGeom prst="straightConnector1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59" name="Flowchart: Document 58"/>
          <p:cNvSpPr>
            <a:spLocks noChangeAspect="1"/>
          </p:cNvSpPr>
          <p:nvPr/>
        </p:nvSpPr>
        <p:spPr>
          <a:xfrm>
            <a:off x="8462702" y="1065457"/>
            <a:ext cx="1692737" cy="1091897"/>
          </a:xfrm>
          <a:prstGeom prst="flowChartDocument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Simulation Results</a:t>
            </a:r>
          </a:p>
        </p:txBody>
      </p:sp>
      <p:cxnSp>
        <p:nvCxnSpPr>
          <p:cNvPr id="60" name="Straight Arrow Connector 59"/>
          <p:cNvCxnSpPr>
            <a:cxnSpLocks noChangeAspect="1"/>
            <a:stCxn id="54" idx="3"/>
            <a:endCxn id="59" idx="1"/>
          </p:cNvCxnSpPr>
          <p:nvPr/>
        </p:nvCxnSpPr>
        <p:spPr>
          <a:xfrm>
            <a:off x="8018248" y="1611406"/>
            <a:ext cx="444454" cy="0"/>
          </a:xfrm>
          <a:prstGeom prst="straightConnector1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61" name="Flowchart: Document 60"/>
          <p:cNvSpPr>
            <a:spLocks noChangeAspect="1"/>
          </p:cNvSpPr>
          <p:nvPr/>
        </p:nvSpPr>
        <p:spPr>
          <a:xfrm>
            <a:off x="1710775" y="1065999"/>
            <a:ext cx="1692737" cy="1091897"/>
          </a:xfrm>
          <a:prstGeom prst="flowChartDocument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Generic Graphical</a:t>
            </a:r>
            <a:b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Model</a:t>
            </a:r>
          </a:p>
        </p:txBody>
      </p:sp>
      <p:sp>
        <p:nvSpPr>
          <p:cNvPr id="62" name="Flowchart: Document 61"/>
          <p:cNvSpPr>
            <a:spLocks noChangeAspect="1"/>
          </p:cNvSpPr>
          <p:nvPr/>
        </p:nvSpPr>
        <p:spPr>
          <a:xfrm>
            <a:off x="1710775" y="2477323"/>
            <a:ext cx="1692737" cy="1091897"/>
          </a:xfrm>
          <a:prstGeom prst="flowChartDocument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Inputs </a:t>
            </a:r>
            <a:b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+mn-ea"/>
                <a:cs typeface="Calibri" pitchFamily="34" charset="0"/>
              </a:rPr>
              <a:t>(preconditions, post-conditions, scripted events)</a:t>
            </a: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+mn-ea"/>
              <a:cs typeface="Calibri" pitchFamily="34" charset="0"/>
            </a:endParaRPr>
          </a:p>
        </p:txBody>
      </p:sp>
      <p:sp>
        <p:nvSpPr>
          <p:cNvPr id="63" name="Flowchart: Manual Input 62"/>
          <p:cNvSpPr>
            <a:spLocks noChangeAspect="1"/>
          </p:cNvSpPr>
          <p:nvPr/>
        </p:nvSpPr>
        <p:spPr>
          <a:xfrm>
            <a:off x="1710775" y="4127752"/>
            <a:ext cx="1688803" cy="769663"/>
          </a:xfrm>
          <a:prstGeom prst="flowChartManualInput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Constraints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64" name="Elbow Connector 63"/>
          <p:cNvCxnSpPr>
            <a:cxnSpLocks noChangeAspect="1"/>
            <a:stCxn id="63" idx="3"/>
            <a:endCxn id="75" idx="1"/>
          </p:cNvCxnSpPr>
          <p:nvPr/>
        </p:nvCxnSpPr>
        <p:spPr>
          <a:xfrm flipV="1">
            <a:off x="3399578" y="3339485"/>
            <a:ext cx="710318" cy="1173099"/>
          </a:xfrm>
          <a:prstGeom prst="bentConnector3">
            <a:avLst>
              <a:gd name="adj1" fmla="val 50000"/>
            </a:avLst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65" name="Straight Arrow Connector 64"/>
          <p:cNvCxnSpPr>
            <a:cxnSpLocks noChangeAspect="1"/>
            <a:stCxn id="76" idx="2"/>
            <a:endCxn id="71" idx="0"/>
          </p:cNvCxnSpPr>
          <p:nvPr/>
        </p:nvCxnSpPr>
        <p:spPr>
          <a:xfrm>
            <a:off x="4958439" y="3604395"/>
            <a:ext cx="0" cy="361483"/>
          </a:xfrm>
          <a:prstGeom prst="straightConnector1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66" name="Straight Arrow Connector 65"/>
          <p:cNvCxnSpPr>
            <a:cxnSpLocks noChangeAspect="1"/>
            <a:stCxn id="57" idx="2"/>
            <a:endCxn id="49" idx="0"/>
          </p:cNvCxnSpPr>
          <p:nvPr/>
        </p:nvCxnSpPr>
        <p:spPr>
          <a:xfrm>
            <a:off x="7171919" y="3535378"/>
            <a:ext cx="666" cy="430500"/>
          </a:xfrm>
          <a:prstGeom prst="straightConnector1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67" name="Elbow Connector 66"/>
          <p:cNvCxnSpPr>
            <a:cxnSpLocks noChangeAspect="1"/>
            <a:stCxn id="63" idx="3"/>
            <a:endCxn id="51" idx="1"/>
          </p:cNvCxnSpPr>
          <p:nvPr/>
        </p:nvCxnSpPr>
        <p:spPr>
          <a:xfrm>
            <a:off x="3399578" y="4512584"/>
            <a:ext cx="712492" cy="1501486"/>
          </a:xfrm>
          <a:prstGeom prst="bentConnector3">
            <a:avLst>
              <a:gd name="adj1" fmla="val 50000"/>
            </a:avLst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68" name="Elbow Connector 67"/>
          <p:cNvCxnSpPr>
            <a:cxnSpLocks noChangeAspect="1"/>
            <a:stCxn id="51" idx="3"/>
            <a:endCxn id="49" idx="2"/>
          </p:cNvCxnSpPr>
          <p:nvPr/>
        </p:nvCxnSpPr>
        <p:spPr>
          <a:xfrm flipV="1">
            <a:off x="5804807" y="5057775"/>
            <a:ext cx="1367778" cy="956295"/>
          </a:xfrm>
          <a:prstGeom prst="bentConnector2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69" name="Flowchart: Card 68"/>
          <p:cNvSpPr>
            <a:spLocks noChangeAspect="1"/>
          </p:cNvSpPr>
          <p:nvPr/>
        </p:nvSpPr>
        <p:spPr>
          <a:xfrm>
            <a:off x="4205343" y="5544321"/>
            <a:ext cx="1692737" cy="1091897"/>
          </a:xfrm>
          <a:prstGeom prst="flowChartPunchedCard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Coverage Criteria &amp; Specifications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  <p:sp>
        <p:nvSpPr>
          <p:cNvPr id="70" name="Flowchart: Document 69"/>
          <p:cNvSpPr>
            <a:spLocks noChangeAspect="1"/>
          </p:cNvSpPr>
          <p:nvPr/>
        </p:nvSpPr>
        <p:spPr>
          <a:xfrm>
            <a:off x="6442048" y="2612880"/>
            <a:ext cx="1692737" cy="1091897"/>
          </a:xfrm>
          <a:prstGeom prst="flowChartDocument">
            <a:avLst/>
          </a:prstGeom>
          <a:solidFill>
            <a:schemeClr val="accent1"/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Generated WMC Models</a:t>
            </a:r>
          </a:p>
        </p:txBody>
      </p:sp>
      <p:sp>
        <p:nvSpPr>
          <p:cNvPr id="71" name="Flowchart: Document 70"/>
          <p:cNvSpPr>
            <a:spLocks noChangeAspect="1"/>
          </p:cNvSpPr>
          <p:nvPr/>
        </p:nvSpPr>
        <p:spPr>
          <a:xfrm>
            <a:off x="4112070" y="3965878"/>
            <a:ext cx="1692737" cy="1091897"/>
          </a:xfrm>
          <a:prstGeom prst="flowChartDocument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Abstract Model</a:t>
            </a:r>
          </a:p>
        </p:txBody>
      </p:sp>
      <p:cxnSp>
        <p:nvCxnSpPr>
          <p:cNvPr id="72" name="Straight Arrow Connector 71"/>
          <p:cNvCxnSpPr>
            <a:cxnSpLocks noChangeAspect="1"/>
            <a:stCxn id="76" idx="0"/>
            <a:endCxn id="44" idx="2"/>
          </p:cNvCxnSpPr>
          <p:nvPr/>
        </p:nvCxnSpPr>
        <p:spPr>
          <a:xfrm flipV="1">
            <a:off x="4958439" y="2085709"/>
            <a:ext cx="299" cy="426789"/>
          </a:xfrm>
          <a:prstGeom prst="straightConnector1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73" name="Straight Arrow Connector 72"/>
          <p:cNvCxnSpPr>
            <a:cxnSpLocks noChangeAspect="1"/>
            <a:stCxn id="44" idx="3"/>
            <a:endCxn id="54" idx="1"/>
          </p:cNvCxnSpPr>
          <p:nvPr/>
        </p:nvCxnSpPr>
        <p:spPr>
          <a:xfrm flipV="1">
            <a:off x="5805106" y="1611406"/>
            <a:ext cx="520405" cy="542"/>
          </a:xfrm>
          <a:prstGeom prst="straightConnector1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74" name="Rectangle 73"/>
          <p:cNvSpPr>
            <a:spLocks noChangeAspect="1"/>
          </p:cNvSpPr>
          <p:nvPr/>
        </p:nvSpPr>
        <p:spPr>
          <a:xfrm>
            <a:off x="4109896" y="2510552"/>
            <a:ext cx="900321" cy="547520"/>
          </a:xfrm>
          <a:prstGeom prst="rect">
            <a:avLst/>
          </a:prstGeom>
          <a:solidFill>
            <a:schemeClr val="tx2">
              <a:lumMod val="5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5" name="Rectangle 74"/>
          <p:cNvSpPr>
            <a:spLocks noChangeAspect="1"/>
          </p:cNvSpPr>
          <p:nvPr/>
        </p:nvSpPr>
        <p:spPr>
          <a:xfrm>
            <a:off x="4109896" y="3065725"/>
            <a:ext cx="900321" cy="547520"/>
          </a:xfrm>
          <a:prstGeom prst="rect">
            <a:avLst/>
          </a:prstGeom>
          <a:solidFill>
            <a:schemeClr val="tx2">
              <a:lumMod val="5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6" name="Flowchart: Process 75"/>
          <p:cNvSpPr>
            <a:spLocks noChangeAspect="1"/>
          </p:cNvSpPr>
          <p:nvPr/>
        </p:nvSpPr>
        <p:spPr>
          <a:xfrm>
            <a:off x="4112070" y="2512498"/>
            <a:ext cx="1692737" cy="1091897"/>
          </a:xfrm>
          <a:prstGeom prst="flowChartProcess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Translation</a:t>
            </a:r>
          </a:p>
        </p:txBody>
      </p:sp>
    </p:spTree>
    <p:extLst>
      <p:ext uri="{BB962C8B-B14F-4D97-AF65-F5344CB8AC3E}">
        <p14:creationId xmlns:p14="http://schemas.microsoft.com/office/powerpoint/2010/main" val="2079218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Straight Arrow Connector 37"/>
          <p:cNvCxnSpPr/>
          <p:nvPr/>
        </p:nvCxnSpPr>
        <p:spPr>
          <a:xfrm flipH="1">
            <a:off x="8134785" y="3076290"/>
            <a:ext cx="454255" cy="0"/>
          </a:xfrm>
          <a:prstGeom prst="straightConnector1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4" name="Rectangle 2"/>
          <p:cNvSpPr>
            <a:spLocks noChangeAspect="1" noChangeArrowheads="1"/>
          </p:cNvSpPr>
          <p:nvPr/>
        </p:nvSpPr>
        <p:spPr bwMode="auto">
          <a:xfrm>
            <a:off x="-342900" y="-133350"/>
            <a:ext cx="12192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3"/>
          <p:cNvSpPr>
            <a:spLocks noChangeAspect="1" noChangeArrowheads="1"/>
          </p:cNvSpPr>
          <p:nvPr/>
        </p:nvSpPr>
        <p:spPr bwMode="auto">
          <a:xfrm>
            <a:off x="-342900" y="4076700"/>
            <a:ext cx="12192000" cy="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cxnSp>
        <p:nvCxnSpPr>
          <p:cNvPr id="43" name="Elbow Connector 42"/>
          <p:cNvCxnSpPr>
            <a:cxnSpLocks noChangeAspect="1"/>
            <a:endCxn id="74" idx="1"/>
          </p:cNvCxnSpPr>
          <p:nvPr/>
        </p:nvCxnSpPr>
        <p:spPr>
          <a:xfrm>
            <a:off x="2419350" y="2765280"/>
            <a:ext cx="1690546" cy="19032"/>
          </a:xfrm>
          <a:prstGeom prst="bentConnector3">
            <a:avLst>
              <a:gd name="adj1" fmla="val 50000"/>
            </a:avLst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44" name="Flowchart: Document 43"/>
          <p:cNvSpPr>
            <a:spLocks noChangeAspect="1"/>
          </p:cNvSpPr>
          <p:nvPr/>
        </p:nvSpPr>
        <p:spPr>
          <a:xfrm>
            <a:off x="4112369" y="1065999"/>
            <a:ext cx="1692737" cy="1091897"/>
          </a:xfrm>
          <a:prstGeom prst="flowChartDocument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WMC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Model</a:t>
            </a:r>
          </a:p>
        </p:txBody>
      </p:sp>
      <p:cxnSp>
        <p:nvCxnSpPr>
          <p:cNvPr id="45" name="Straight Arrow Connector 44"/>
          <p:cNvCxnSpPr>
            <a:cxnSpLocks noChangeAspect="1"/>
          </p:cNvCxnSpPr>
          <p:nvPr/>
        </p:nvCxnSpPr>
        <p:spPr>
          <a:xfrm flipH="1">
            <a:off x="8607489" y="3069248"/>
            <a:ext cx="6995" cy="0"/>
          </a:xfrm>
          <a:prstGeom prst="straightConnector1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46" name="Flowchart: Document 45"/>
          <p:cNvSpPr>
            <a:spLocks noChangeAspect="1"/>
          </p:cNvSpPr>
          <p:nvPr/>
        </p:nvSpPr>
        <p:spPr>
          <a:xfrm>
            <a:off x="6229350" y="2420121"/>
            <a:ext cx="1692737" cy="1091897"/>
          </a:xfrm>
          <a:prstGeom prst="flowChartDocument">
            <a:avLst/>
          </a:prstGeom>
          <a:solidFill>
            <a:schemeClr val="accent1"/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Modified Scenarios</a:t>
            </a:r>
          </a:p>
        </p:txBody>
      </p:sp>
      <p:sp>
        <p:nvSpPr>
          <p:cNvPr id="47" name="Flowchart: Card 46"/>
          <p:cNvSpPr>
            <a:spLocks noChangeAspect="1"/>
          </p:cNvSpPr>
          <p:nvPr/>
        </p:nvSpPr>
        <p:spPr>
          <a:xfrm>
            <a:off x="4019550" y="5379933"/>
            <a:ext cx="1692737" cy="1091897"/>
          </a:xfrm>
          <a:prstGeom prst="flowChartPunchedCard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Coverage Criteria &amp; Specifications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  <p:sp>
        <p:nvSpPr>
          <p:cNvPr id="48" name="Flowchart: Document 47"/>
          <p:cNvSpPr>
            <a:spLocks noChangeAspect="1"/>
          </p:cNvSpPr>
          <p:nvPr/>
        </p:nvSpPr>
        <p:spPr>
          <a:xfrm>
            <a:off x="1504950" y="631680"/>
            <a:ext cx="2094115" cy="3472715"/>
          </a:xfrm>
          <a:prstGeom prst="flowChartDocument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Scenario</a:t>
            </a:r>
          </a:p>
        </p:txBody>
      </p:sp>
      <p:sp>
        <p:nvSpPr>
          <p:cNvPr id="49" name="Flowchart: Process 48"/>
          <p:cNvSpPr>
            <a:spLocks noChangeAspect="1"/>
          </p:cNvSpPr>
          <p:nvPr/>
        </p:nvSpPr>
        <p:spPr>
          <a:xfrm>
            <a:off x="6326216" y="3965878"/>
            <a:ext cx="1692737" cy="1091897"/>
          </a:xfrm>
          <a:prstGeom prst="flowChartProcess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Model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Checker</a:t>
            </a:r>
          </a:p>
        </p:txBody>
      </p:sp>
      <p:sp>
        <p:nvSpPr>
          <p:cNvPr id="50" name="Flowchart: Document 49"/>
          <p:cNvSpPr>
            <a:spLocks noChangeAspect="1"/>
          </p:cNvSpPr>
          <p:nvPr/>
        </p:nvSpPr>
        <p:spPr>
          <a:xfrm>
            <a:off x="8499013" y="3965878"/>
            <a:ext cx="1692737" cy="1091897"/>
          </a:xfrm>
          <a:prstGeom prst="flowChartDocument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Test Cases</a:t>
            </a:r>
          </a:p>
        </p:txBody>
      </p:sp>
      <p:sp>
        <p:nvSpPr>
          <p:cNvPr id="51" name="Flowchart: Card 50"/>
          <p:cNvSpPr>
            <a:spLocks noChangeAspect="1"/>
          </p:cNvSpPr>
          <p:nvPr/>
        </p:nvSpPr>
        <p:spPr>
          <a:xfrm>
            <a:off x="4112070" y="5468121"/>
            <a:ext cx="1692737" cy="1091897"/>
          </a:xfrm>
          <a:prstGeom prst="flowChartPunchedCard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Coverage Criteria &amp; Specifications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  <p:cxnSp>
        <p:nvCxnSpPr>
          <p:cNvPr id="52" name="Straight Arrow Connector 51"/>
          <p:cNvCxnSpPr>
            <a:cxnSpLocks noChangeAspect="1"/>
            <a:stCxn id="71" idx="3"/>
            <a:endCxn id="49" idx="1"/>
          </p:cNvCxnSpPr>
          <p:nvPr/>
        </p:nvCxnSpPr>
        <p:spPr>
          <a:xfrm>
            <a:off x="5804807" y="4511827"/>
            <a:ext cx="521409" cy="0"/>
          </a:xfrm>
          <a:prstGeom prst="straightConnector1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53" name="Straight Arrow Connector 52"/>
          <p:cNvCxnSpPr>
            <a:cxnSpLocks noChangeAspect="1"/>
            <a:stCxn id="49" idx="3"/>
            <a:endCxn id="50" idx="1"/>
          </p:cNvCxnSpPr>
          <p:nvPr/>
        </p:nvCxnSpPr>
        <p:spPr>
          <a:xfrm>
            <a:off x="8018953" y="4511827"/>
            <a:ext cx="480060" cy="0"/>
          </a:xfrm>
          <a:prstGeom prst="straightConnector1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54" name="Flowchart: Process 53"/>
          <p:cNvSpPr>
            <a:spLocks noChangeAspect="1"/>
          </p:cNvSpPr>
          <p:nvPr/>
        </p:nvSpPr>
        <p:spPr>
          <a:xfrm>
            <a:off x="6325511" y="1065457"/>
            <a:ext cx="1692737" cy="1091897"/>
          </a:xfrm>
          <a:prstGeom prst="flowChartProcess">
            <a:avLst/>
          </a:prstGeom>
          <a:solidFill>
            <a:schemeClr val="accent4"/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WMC Simulation</a:t>
            </a:r>
          </a:p>
        </p:txBody>
      </p:sp>
      <p:cxnSp>
        <p:nvCxnSpPr>
          <p:cNvPr id="55" name="Straight Arrow Connector 54"/>
          <p:cNvCxnSpPr>
            <a:cxnSpLocks noChangeAspect="1"/>
            <a:stCxn id="50" idx="0"/>
            <a:endCxn id="56" idx="2"/>
          </p:cNvCxnSpPr>
          <p:nvPr/>
        </p:nvCxnSpPr>
        <p:spPr>
          <a:xfrm flipV="1">
            <a:off x="9345382" y="3607565"/>
            <a:ext cx="0" cy="358313"/>
          </a:xfrm>
          <a:prstGeom prst="straightConnector1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56" name="Flowchart: Process 55"/>
          <p:cNvSpPr>
            <a:spLocks noChangeAspect="1"/>
          </p:cNvSpPr>
          <p:nvPr/>
        </p:nvSpPr>
        <p:spPr>
          <a:xfrm>
            <a:off x="8499013" y="2515668"/>
            <a:ext cx="1692737" cy="1091897"/>
          </a:xfrm>
          <a:prstGeom prst="flowChartProcess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Translation</a:t>
            </a:r>
          </a:p>
        </p:txBody>
      </p:sp>
      <p:sp>
        <p:nvSpPr>
          <p:cNvPr id="57" name="Flowchart: Document 56"/>
          <p:cNvSpPr>
            <a:spLocks noChangeAspect="1"/>
          </p:cNvSpPr>
          <p:nvPr/>
        </p:nvSpPr>
        <p:spPr>
          <a:xfrm>
            <a:off x="6325550" y="2515668"/>
            <a:ext cx="1692737" cy="1091897"/>
          </a:xfrm>
          <a:prstGeom prst="flowChartDocument">
            <a:avLst/>
          </a:prstGeom>
          <a:solidFill>
            <a:schemeClr val="accent4"/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Modified Scenarios</a:t>
            </a:r>
          </a:p>
        </p:txBody>
      </p:sp>
      <p:cxnSp>
        <p:nvCxnSpPr>
          <p:cNvPr id="58" name="Straight Arrow Connector 57"/>
          <p:cNvCxnSpPr>
            <a:cxnSpLocks noChangeAspect="1"/>
            <a:stCxn id="57" idx="0"/>
            <a:endCxn id="54" idx="2"/>
          </p:cNvCxnSpPr>
          <p:nvPr/>
        </p:nvCxnSpPr>
        <p:spPr>
          <a:xfrm flipH="1" flipV="1">
            <a:off x="7171880" y="2157354"/>
            <a:ext cx="39" cy="358314"/>
          </a:xfrm>
          <a:prstGeom prst="straightConnector1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59" name="Flowchart: Document 58"/>
          <p:cNvSpPr>
            <a:spLocks noChangeAspect="1"/>
          </p:cNvSpPr>
          <p:nvPr/>
        </p:nvSpPr>
        <p:spPr>
          <a:xfrm>
            <a:off x="8462702" y="1065457"/>
            <a:ext cx="1692737" cy="1091897"/>
          </a:xfrm>
          <a:prstGeom prst="flowChartDocument">
            <a:avLst/>
          </a:prstGeom>
          <a:solidFill>
            <a:schemeClr val="accent4"/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Simulation Results</a:t>
            </a:r>
          </a:p>
        </p:txBody>
      </p:sp>
      <p:cxnSp>
        <p:nvCxnSpPr>
          <p:cNvPr id="60" name="Straight Arrow Connector 59"/>
          <p:cNvCxnSpPr>
            <a:cxnSpLocks noChangeAspect="1"/>
            <a:stCxn id="54" idx="3"/>
            <a:endCxn id="59" idx="1"/>
          </p:cNvCxnSpPr>
          <p:nvPr/>
        </p:nvCxnSpPr>
        <p:spPr>
          <a:xfrm>
            <a:off x="8018248" y="1611406"/>
            <a:ext cx="444454" cy="0"/>
          </a:xfrm>
          <a:prstGeom prst="straightConnector1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61" name="Flowchart: Document 60"/>
          <p:cNvSpPr>
            <a:spLocks noChangeAspect="1"/>
          </p:cNvSpPr>
          <p:nvPr/>
        </p:nvSpPr>
        <p:spPr>
          <a:xfrm>
            <a:off x="1710775" y="1065999"/>
            <a:ext cx="1692737" cy="1091897"/>
          </a:xfrm>
          <a:prstGeom prst="flowChartDocument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Generic Graphical</a:t>
            </a:r>
            <a:b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Model</a:t>
            </a:r>
          </a:p>
        </p:txBody>
      </p:sp>
      <p:sp>
        <p:nvSpPr>
          <p:cNvPr id="62" name="Flowchart: Document 61"/>
          <p:cNvSpPr>
            <a:spLocks noChangeAspect="1"/>
          </p:cNvSpPr>
          <p:nvPr/>
        </p:nvSpPr>
        <p:spPr>
          <a:xfrm>
            <a:off x="1710775" y="2477323"/>
            <a:ext cx="1692737" cy="1091897"/>
          </a:xfrm>
          <a:prstGeom prst="flowChartDocument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Inputs </a:t>
            </a:r>
            <a:b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+mn-ea"/>
                <a:cs typeface="Calibri" pitchFamily="34" charset="0"/>
              </a:rPr>
              <a:t>(preconditions, post-conditions, scripted events)</a:t>
            </a: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+mn-ea"/>
              <a:cs typeface="Calibri" pitchFamily="34" charset="0"/>
            </a:endParaRPr>
          </a:p>
        </p:txBody>
      </p:sp>
      <p:sp>
        <p:nvSpPr>
          <p:cNvPr id="63" name="Flowchart: Manual Input 62"/>
          <p:cNvSpPr>
            <a:spLocks noChangeAspect="1"/>
          </p:cNvSpPr>
          <p:nvPr/>
        </p:nvSpPr>
        <p:spPr>
          <a:xfrm>
            <a:off x="1710775" y="4127752"/>
            <a:ext cx="1688803" cy="769663"/>
          </a:xfrm>
          <a:prstGeom prst="flowChartManualInput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Constraints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64" name="Elbow Connector 63"/>
          <p:cNvCxnSpPr>
            <a:cxnSpLocks noChangeAspect="1"/>
            <a:stCxn id="63" idx="3"/>
            <a:endCxn id="75" idx="1"/>
          </p:cNvCxnSpPr>
          <p:nvPr/>
        </p:nvCxnSpPr>
        <p:spPr>
          <a:xfrm flipV="1">
            <a:off x="3399578" y="3339485"/>
            <a:ext cx="710318" cy="1173099"/>
          </a:xfrm>
          <a:prstGeom prst="bentConnector3">
            <a:avLst>
              <a:gd name="adj1" fmla="val 50000"/>
            </a:avLst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65" name="Straight Arrow Connector 64"/>
          <p:cNvCxnSpPr>
            <a:cxnSpLocks noChangeAspect="1"/>
            <a:stCxn id="76" idx="2"/>
            <a:endCxn id="71" idx="0"/>
          </p:cNvCxnSpPr>
          <p:nvPr/>
        </p:nvCxnSpPr>
        <p:spPr>
          <a:xfrm>
            <a:off x="4958439" y="3604395"/>
            <a:ext cx="0" cy="361483"/>
          </a:xfrm>
          <a:prstGeom prst="straightConnector1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66" name="Straight Arrow Connector 65"/>
          <p:cNvCxnSpPr>
            <a:cxnSpLocks noChangeAspect="1"/>
            <a:stCxn id="57" idx="2"/>
            <a:endCxn id="49" idx="0"/>
          </p:cNvCxnSpPr>
          <p:nvPr/>
        </p:nvCxnSpPr>
        <p:spPr>
          <a:xfrm>
            <a:off x="7171919" y="3535378"/>
            <a:ext cx="666" cy="430500"/>
          </a:xfrm>
          <a:prstGeom prst="straightConnector1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67" name="Elbow Connector 66"/>
          <p:cNvCxnSpPr>
            <a:cxnSpLocks noChangeAspect="1"/>
            <a:stCxn id="63" idx="3"/>
            <a:endCxn id="51" idx="1"/>
          </p:cNvCxnSpPr>
          <p:nvPr/>
        </p:nvCxnSpPr>
        <p:spPr>
          <a:xfrm>
            <a:off x="3399578" y="4512584"/>
            <a:ext cx="712492" cy="1501486"/>
          </a:xfrm>
          <a:prstGeom prst="bentConnector3">
            <a:avLst>
              <a:gd name="adj1" fmla="val 50000"/>
            </a:avLst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68" name="Elbow Connector 67"/>
          <p:cNvCxnSpPr>
            <a:cxnSpLocks noChangeAspect="1"/>
            <a:stCxn id="51" idx="3"/>
            <a:endCxn id="49" idx="2"/>
          </p:cNvCxnSpPr>
          <p:nvPr/>
        </p:nvCxnSpPr>
        <p:spPr>
          <a:xfrm flipV="1">
            <a:off x="5804807" y="5057775"/>
            <a:ext cx="1367778" cy="956295"/>
          </a:xfrm>
          <a:prstGeom prst="bentConnector2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69" name="Flowchart: Card 68"/>
          <p:cNvSpPr>
            <a:spLocks noChangeAspect="1"/>
          </p:cNvSpPr>
          <p:nvPr/>
        </p:nvSpPr>
        <p:spPr>
          <a:xfrm>
            <a:off x="4205343" y="5544321"/>
            <a:ext cx="1692737" cy="1091897"/>
          </a:xfrm>
          <a:prstGeom prst="flowChartPunchedCard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Coverage Criteria &amp; Specifications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  <p:sp>
        <p:nvSpPr>
          <p:cNvPr id="70" name="Flowchart: Document 69"/>
          <p:cNvSpPr>
            <a:spLocks noChangeAspect="1"/>
          </p:cNvSpPr>
          <p:nvPr/>
        </p:nvSpPr>
        <p:spPr>
          <a:xfrm>
            <a:off x="6442048" y="2612880"/>
            <a:ext cx="1692737" cy="1091897"/>
          </a:xfrm>
          <a:prstGeom prst="flowChartDocument">
            <a:avLst/>
          </a:prstGeom>
          <a:solidFill>
            <a:schemeClr val="accent1"/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Generated WMC Models</a:t>
            </a:r>
          </a:p>
        </p:txBody>
      </p:sp>
      <p:sp>
        <p:nvSpPr>
          <p:cNvPr id="71" name="Flowchart: Document 70"/>
          <p:cNvSpPr>
            <a:spLocks noChangeAspect="1"/>
          </p:cNvSpPr>
          <p:nvPr/>
        </p:nvSpPr>
        <p:spPr>
          <a:xfrm>
            <a:off x="4112070" y="3965878"/>
            <a:ext cx="1692737" cy="1091897"/>
          </a:xfrm>
          <a:prstGeom prst="flowChartDocument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Abstract Model</a:t>
            </a:r>
          </a:p>
        </p:txBody>
      </p:sp>
      <p:cxnSp>
        <p:nvCxnSpPr>
          <p:cNvPr id="72" name="Straight Arrow Connector 71"/>
          <p:cNvCxnSpPr>
            <a:cxnSpLocks noChangeAspect="1"/>
            <a:stCxn id="76" idx="0"/>
            <a:endCxn id="44" idx="2"/>
          </p:cNvCxnSpPr>
          <p:nvPr/>
        </p:nvCxnSpPr>
        <p:spPr>
          <a:xfrm flipV="1">
            <a:off x="4958439" y="2085709"/>
            <a:ext cx="299" cy="426789"/>
          </a:xfrm>
          <a:prstGeom prst="straightConnector1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73" name="Straight Arrow Connector 72"/>
          <p:cNvCxnSpPr>
            <a:cxnSpLocks noChangeAspect="1"/>
            <a:stCxn id="44" idx="3"/>
            <a:endCxn id="54" idx="1"/>
          </p:cNvCxnSpPr>
          <p:nvPr/>
        </p:nvCxnSpPr>
        <p:spPr>
          <a:xfrm flipV="1">
            <a:off x="5805106" y="1611406"/>
            <a:ext cx="520405" cy="542"/>
          </a:xfrm>
          <a:prstGeom prst="straightConnector1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stealth" w="lg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74" name="Rectangle 73"/>
          <p:cNvSpPr>
            <a:spLocks noChangeAspect="1"/>
          </p:cNvSpPr>
          <p:nvPr/>
        </p:nvSpPr>
        <p:spPr>
          <a:xfrm>
            <a:off x="4109896" y="2510552"/>
            <a:ext cx="900321" cy="547520"/>
          </a:xfrm>
          <a:prstGeom prst="rect">
            <a:avLst/>
          </a:prstGeom>
          <a:solidFill>
            <a:schemeClr val="tx2">
              <a:lumMod val="5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5" name="Rectangle 74"/>
          <p:cNvSpPr>
            <a:spLocks noChangeAspect="1"/>
          </p:cNvSpPr>
          <p:nvPr/>
        </p:nvSpPr>
        <p:spPr>
          <a:xfrm>
            <a:off x="4109896" y="3065725"/>
            <a:ext cx="900321" cy="547520"/>
          </a:xfrm>
          <a:prstGeom prst="rect">
            <a:avLst/>
          </a:prstGeom>
          <a:solidFill>
            <a:schemeClr val="tx2">
              <a:lumMod val="5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6" name="Flowchart: Process 75"/>
          <p:cNvSpPr>
            <a:spLocks noChangeAspect="1"/>
          </p:cNvSpPr>
          <p:nvPr/>
        </p:nvSpPr>
        <p:spPr>
          <a:xfrm>
            <a:off x="4112070" y="2512498"/>
            <a:ext cx="1692737" cy="1091897"/>
          </a:xfrm>
          <a:prstGeom prst="flowChartProcess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Translation</a:t>
            </a:r>
          </a:p>
        </p:txBody>
      </p:sp>
    </p:spTree>
    <p:extLst>
      <p:ext uri="{BB962C8B-B14F-4D97-AF65-F5344CB8AC3E}">
        <p14:creationId xmlns:p14="http://schemas.microsoft.com/office/powerpoint/2010/main" val="834366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549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826</TotalTime>
  <Words>564</Words>
  <Application>Microsoft Office PowerPoint</Application>
  <PresentationFormat>Widescreen</PresentationFormat>
  <Paragraphs>227</Paragraphs>
  <Slides>21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Arial</vt:lpstr>
      <vt:lpstr>Arial Narrow</vt:lpstr>
      <vt:lpstr>Calibri</vt:lpstr>
      <vt:lpstr>Century Gothic</vt:lpstr>
      <vt:lpstr>Times</vt:lpstr>
      <vt:lpstr>Trebuchet MS</vt:lpstr>
      <vt:lpstr>Wingdings</vt:lpstr>
      <vt:lpstr>Wingdings 3</vt:lpstr>
      <vt:lpstr>Ion</vt:lpstr>
      <vt:lpstr>Visio.Drawing.11</vt:lpstr>
      <vt:lpstr>Safety not guaranteed: Using formal methods in human factors engineering</vt:lpstr>
      <vt:lpstr>Safety and simulation</vt:lpstr>
      <vt:lpstr>Safety and simulation</vt:lpstr>
      <vt:lpstr>Formal Methods</vt:lpstr>
      <vt:lpstr>Formal Methods</vt:lpstr>
      <vt:lpstr>Formal Methods</vt:lpstr>
      <vt:lpstr>Formal Methods</vt:lpstr>
      <vt:lpstr>Formal Methods</vt:lpstr>
      <vt:lpstr>Simulation and Formal Methods</vt:lpstr>
      <vt:lpstr>Current Research</vt:lpstr>
      <vt:lpstr>Current Research</vt:lpstr>
      <vt:lpstr>Conclusions and Future Work</vt:lpstr>
      <vt:lpstr>Fin.</vt:lpstr>
      <vt:lpstr>Additional Slides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at Buffalo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Safety not guaranteed: Using formal methods in human factors engineering</dc:title>
  <dc:creator>Houser, Adam</dc:creator>
  <cp:lastModifiedBy>Adam</cp:lastModifiedBy>
  <cp:revision>48</cp:revision>
  <dcterms:created xsi:type="dcterms:W3CDTF">2014-11-13T15:59:25Z</dcterms:created>
  <dcterms:modified xsi:type="dcterms:W3CDTF">2014-11-15T04:01:42Z</dcterms:modified>
</cp:coreProperties>
</file>