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7"/>
  </p:notesMasterIdLst>
  <p:sldIdLst>
    <p:sldId id="256" r:id="rId3"/>
    <p:sldId id="258" r:id="rId4"/>
    <p:sldId id="259" r:id="rId5"/>
    <p:sldId id="268" r:id="rId6"/>
    <p:sldId id="270" r:id="rId7"/>
    <p:sldId id="261" r:id="rId8"/>
    <p:sldId id="271" r:id="rId9"/>
    <p:sldId id="282" r:id="rId10"/>
    <p:sldId id="272" r:id="rId11"/>
    <p:sldId id="269" r:id="rId12"/>
    <p:sldId id="265" r:id="rId13"/>
    <p:sldId id="257" r:id="rId14"/>
    <p:sldId id="274" r:id="rId15"/>
    <p:sldId id="281" r:id="rId16"/>
    <p:sldId id="273" r:id="rId17"/>
    <p:sldId id="275" r:id="rId18"/>
    <p:sldId id="276" r:id="rId19"/>
    <p:sldId id="277" r:id="rId20"/>
    <p:sldId id="278" r:id="rId21"/>
    <p:sldId id="279" r:id="rId22"/>
    <p:sldId id="280" r:id="rId23"/>
    <p:sldId id="267" r:id="rId24"/>
    <p:sldId id="283" r:id="rId25"/>
    <p:sldId id="284" r:id="rId26"/>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214" autoAdjust="0"/>
  </p:normalViewPr>
  <p:slideViewPr>
    <p:cSldViewPr>
      <p:cViewPr varScale="1">
        <p:scale>
          <a:sx n="88" d="100"/>
          <a:sy n="88" d="100"/>
        </p:scale>
        <p:origin x="834"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32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3238"/>
          </a:xfrm>
          <a:prstGeom prst="rect">
            <a:avLst/>
          </a:prstGeom>
        </p:spPr>
        <p:txBody>
          <a:bodyPr vert="horz" lIns="91440" tIns="45720" rIns="91440" bIns="45720" rtlCol="0"/>
          <a:lstStyle>
            <a:lvl1pPr algn="r">
              <a:defRPr sz="1200"/>
            </a:lvl1pPr>
          </a:lstStyle>
          <a:p>
            <a:fld id="{975A62EF-71C1-44EC-8452-669B86B9D228}" type="datetimeFigureOut">
              <a:rPr lang="en-US" smtClean="0"/>
              <a:t>11/28/2016</a:t>
            </a:fld>
            <a:endParaRPr lang="en-US"/>
          </a:p>
        </p:txBody>
      </p:sp>
      <p:sp>
        <p:nvSpPr>
          <p:cNvPr id="4" name="Slide Image Placeholder 3"/>
          <p:cNvSpPr>
            <a:spLocks noGrp="1" noRot="1" noChangeAspect="1"/>
          </p:cNvSpPr>
          <p:nvPr>
            <p:ph type="sldImg" idx="2"/>
          </p:nvPr>
        </p:nvSpPr>
        <p:spPr>
          <a:xfrm>
            <a:off x="533400" y="754063"/>
            <a:ext cx="6705600" cy="3771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778375"/>
            <a:ext cx="6216650" cy="452596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553575"/>
            <a:ext cx="3368675" cy="5032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3238"/>
          </a:xfrm>
          <a:prstGeom prst="rect">
            <a:avLst/>
          </a:prstGeom>
        </p:spPr>
        <p:txBody>
          <a:bodyPr vert="horz" lIns="91440" tIns="45720" rIns="91440" bIns="45720" rtlCol="0" anchor="b"/>
          <a:lstStyle>
            <a:lvl1pPr algn="r">
              <a:defRPr sz="1200"/>
            </a:lvl1pPr>
          </a:lstStyle>
          <a:p>
            <a:fld id="{542CFCED-A337-4A88-912E-6D6661A973FC}" type="slidenum">
              <a:rPr lang="en-US" smtClean="0"/>
              <a:t>‹#›</a:t>
            </a:fld>
            <a:endParaRPr lang="en-US"/>
          </a:p>
        </p:txBody>
      </p:sp>
    </p:spTree>
    <p:extLst>
      <p:ext uri="{BB962C8B-B14F-4D97-AF65-F5344CB8AC3E}">
        <p14:creationId xmlns:p14="http://schemas.microsoft.com/office/powerpoint/2010/main" val="3897004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Functions: this is the</a:t>
            </a:r>
            <a:r>
              <a:rPr lang="en-US" baseline="0" dirty="0" smtClean="0"/>
              <a:t> identity function for x. Notice the similarity between the algebraic identity function and the </a:t>
            </a:r>
            <a:r>
              <a:rPr lang="el-GR" baseline="0" dirty="0" smtClean="0"/>
              <a:t>λ</a:t>
            </a:r>
            <a:r>
              <a:rPr lang="en-US" baseline="0" dirty="0" smtClean="0"/>
              <a:t>-calculus implementation of the identity function. Resolving this function returns x. The name after the </a:t>
            </a:r>
            <a:r>
              <a:rPr lang="el-GR" baseline="0" dirty="0" smtClean="0"/>
              <a:t>λ</a:t>
            </a:r>
            <a:r>
              <a:rPr lang="en-US" baseline="0" dirty="0" smtClean="0"/>
              <a:t> operator is the “argument” of the function (the expression before the dot is called the head), with the expression after the dot is called the body of the function. Again, both of these are expressions. The </a:t>
            </a:r>
            <a:r>
              <a:rPr lang="el-GR" baseline="0" dirty="0" smtClean="0"/>
              <a:t>λ</a:t>
            </a:r>
            <a:r>
              <a:rPr lang="en-US" baseline="0" dirty="0" smtClean="0"/>
              <a:t> just signifies where the function starts and says, “This function is a </a:t>
            </a:r>
            <a:r>
              <a:rPr lang="el-GR" baseline="0" dirty="0" smtClean="0"/>
              <a:t>λ</a:t>
            </a:r>
            <a:r>
              <a:rPr lang="en-US" baseline="0" dirty="0" smtClean="0"/>
              <a:t>-calculus function.”</a:t>
            </a:r>
          </a:p>
          <a:p>
            <a:endParaRPr lang="en-US" baseline="0" dirty="0" smtClean="0"/>
          </a:p>
          <a:p>
            <a:r>
              <a:rPr lang="en-US" baseline="0" dirty="0" smtClean="0"/>
              <a:t>This is the identity function (the parentheses group the identity function, so you know to think about that as its own function) applied to y, rather than x. Resolving this function now returns y, rather than x.</a:t>
            </a:r>
          </a:p>
          <a:p>
            <a:endParaRPr lang="en-US" baseline="0" dirty="0" smtClean="0"/>
          </a:p>
          <a:p>
            <a:r>
              <a:rPr lang="en-US" baseline="0" dirty="0" smtClean="0"/>
              <a:t>It should also be noted that the parentheses are inserted just to keep things clear. We could also have </a:t>
            </a:r>
            <a:r>
              <a:rPr lang="en-US" baseline="0" dirty="0" err="1" smtClean="0"/>
              <a:t>fx</a:t>
            </a:r>
            <a:r>
              <a:rPr lang="en-US" baseline="0" dirty="0" smtClean="0"/>
              <a:t> = x and it would still be understood.</a:t>
            </a:r>
            <a:endParaRPr lang="en-US" dirty="0"/>
          </a:p>
        </p:txBody>
      </p:sp>
      <p:sp>
        <p:nvSpPr>
          <p:cNvPr id="4" name="Slide Number Placeholder 3"/>
          <p:cNvSpPr>
            <a:spLocks noGrp="1"/>
          </p:cNvSpPr>
          <p:nvPr>
            <p:ph type="sldNum" sz="quarter" idx="10"/>
          </p:nvPr>
        </p:nvSpPr>
        <p:spPr/>
        <p:txBody>
          <a:bodyPr/>
          <a:lstStyle/>
          <a:p>
            <a:fld id="{542CFCED-A337-4A88-912E-6D6661A973FC}" type="slidenum">
              <a:rPr lang="en-US" smtClean="0"/>
              <a:t>3</a:t>
            </a:fld>
            <a:endParaRPr lang="en-US"/>
          </a:p>
        </p:txBody>
      </p:sp>
    </p:spTree>
    <p:extLst>
      <p:ext uri="{BB962C8B-B14F-4D97-AF65-F5344CB8AC3E}">
        <p14:creationId xmlns:p14="http://schemas.microsoft.com/office/powerpoint/2010/main" val="591658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All names are local to functions: in other words, you have to “</a:t>
            </a:r>
            <a:r>
              <a:rPr lang="en-US" baseline="0" dirty="0" err="1" smtClean="0"/>
              <a:t>redeclared</a:t>
            </a:r>
            <a:r>
              <a:rPr lang="en-US" baseline="0" dirty="0" smtClean="0"/>
              <a:t>” names for every operation performed. Names do not carry definitions across functions (something I think contributes to strong typing).</a:t>
            </a:r>
          </a:p>
        </p:txBody>
      </p:sp>
      <p:sp>
        <p:nvSpPr>
          <p:cNvPr id="4" name="Slide Number Placeholder 3"/>
          <p:cNvSpPr>
            <a:spLocks noGrp="1"/>
          </p:cNvSpPr>
          <p:nvPr>
            <p:ph type="sldNum" sz="quarter" idx="10"/>
          </p:nvPr>
        </p:nvSpPr>
        <p:spPr/>
        <p:txBody>
          <a:bodyPr/>
          <a:lstStyle/>
          <a:p>
            <a:fld id="{542CFCED-A337-4A88-912E-6D6661A973FC}" type="slidenum">
              <a:rPr lang="en-US" smtClean="0"/>
              <a:t>4</a:t>
            </a:fld>
            <a:endParaRPr lang="en-US"/>
          </a:p>
        </p:txBody>
      </p:sp>
    </p:spTree>
    <p:extLst>
      <p:ext uri="{BB962C8B-B14F-4D97-AF65-F5344CB8AC3E}">
        <p14:creationId xmlns:p14="http://schemas.microsoft.com/office/powerpoint/2010/main" val="591658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smtClean="0"/>
          </a:p>
        </p:txBody>
      </p:sp>
      <p:sp>
        <p:nvSpPr>
          <p:cNvPr id="4" name="Slide Number Placeholder 3"/>
          <p:cNvSpPr>
            <a:spLocks noGrp="1"/>
          </p:cNvSpPr>
          <p:nvPr>
            <p:ph type="sldNum" sz="quarter" idx="10"/>
          </p:nvPr>
        </p:nvSpPr>
        <p:spPr/>
        <p:txBody>
          <a:bodyPr/>
          <a:lstStyle/>
          <a:p>
            <a:fld id="{542CFCED-A337-4A88-912E-6D6661A973FC}" type="slidenum">
              <a:rPr lang="en-US" smtClean="0"/>
              <a:t>5</a:t>
            </a:fld>
            <a:endParaRPr lang="en-US"/>
          </a:p>
        </p:txBody>
      </p:sp>
    </p:spTree>
    <p:extLst>
      <p:ext uri="{BB962C8B-B14F-4D97-AF65-F5344CB8AC3E}">
        <p14:creationId xmlns:p14="http://schemas.microsoft.com/office/powerpoint/2010/main" val="591658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Answer: no. Names are only completely</a:t>
            </a:r>
            <a:r>
              <a:rPr lang="en-US" baseline="0" dirty="0" smtClean="0"/>
              <a:t> independent between functions and must be redefined for each function in which they’re called.</a:t>
            </a:r>
            <a:endParaRPr lang="en-US" dirty="0"/>
          </a:p>
        </p:txBody>
      </p:sp>
      <p:sp>
        <p:nvSpPr>
          <p:cNvPr id="4" name="Slide Number Placeholder 3"/>
          <p:cNvSpPr>
            <a:spLocks noGrp="1"/>
          </p:cNvSpPr>
          <p:nvPr>
            <p:ph type="sldNum" sz="quarter" idx="10"/>
          </p:nvPr>
        </p:nvSpPr>
        <p:spPr/>
        <p:txBody>
          <a:bodyPr/>
          <a:lstStyle/>
          <a:p>
            <a:fld id="{542CFCED-A337-4A88-912E-6D6661A973FC}" type="slidenum">
              <a:rPr lang="en-US" smtClean="0"/>
              <a:t>6</a:t>
            </a:fld>
            <a:endParaRPr lang="en-US"/>
          </a:p>
        </p:txBody>
      </p:sp>
    </p:spTree>
    <p:extLst>
      <p:ext uri="{BB962C8B-B14F-4D97-AF65-F5344CB8AC3E}">
        <p14:creationId xmlns:p14="http://schemas.microsoft.com/office/powerpoint/2010/main" val="3461629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smtClean="0"/>
          </a:p>
        </p:txBody>
      </p:sp>
      <p:sp>
        <p:nvSpPr>
          <p:cNvPr id="4" name="Slide Number Placeholder 3"/>
          <p:cNvSpPr>
            <a:spLocks noGrp="1"/>
          </p:cNvSpPr>
          <p:nvPr>
            <p:ph type="sldNum" sz="quarter" idx="10"/>
          </p:nvPr>
        </p:nvSpPr>
        <p:spPr/>
        <p:txBody>
          <a:bodyPr/>
          <a:lstStyle/>
          <a:p>
            <a:fld id="{542CFCED-A337-4A88-912E-6D6661A973FC}" type="slidenum">
              <a:rPr lang="en-US" smtClean="0"/>
              <a:t>7</a:t>
            </a:fld>
            <a:endParaRPr lang="en-US"/>
          </a:p>
        </p:txBody>
      </p:sp>
    </p:spTree>
    <p:extLst>
      <p:ext uri="{BB962C8B-B14F-4D97-AF65-F5344CB8AC3E}">
        <p14:creationId xmlns:p14="http://schemas.microsoft.com/office/powerpoint/2010/main" val="59165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smtClean="0"/>
          </a:p>
        </p:txBody>
      </p:sp>
      <p:sp>
        <p:nvSpPr>
          <p:cNvPr id="4" name="Slide Number Placeholder 3"/>
          <p:cNvSpPr>
            <a:spLocks noGrp="1"/>
          </p:cNvSpPr>
          <p:nvPr>
            <p:ph type="sldNum" sz="quarter" idx="10"/>
          </p:nvPr>
        </p:nvSpPr>
        <p:spPr/>
        <p:txBody>
          <a:bodyPr/>
          <a:lstStyle/>
          <a:p>
            <a:fld id="{542CFCED-A337-4A88-912E-6D6661A973FC}" type="slidenum">
              <a:rPr lang="en-US" smtClean="0"/>
              <a:t>8</a:t>
            </a:fld>
            <a:endParaRPr lang="en-US"/>
          </a:p>
        </p:txBody>
      </p:sp>
    </p:spTree>
    <p:extLst>
      <p:ext uri="{BB962C8B-B14F-4D97-AF65-F5344CB8AC3E}">
        <p14:creationId xmlns:p14="http://schemas.microsoft.com/office/powerpoint/2010/main" val="675348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smtClean="0"/>
          </a:p>
        </p:txBody>
      </p:sp>
      <p:sp>
        <p:nvSpPr>
          <p:cNvPr id="4" name="Slide Number Placeholder 3"/>
          <p:cNvSpPr>
            <a:spLocks noGrp="1"/>
          </p:cNvSpPr>
          <p:nvPr>
            <p:ph type="sldNum" sz="quarter" idx="10"/>
          </p:nvPr>
        </p:nvSpPr>
        <p:spPr/>
        <p:txBody>
          <a:bodyPr/>
          <a:lstStyle/>
          <a:p>
            <a:fld id="{542CFCED-A337-4A88-912E-6D6661A973FC}" type="slidenum">
              <a:rPr lang="en-US" smtClean="0"/>
              <a:t>9</a:t>
            </a:fld>
            <a:endParaRPr lang="en-US"/>
          </a:p>
        </p:txBody>
      </p:sp>
    </p:spTree>
    <p:extLst>
      <p:ext uri="{BB962C8B-B14F-4D97-AF65-F5344CB8AC3E}">
        <p14:creationId xmlns:p14="http://schemas.microsoft.com/office/powerpoint/2010/main" val="5916589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aseline="0" dirty="0" smtClean="0"/>
                  <a:t>Adding to existing functions: remember, </a:t>
                </a:r>
                <a:r>
                  <a:rPr lang="el-GR" baseline="0" dirty="0" smtClean="0"/>
                  <a:t>λ</a:t>
                </a:r>
                <a:r>
                  <a:rPr lang="en-US" baseline="0" dirty="0" smtClean="0"/>
                  <a:t>-calculus is just functions all the way down.</a:t>
                </a:r>
              </a:p>
              <a:p>
                <a:endParaRPr lang="en-US" baseline="0" dirty="0" smtClean="0"/>
              </a:p>
              <a:p>
                <a:r>
                  <a:rPr lang="en-US" baseline="0" dirty="0" smtClean="0"/>
                  <a:t>In order for any mathematical computation to be performed, we have to define the numbers we wish to use. </a:t>
                </a:r>
              </a:p>
              <a:p>
                <a:endParaRPr lang="en-US" baseline="0" dirty="0" smtClean="0"/>
              </a:p>
              <a:p>
                <a:r>
                  <a:rPr lang="en-US" baseline="0" dirty="0" smtClean="0"/>
                  <a:t>Remember: </a:t>
                </a:r>
                <a14:m>
                  <m:oMath xmlns:m="http://schemas.openxmlformats.org/officeDocument/2006/math">
                    <m:r>
                      <a:rPr lang="el-GR" sz="1200" i="1" spc="-1" dirty="0" smtClean="0">
                        <a:solidFill>
                          <a:srgbClr val="000000"/>
                        </a:solidFill>
                        <a:uFill>
                          <a:solidFill>
                            <a:srgbClr val="FFFFFF"/>
                          </a:solidFill>
                        </a:uFill>
                        <a:latin typeface="Cambria Math"/>
                      </a:rPr>
                      <m:t>𝜆</m:t>
                    </m:r>
                  </m:oMath>
                </a14:m>
                <a:r>
                  <a:rPr lang="en-US" baseline="0" dirty="0" err="1" smtClean="0"/>
                  <a:t>sz.z</a:t>
                </a:r>
                <a:r>
                  <a:rPr lang="en-US" baseline="0" dirty="0" smtClean="0"/>
                  <a:t> is the same as </a:t>
                </a:r>
                <a14:m>
                  <m:oMath xmlns:m="http://schemas.openxmlformats.org/officeDocument/2006/math">
                    <m:r>
                      <a:rPr lang="en-US" sz="1200" b="0" i="0" spc="-1" dirty="0" smtClean="0">
                        <a:solidFill>
                          <a:srgbClr val="000000"/>
                        </a:solidFill>
                        <a:uFill>
                          <a:solidFill>
                            <a:srgbClr val="FFFFFF"/>
                          </a:solidFill>
                        </a:uFill>
                        <a:latin typeface="Cambria Math"/>
                      </a:rPr>
                      <m:t>(</m:t>
                    </m:r>
                    <m:r>
                      <a:rPr lang="el-GR" sz="1200" i="1" spc="-1" dirty="0" smtClean="0">
                        <a:solidFill>
                          <a:srgbClr val="000000"/>
                        </a:solidFill>
                        <a:uFill>
                          <a:solidFill>
                            <a:srgbClr val="FFFFFF"/>
                          </a:solidFill>
                        </a:uFill>
                        <a:latin typeface="Cambria Math"/>
                      </a:rPr>
                      <m:t>𝜆</m:t>
                    </m:r>
                  </m:oMath>
                </a14:m>
                <a:r>
                  <a:rPr lang="en-US" baseline="0" dirty="0" smtClean="0"/>
                  <a:t>s.(</a:t>
                </a:r>
                <a14:m>
                  <m:oMath xmlns:m="http://schemas.openxmlformats.org/officeDocument/2006/math">
                    <m:r>
                      <a:rPr lang="el-GR" sz="1200" i="1" spc="-1" dirty="0" smtClean="0">
                        <a:solidFill>
                          <a:srgbClr val="000000"/>
                        </a:solidFill>
                        <a:uFill>
                          <a:solidFill>
                            <a:srgbClr val="FFFFFF"/>
                          </a:solidFill>
                        </a:uFill>
                        <a:latin typeface="Cambria Math"/>
                      </a:rPr>
                      <m:t>𝜆</m:t>
                    </m:r>
                  </m:oMath>
                </a14:m>
                <a:r>
                  <a:rPr lang="en-US" baseline="0" dirty="0" err="1" smtClean="0"/>
                  <a:t>z.z</a:t>
                </a:r>
                <a:r>
                  <a:rPr lang="en-US" baseline="0" dirty="0" smtClean="0"/>
                  <a:t>)). It’s just shorthand to help people see what’s happening with the successor function here.</a:t>
                </a:r>
              </a:p>
            </p:txBody>
          </p:sp>
        </mc:Choice>
        <mc:Fallback xmlns="">
          <p:sp>
            <p:nvSpPr>
              <p:cNvPr id="3" name="Notes Placeholder 2"/>
              <p:cNvSpPr>
                <a:spLocks noGrp="1"/>
              </p:cNvSpPr>
              <p:nvPr>
                <p:ph type="body" idx="1"/>
              </p:nvPr>
            </p:nvSpPr>
            <p:spPr/>
            <p:txBody>
              <a:bodyPr/>
              <a:lstStyle/>
              <a:p>
                <a:r>
                  <a:rPr lang="en-US" baseline="0" dirty="0" smtClean="0"/>
                  <a:t>Adding to existing functions: remember, </a:t>
                </a:r>
                <a:r>
                  <a:rPr lang="el-GR" baseline="0" dirty="0" smtClean="0"/>
                  <a:t>λ</a:t>
                </a:r>
                <a:r>
                  <a:rPr lang="en-US" baseline="0" dirty="0" smtClean="0"/>
                  <a:t>-calculus is just functions all the way down.</a:t>
                </a:r>
              </a:p>
              <a:p>
                <a:endParaRPr lang="en-US" baseline="0" dirty="0" smtClean="0"/>
              </a:p>
              <a:p>
                <a:r>
                  <a:rPr lang="en-US" baseline="0" dirty="0" smtClean="0"/>
                  <a:t>In order for any mathematical computation to be performed, we have to define the numbers we wish to use. </a:t>
                </a:r>
              </a:p>
              <a:p>
                <a:endParaRPr lang="en-US" baseline="0" dirty="0" smtClean="0"/>
              </a:p>
              <a:p>
                <a:r>
                  <a:rPr lang="en-US" baseline="0" dirty="0" smtClean="0"/>
                  <a:t>Remember: </a:t>
                </a:r>
                <a:r>
                  <a:rPr lang="el-GR" sz="1200" i="0" spc="-1" dirty="0" smtClean="0">
                    <a:solidFill>
                      <a:srgbClr val="000000"/>
                    </a:solidFill>
                    <a:uFill>
                      <a:solidFill>
                        <a:srgbClr val="FFFFFF"/>
                      </a:solidFill>
                    </a:uFill>
                    <a:latin typeface="Cambria Math"/>
                  </a:rPr>
                  <a:t>𝜆</a:t>
                </a:r>
                <a:r>
                  <a:rPr lang="en-US" baseline="0" dirty="0" err="1" smtClean="0"/>
                  <a:t>sz.z</a:t>
                </a:r>
                <a:r>
                  <a:rPr lang="en-US" baseline="0" dirty="0" smtClean="0"/>
                  <a:t> is the same as </a:t>
                </a:r>
                <a:r>
                  <a:rPr lang="en-US" sz="1200" b="0" i="0" spc="-1" dirty="0" smtClean="0">
                    <a:solidFill>
                      <a:srgbClr val="000000"/>
                    </a:solidFill>
                    <a:uFill>
                      <a:solidFill>
                        <a:srgbClr val="FFFFFF"/>
                      </a:solidFill>
                    </a:uFill>
                    <a:latin typeface="Cambria Math"/>
                  </a:rPr>
                  <a:t>(</a:t>
                </a:r>
                <a:r>
                  <a:rPr lang="el-GR" sz="1200" i="0" spc="-1" dirty="0" smtClean="0">
                    <a:solidFill>
                      <a:srgbClr val="000000"/>
                    </a:solidFill>
                    <a:uFill>
                      <a:solidFill>
                        <a:srgbClr val="FFFFFF"/>
                      </a:solidFill>
                    </a:uFill>
                    <a:latin typeface="Cambria Math"/>
                  </a:rPr>
                  <a:t>𝜆</a:t>
                </a:r>
                <a:r>
                  <a:rPr lang="en-US" baseline="0" dirty="0" smtClean="0"/>
                  <a:t>s.(</a:t>
                </a:r>
                <a:r>
                  <a:rPr lang="el-GR" sz="1200" i="0" spc="-1" dirty="0" smtClean="0">
                    <a:solidFill>
                      <a:srgbClr val="000000"/>
                    </a:solidFill>
                    <a:uFill>
                      <a:solidFill>
                        <a:srgbClr val="FFFFFF"/>
                      </a:solidFill>
                    </a:uFill>
                    <a:latin typeface="Cambria Math"/>
                  </a:rPr>
                  <a:t>𝜆</a:t>
                </a:r>
                <a:r>
                  <a:rPr lang="en-US" baseline="0" dirty="0" err="1" smtClean="0"/>
                  <a:t>z.z</a:t>
                </a:r>
                <a:r>
                  <a:rPr lang="en-US" baseline="0" dirty="0" smtClean="0"/>
                  <a:t>)). It’s just shorthand to help people see what’s happening with the successor function here.</a:t>
                </a:r>
              </a:p>
            </p:txBody>
          </p:sp>
        </mc:Fallback>
      </mc:AlternateContent>
      <p:sp>
        <p:nvSpPr>
          <p:cNvPr id="4" name="Slide Number Placeholder 3"/>
          <p:cNvSpPr>
            <a:spLocks noGrp="1"/>
          </p:cNvSpPr>
          <p:nvPr>
            <p:ph type="sldNum" sz="quarter" idx="10"/>
          </p:nvPr>
        </p:nvSpPr>
        <p:spPr/>
        <p:txBody>
          <a:bodyPr/>
          <a:lstStyle/>
          <a:p>
            <a:fld id="{542CFCED-A337-4A88-912E-6D6661A973FC}" type="slidenum">
              <a:rPr lang="en-US" smtClean="0"/>
              <a:t>10</a:t>
            </a:fld>
            <a:endParaRPr lang="en-US"/>
          </a:p>
        </p:txBody>
      </p:sp>
    </p:spTree>
    <p:extLst>
      <p:ext uri="{BB962C8B-B14F-4D97-AF65-F5344CB8AC3E}">
        <p14:creationId xmlns:p14="http://schemas.microsoft.com/office/powerpoint/2010/main" val="5916589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840" indent="-285480">
              <a:lnSpc>
                <a:spcPct val="100000"/>
              </a:lnSpc>
              <a:buClr>
                <a:srgbClr val="000000"/>
              </a:buClr>
              <a:buFont typeface="Arial"/>
              <a:buChar char="•"/>
            </a:pPr>
            <a:r>
              <a:rPr lang="en-US" sz="1200" b="0" strike="noStrike" spc="-1" dirty="0" smtClean="0">
                <a:solidFill>
                  <a:srgbClr val="000000"/>
                </a:solidFill>
                <a:uFill>
                  <a:solidFill>
                    <a:srgbClr val="FFFFFF"/>
                  </a:solidFill>
                </a:uFill>
                <a:latin typeface="+mn-lt"/>
              </a:rPr>
              <a:t>Agents and priority queues (push and pop)</a:t>
            </a:r>
            <a:endParaRPr lang="en-US" sz="1200" b="0" strike="noStrike" spc="-1" dirty="0" smtClean="0">
              <a:solidFill>
                <a:srgbClr val="000000"/>
              </a:solidFill>
              <a:uFill>
                <a:solidFill>
                  <a:srgbClr val="FFFFFF"/>
                </a:solidFill>
              </a:uFill>
              <a:latin typeface="Arial"/>
            </a:endParaRPr>
          </a:p>
          <a:p>
            <a:pPr>
              <a:lnSpc>
                <a:spcPct val="100000"/>
              </a:lnSpc>
            </a:pPr>
            <a:endParaRPr lang="en-US" sz="1200" b="0" strike="noStrike" spc="-1" dirty="0" smtClean="0">
              <a:solidFill>
                <a:srgbClr val="000000"/>
              </a:solidFill>
              <a:uFill>
                <a:solidFill>
                  <a:srgbClr val="FFFFFF"/>
                </a:solidFill>
              </a:uFill>
              <a:latin typeface="Arial"/>
            </a:endParaRPr>
          </a:p>
          <a:p>
            <a:pPr marL="285840" indent="-285480">
              <a:lnSpc>
                <a:spcPct val="100000"/>
              </a:lnSpc>
              <a:buClr>
                <a:srgbClr val="000000"/>
              </a:buClr>
              <a:buFont typeface="Arial"/>
              <a:buChar char="•"/>
            </a:pPr>
            <a:r>
              <a:rPr lang="en-US" sz="1200" b="0" strike="noStrike" spc="-1" dirty="0" smtClean="0">
                <a:solidFill>
                  <a:srgbClr val="000000"/>
                </a:solidFill>
                <a:uFill>
                  <a:solidFill>
                    <a:srgbClr val="FFFFFF"/>
                  </a:solidFill>
                </a:uFill>
                <a:latin typeface="+mn-lt"/>
              </a:rPr>
              <a:t>Reasoning about the movement of actions in/among queues</a:t>
            </a:r>
            <a:endParaRPr lang="en-US" sz="1200" b="0" strike="noStrike" spc="-1" dirty="0" smtClean="0">
              <a:solidFill>
                <a:srgbClr val="000000"/>
              </a:solidFill>
              <a:uFill>
                <a:solidFill>
                  <a:srgbClr val="FFFFFF"/>
                </a:solidFill>
              </a:uFill>
              <a:latin typeface="Arial"/>
            </a:endParaRPr>
          </a:p>
          <a:p>
            <a:pPr>
              <a:lnSpc>
                <a:spcPct val="100000"/>
              </a:lnSpc>
            </a:pPr>
            <a:endParaRPr lang="en-US" sz="1200" b="0" strike="noStrike" spc="-1" dirty="0" smtClean="0">
              <a:solidFill>
                <a:srgbClr val="000000"/>
              </a:solidFill>
              <a:uFill>
                <a:solidFill>
                  <a:srgbClr val="FFFFFF"/>
                </a:solidFill>
              </a:uFill>
              <a:latin typeface="Arial"/>
            </a:endParaRPr>
          </a:p>
          <a:p>
            <a:pPr marL="285840" indent="-285480">
              <a:lnSpc>
                <a:spcPct val="100000"/>
              </a:lnSpc>
              <a:buClr>
                <a:srgbClr val="000000"/>
              </a:buClr>
              <a:buFont typeface="Arial"/>
              <a:buChar char="•"/>
            </a:pPr>
            <a:r>
              <a:rPr lang="en-US" sz="1200" b="0" strike="noStrike" spc="-1" dirty="0" smtClean="0">
                <a:solidFill>
                  <a:srgbClr val="000000"/>
                </a:solidFill>
                <a:uFill>
                  <a:solidFill>
                    <a:srgbClr val="FFFFFF"/>
                  </a:solidFill>
                </a:uFill>
                <a:latin typeface="+mn-lt"/>
              </a:rPr>
              <a:t>Difficult: complex operations for determining where actions should be (tortured logic)</a:t>
            </a:r>
            <a:endParaRPr lang="en-US" sz="1200" b="0" strike="noStrike" spc="-1" dirty="0" smtClean="0">
              <a:solidFill>
                <a:srgbClr val="000000"/>
              </a:solidFill>
              <a:uFill>
                <a:solidFill>
                  <a:srgbClr val="FFFFFF"/>
                </a:solidFill>
              </a:uFill>
              <a:latin typeface="Arial"/>
            </a:endParaRPr>
          </a:p>
          <a:p>
            <a:pPr>
              <a:lnSpc>
                <a:spcPct val="100000"/>
              </a:lnSpc>
            </a:pPr>
            <a:endParaRPr lang="en-US" sz="1200" b="0" strike="noStrike" spc="-1" dirty="0" smtClean="0">
              <a:solidFill>
                <a:srgbClr val="000000"/>
              </a:solidFill>
              <a:uFill>
                <a:solidFill>
                  <a:srgbClr val="FFFFFF"/>
                </a:solidFill>
              </a:uFill>
              <a:latin typeface="Arial"/>
            </a:endParaRPr>
          </a:p>
          <a:p>
            <a:pPr marL="285840" indent="-285480">
              <a:lnSpc>
                <a:spcPct val="100000"/>
              </a:lnSpc>
              <a:buClr>
                <a:srgbClr val="000000"/>
              </a:buClr>
              <a:buFont typeface="Arial"/>
              <a:buChar char="•"/>
            </a:pPr>
            <a:r>
              <a:rPr lang="en-US" sz="1200" b="0" strike="noStrike" spc="-1" dirty="0" smtClean="0">
                <a:solidFill>
                  <a:srgbClr val="000000"/>
                </a:solidFill>
                <a:uFill>
                  <a:solidFill>
                    <a:srgbClr val="FFFFFF"/>
                  </a:solidFill>
                </a:uFill>
                <a:latin typeface="+mn-lt"/>
              </a:rPr>
              <a:t>Potential solution: </a:t>
            </a:r>
            <a:r>
              <a:rPr lang="el-GR" sz="1200" b="0" strike="noStrike" spc="-1" dirty="0" smtClean="0">
                <a:solidFill>
                  <a:srgbClr val="000000"/>
                </a:solidFill>
                <a:uFill>
                  <a:solidFill>
                    <a:srgbClr val="FFFFFF"/>
                  </a:solidFill>
                </a:uFill>
                <a:latin typeface="+mn-lt"/>
              </a:rPr>
              <a:t>λ</a:t>
            </a:r>
            <a:r>
              <a:rPr lang="en-US" sz="1200" b="0" strike="noStrike" spc="-1" dirty="0" smtClean="0">
                <a:solidFill>
                  <a:srgbClr val="000000"/>
                </a:solidFill>
                <a:uFill>
                  <a:solidFill>
                    <a:srgbClr val="FFFFFF"/>
                  </a:solidFill>
                </a:uFill>
                <a:latin typeface="+mn-lt"/>
              </a:rPr>
              <a:t> calculus</a:t>
            </a:r>
            <a:endParaRPr lang="en-US" sz="1200" b="0" strike="noStrike" spc="-1" dirty="0" smtClean="0">
              <a:solidFill>
                <a:srgbClr val="000000"/>
              </a:solidFill>
              <a:uFill>
                <a:solidFill>
                  <a:srgbClr val="FFFFFF"/>
                </a:solidFill>
              </a:uFill>
              <a:latin typeface="Arial"/>
            </a:endParaRPr>
          </a:p>
          <a:p>
            <a:pPr>
              <a:lnSpc>
                <a:spcPct val="100000"/>
              </a:lnSpc>
            </a:pPr>
            <a:endParaRPr lang="en-US" sz="1200" b="0" strike="noStrike" spc="-1" dirty="0" smtClean="0">
              <a:solidFill>
                <a:srgbClr val="000000"/>
              </a:solidFill>
              <a:uFill>
                <a:solidFill>
                  <a:srgbClr val="FFFFFF"/>
                </a:solidFill>
              </a:uFill>
              <a:latin typeface="Arial"/>
            </a:endParaRPr>
          </a:p>
          <a:p>
            <a:pPr marL="285840" indent="-285480">
              <a:lnSpc>
                <a:spcPct val="100000"/>
              </a:lnSpc>
              <a:buClr>
                <a:srgbClr val="000000"/>
              </a:buClr>
              <a:buFont typeface="Arial"/>
              <a:buChar char="•"/>
            </a:pPr>
            <a:r>
              <a:rPr lang="en-US" sz="1200" b="0" strike="noStrike" spc="-1" dirty="0" smtClean="0">
                <a:solidFill>
                  <a:srgbClr val="000000"/>
                </a:solidFill>
                <a:uFill>
                  <a:solidFill>
                    <a:srgbClr val="FFFFFF"/>
                  </a:solidFill>
                </a:uFill>
                <a:latin typeface="+mn-lt"/>
              </a:rPr>
              <a:t>Why?  Computation a little more straightforward, SAL’s life a little easier</a:t>
            </a:r>
            <a:endParaRPr lang="en-US" sz="1200" b="0" strike="noStrike" spc="-1" dirty="0" smtClean="0">
              <a:solidFill>
                <a:srgbClr val="000000"/>
              </a:solidFill>
              <a:uFill>
                <a:solidFill>
                  <a:srgbClr val="FFFFFF"/>
                </a:solidFill>
              </a:uFill>
              <a:latin typeface="Arial"/>
            </a:endParaRPr>
          </a:p>
          <a:p>
            <a:endParaRPr lang="en-US" dirty="0"/>
          </a:p>
        </p:txBody>
      </p:sp>
      <p:sp>
        <p:nvSpPr>
          <p:cNvPr id="4" name="Slide Number Placeholder 3"/>
          <p:cNvSpPr>
            <a:spLocks noGrp="1"/>
          </p:cNvSpPr>
          <p:nvPr>
            <p:ph type="sldNum" sz="quarter" idx="10"/>
          </p:nvPr>
        </p:nvSpPr>
        <p:spPr/>
        <p:txBody>
          <a:bodyPr/>
          <a:lstStyle/>
          <a:p>
            <a:fld id="{542CFCED-A337-4A88-912E-6D6661A973FC}" type="slidenum">
              <a:rPr lang="en-US" smtClean="0"/>
              <a:t>12</a:t>
            </a:fld>
            <a:endParaRPr lang="en-US"/>
          </a:p>
        </p:txBody>
      </p:sp>
    </p:spTree>
    <p:extLst>
      <p:ext uri="{BB962C8B-B14F-4D97-AF65-F5344CB8AC3E}">
        <p14:creationId xmlns:p14="http://schemas.microsoft.com/office/powerpoint/2010/main" val="3957588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2CFCED-A337-4A88-912E-6D6661A973FC}" type="slidenum">
              <a:rPr lang="en-US" smtClean="0"/>
              <a:t>13</a:t>
            </a:fld>
            <a:endParaRPr lang="en-US"/>
          </a:p>
        </p:txBody>
      </p:sp>
    </p:spTree>
    <p:extLst>
      <p:ext uri="{BB962C8B-B14F-4D97-AF65-F5344CB8AC3E}">
        <p14:creationId xmlns:p14="http://schemas.microsoft.com/office/powerpoint/2010/main" val="39575886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2CFCED-A337-4A88-912E-6D6661A973FC}" type="slidenum">
              <a:rPr lang="en-US" smtClean="0"/>
              <a:t>14</a:t>
            </a:fld>
            <a:endParaRPr lang="en-US"/>
          </a:p>
        </p:txBody>
      </p:sp>
    </p:spTree>
    <p:extLst>
      <p:ext uri="{BB962C8B-B14F-4D97-AF65-F5344CB8AC3E}">
        <p14:creationId xmlns:p14="http://schemas.microsoft.com/office/powerpoint/2010/main" val="39575886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2CFCED-A337-4A88-912E-6D6661A973FC}" type="slidenum">
              <a:rPr lang="en-US" smtClean="0"/>
              <a:t>15</a:t>
            </a:fld>
            <a:endParaRPr lang="en-US"/>
          </a:p>
        </p:txBody>
      </p:sp>
    </p:spTree>
    <p:extLst>
      <p:ext uri="{BB962C8B-B14F-4D97-AF65-F5344CB8AC3E}">
        <p14:creationId xmlns:p14="http://schemas.microsoft.com/office/powerpoint/2010/main" val="39575886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2CFCED-A337-4A88-912E-6D6661A973FC}" type="slidenum">
              <a:rPr lang="en-US" smtClean="0"/>
              <a:t>22</a:t>
            </a:fld>
            <a:endParaRPr lang="en-US"/>
          </a:p>
        </p:txBody>
      </p:sp>
    </p:spTree>
    <p:extLst>
      <p:ext uri="{BB962C8B-B14F-4D97-AF65-F5344CB8AC3E}">
        <p14:creationId xmlns:p14="http://schemas.microsoft.com/office/powerpoint/2010/main" val="3432351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2CFCED-A337-4A88-912E-6D6661A973FC}" type="slidenum">
              <a:rPr lang="en-US" smtClean="0"/>
              <a:t>23</a:t>
            </a:fld>
            <a:endParaRPr lang="en-US"/>
          </a:p>
        </p:txBody>
      </p:sp>
    </p:spTree>
    <p:extLst>
      <p:ext uri="{BB962C8B-B14F-4D97-AF65-F5344CB8AC3E}">
        <p14:creationId xmlns:p14="http://schemas.microsoft.com/office/powerpoint/2010/main" val="13719593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2CFCED-A337-4A88-912E-6D6661A973FC}" type="slidenum">
              <a:rPr lang="en-US" smtClean="0"/>
              <a:t>24</a:t>
            </a:fld>
            <a:endParaRPr lang="en-US"/>
          </a:p>
        </p:txBody>
      </p:sp>
    </p:spTree>
    <p:extLst>
      <p:ext uri="{BB962C8B-B14F-4D97-AF65-F5344CB8AC3E}">
        <p14:creationId xmlns:p14="http://schemas.microsoft.com/office/powerpoint/2010/main" val="3263688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6" name="PlaceHolder 2"/>
          <p:cNvSpPr>
            <a:spLocks noGrp="1"/>
          </p:cNvSpPr>
          <p:nvPr>
            <p:ph type="subTitle"/>
          </p:nvPr>
        </p:nvSpPr>
        <p:spPr>
          <a:xfrm>
            <a:off x="838080" y="1825560"/>
            <a:ext cx="10515240" cy="435096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8" name="PlaceHolder 2"/>
          <p:cNvSpPr>
            <a:spLocks noGrp="1"/>
          </p:cNvSpPr>
          <p:nvPr>
            <p:ph type="body"/>
          </p:nvPr>
        </p:nvSpPr>
        <p:spPr>
          <a:xfrm>
            <a:off x="838080" y="1825560"/>
            <a:ext cx="10515240" cy="435096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10" name="PlaceHolder 2"/>
          <p:cNvSpPr>
            <a:spLocks noGrp="1"/>
          </p:cNvSpPr>
          <p:nvPr>
            <p:ph type="body"/>
          </p:nvPr>
        </p:nvSpPr>
        <p:spPr>
          <a:xfrm>
            <a:off x="838080" y="1825560"/>
            <a:ext cx="5131080" cy="435096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11" name="PlaceHolder 3"/>
          <p:cNvSpPr>
            <a:spLocks noGrp="1"/>
          </p:cNvSpPr>
          <p:nvPr>
            <p:ph type="body"/>
          </p:nvPr>
        </p:nvSpPr>
        <p:spPr>
          <a:xfrm>
            <a:off x="6226200" y="1825560"/>
            <a:ext cx="5131080" cy="435096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15" name="PlaceHolder 2"/>
          <p:cNvSpPr>
            <a:spLocks noGrp="1"/>
          </p:cNvSpPr>
          <p:nvPr>
            <p:ph type="body"/>
          </p:nvPr>
        </p:nvSpPr>
        <p:spPr>
          <a:xfrm>
            <a:off x="838080" y="182556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16" name="PlaceHolder 3"/>
          <p:cNvSpPr>
            <a:spLocks noGrp="1"/>
          </p:cNvSpPr>
          <p:nvPr>
            <p:ph type="body"/>
          </p:nvPr>
        </p:nvSpPr>
        <p:spPr>
          <a:xfrm>
            <a:off x="838080" y="409824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17" name="PlaceHolder 4"/>
          <p:cNvSpPr>
            <a:spLocks noGrp="1"/>
          </p:cNvSpPr>
          <p:nvPr>
            <p:ph type="body"/>
          </p:nvPr>
        </p:nvSpPr>
        <p:spPr>
          <a:xfrm>
            <a:off x="6226200" y="1825560"/>
            <a:ext cx="5131080" cy="435096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19" name="PlaceHolder 2"/>
          <p:cNvSpPr>
            <a:spLocks noGrp="1"/>
          </p:cNvSpPr>
          <p:nvPr>
            <p:ph type="body"/>
          </p:nvPr>
        </p:nvSpPr>
        <p:spPr>
          <a:xfrm>
            <a:off x="838080" y="1825560"/>
            <a:ext cx="5131080" cy="435096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20" name="PlaceHolder 3"/>
          <p:cNvSpPr>
            <a:spLocks noGrp="1"/>
          </p:cNvSpPr>
          <p:nvPr>
            <p:ph type="body"/>
          </p:nvPr>
        </p:nvSpPr>
        <p:spPr>
          <a:xfrm>
            <a:off x="6226200" y="182556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21" name="PlaceHolder 4"/>
          <p:cNvSpPr>
            <a:spLocks noGrp="1"/>
          </p:cNvSpPr>
          <p:nvPr>
            <p:ph type="body"/>
          </p:nvPr>
        </p:nvSpPr>
        <p:spPr>
          <a:xfrm>
            <a:off x="6226200" y="409824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23" name="PlaceHolder 2"/>
          <p:cNvSpPr>
            <a:spLocks noGrp="1"/>
          </p:cNvSpPr>
          <p:nvPr>
            <p:ph type="body"/>
          </p:nvPr>
        </p:nvSpPr>
        <p:spPr>
          <a:xfrm>
            <a:off x="838080" y="182556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24" name="PlaceHolder 3"/>
          <p:cNvSpPr>
            <a:spLocks noGrp="1"/>
          </p:cNvSpPr>
          <p:nvPr>
            <p:ph type="body"/>
          </p:nvPr>
        </p:nvSpPr>
        <p:spPr>
          <a:xfrm>
            <a:off x="6226200" y="182556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25" name="PlaceHolder 4"/>
          <p:cNvSpPr>
            <a:spLocks noGrp="1"/>
          </p:cNvSpPr>
          <p:nvPr>
            <p:ph type="body"/>
          </p:nvPr>
        </p:nvSpPr>
        <p:spPr>
          <a:xfrm>
            <a:off x="838080" y="4098240"/>
            <a:ext cx="1051524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27" name="PlaceHolder 2"/>
          <p:cNvSpPr>
            <a:spLocks noGrp="1"/>
          </p:cNvSpPr>
          <p:nvPr>
            <p:ph type="body"/>
          </p:nvPr>
        </p:nvSpPr>
        <p:spPr>
          <a:xfrm>
            <a:off x="838080" y="1825560"/>
            <a:ext cx="1051524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28" name="PlaceHolder 3"/>
          <p:cNvSpPr>
            <a:spLocks noGrp="1"/>
          </p:cNvSpPr>
          <p:nvPr>
            <p:ph type="body"/>
          </p:nvPr>
        </p:nvSpPr>
        <p:spPr>
          <a:xfrm>
            <a:off x="838080" y="4098240"/>
            <a:ext cx="1051524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30" name="PlaceHolder 2"/>
          <p:cNvSpPr>
            <a:spLocks noGrp="1"/>
          </p:cNvSpPr>
          <p:nvPr>
            <p:ph type="body"/>
          </p:nvPr>
        </p:nvSpPr>
        <p:spPr>
          <a:xfrm>
            <a:off x="838080" y="182556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31" name="PlaceHolder 3"/>
          <p:cNvSpPr>
            <a:spLocks noGrp="1"/>
          </p:cNvSpPr>
          <p:nvPr>
            <p:ph type="body"/>
          </p:nvPr>
        </p:nvSpPr>
        <p:spPr>
          <a:xfrm>
            <a:off x="6226200" y="182556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32" name="PlaceHolder 4"/>
          <p:cNvSpPr>
            <a:spLocks noGrp="1"/>
          </p:cNvSpPr>
          <p:nvPr>
            <p:ph type="body"/>
          </p:nvPr>
        </p:nvSpPr>
        <p:spPr>
          <a:xfrm>
            <a:off x="6226200" y="409824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33" name="PlaceHolder 5"/>
          <p:cNvSpPr>
            <a:spLocks noGrp="1"/>
          </p:cNvSpPr>
          <p:nvPr>
            <p:ph type="body"/>
          </p:nvPr>
        </p:nvSpPr>
        <p:spPr>
          <a:xfrm>
            <a:off x="838080" y="409824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35" name="PlaceHolder 2"/>
          <p:cNvSpPr>
            <a:spLocks noGrp="1"/>
          </p:cNvSpPr>
          <p:nvPr>
            <p:ph type="body"/>
          </p:nvPr>
        </p:nvSpPr>
        <p:spPr>
          <a:xfrm>
            <a:off x="838080" y="1825560"/>
            <a:ext cx="10515240" cy="435096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36" name="PlaceHolder 3"/>
          <p:cNvSpPr>
            <a:spLocks noGrp="1"/>
          </p:cNvSpPr>
          <p:nvPr>
            <p:ph type="body"/>
          </p:nvPr>
        </p:nvSpPr>
        <p:spPr>
          <a:xfrm>
            <a:off x="838080" y="1825560"/>
            <a:ext cx="10515240" cy="435096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pic>
        <p:nvPicPr>
          <p:cNvPr id="37" name="Picture 36"/>
          <p:cNvPicPr/>
          <p:nvPr/>
        </p:nvPicPr>
        <p:blipFill>
          <a:blip r:embed="rId2"/>
          <a:stretch/>
        </p:blipFill>
        <p:spPr>
          <a:xfrm>
            <a:off x="3368880" y="1825560"/>
            <a:ext cx="5452920" cy="4350960"/>
          </a:xfrm>
          <a:prstGeom prst="rect">
            <a:avLst/>
          </a:prstGeom>
          <a:ln>
            <a:noFill/>
          </a:ln>
        </p:spPr>
      </p:pic>
      <p:pic>
        <p:nvPicPr>
          <p:cNvPr id="38" name="Picture 37"/>
          <p:cNvPicPr/>
          <p:nvPr/>
        </p:nvPicPr>
        <p:blipFill>
          <a:blip r:embed="rId2"/>
          <a:stretch/>
        </p:blipFill>
        <p:spPr>
          <a:xfrm>
            <a:off x="3368880" y="1825560"/>
            <a:ext cx="5452920" cy="435096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45" name="PlaceHolder 2"/>
          <p:cNvSpPr>
            <a:spLocks noGrp="1"/>
          </p:cNvSpPr>
          <p:nvPr>
            <p:ph type="subTitle"/>
          </p:nvPr>
        </p:nvSpPr>
        <p:spPr>
          <a:xfrm>
            <a:off x="838080" y="1825560"/>
            <a:ext cx="10515240" cy="435096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47" name="PlaceHolder 2"/>
          <p:cNvSpPr>
            <a:spLocks noGrp="1"/>
          </p:cNvSpPr>
          <p:nvPr>
            <p:ph type="body"/>
          </p:nvPr>
        </p:nvSpPr>
        <p:spPr>
          <a:xfrm>
            <a:off x="838080" y="1825560"/>
            <a:ext cx="10515240" cy="435096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49" name="PlaceHolder 2"/>
          <p:cNvSpPr>
            <a:spLocks noGrp="1"/>
          </p:cNvSpPr>
          <p:nvPr>
            <p:ph type="body"/>
          </p:nvPr>
        </p:nvSpPr>
        <p:spPr>
          <a:xfrm>
            <a:off x="838080" y="1825560"/>
            <a:ext cx="5131080" cy="435096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50" name="PlaceHolder 3"/>
          <p:cNvSpPr>
            <a:spLocks noGrp="1"/>
          </p:cNvSpPr>
          <p:nvPr>
            <p:ph type="body"/>
          </p:nvPr>
        </p:nvSpPr>
        <p:spPr>
          <a:xfrm>
            <a:off x="6226200" y="1825560"/>
            <a:ext cx="5131080" cy="435096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838080" y="365040"/>
            <a:ext cx="10515240" cy="614412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54" name="PlaceHolder 2"/>
          <p:cNvSpPr>
            <a:spLocks noGrp="1"/>
          </p:cNvSpPr>
          <p:nvPr>
            <p:ph type="body"/>
          </p:nvPr>
        </p:nvSpPr>
        <p:spPr>
          <a:xfrm>
            <a:off x="838080" y="182556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55" name="PlaceHolder 3"/>
          <p:cNvSpPr>
            <a:spLocks noGrp="1"/>
          </p:cNvSpPr>
          <p:nvPr>
            <p:ph type="body"/>
          </p:nvPr>
        </p:nvSpPr>
        <p:spPr>
          <a:xfrm>
            <a:off x="838080" y="409824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56" name="PlaceHolder 4"/>
          <p:cNvSpPr>
            <a:spLocks noGrp="1"/>
          </p:cNvSpPr>
          <p:nvPr>
            <p:ph type="body"/>
          </p:nvPr>
        </p:nvSpPr>
        <p:spPr>
          <a:xfrm>
            <a:off x="6226200" y="1825560"/>
            <a:ext cx="5131080" cy="435096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58" name="PlaceHolder 2"/>
          <p:cNvSpPr>
            <a:spLocks noGrp="1"/>
          </p:cNvSpPr>
          <p:nvPr>
            <p:ph type="body"/>
          </p:nvPr>
        </p:nvSpPr>
        <p:spPr>
          <a:xfrm>
            <a:off x="838080" y="1825560"/>
            <a:ext cx="5131080" cy="435096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59" name="PlaceHolder 3"/>
          <p:cNvSpPr>
            <a:spLocks noGrp="1"/>
          </p:cNvSpPr>
          <p:nvPr>
            <p:ph type="body"/>
          </p:nvPr>
        </p:nvSpPr>
        <p:spPr>
          <a:xfrm>
            <a:off x="6226200" y="182556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60" name="PlaceHolder 4"/>
          <p:cNvSpPr>
            <a:spLocks noGrp="1"/>
          </p:cNvSpPr>
          <p:nvPr>
            <p:ph type="body"/>
          </p:nvPr>
        </p:nvSpPr>
        <p:spPr>
          <a:xfrm>
            <a:off x="6226200" y="409824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62" name="PlaceHolder 2"/>
          <p:cNvSpPr>
            <a:spLocks noGrp="1"/>
          </p:cNvSpPr>
          <p:nvPr>
            <p:ph type="body"/>
          </p:nvPr>
        </p:nvSpPr>
        <p:spPr>
          <a:xfrm>
            <a:off x="838080" y="182556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63" name="PlaceHolder 3"/>
          <p:cNvSpPr>
            <a:spLocks noGrp="1"/>
          </p:cNvSpPr>
          <p:nvPr>
            <p:ph type="body"/>
          </p:nvPr>
        </p:nvSpPr>
        <p:spPr>
          <a:xfrm>
            <a:off x="6226200" y="182556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64" name="PlaceHolder 4"/>
          <p:cNvSpPr>
            <a:spLocks noGrp="1"/>
          </p:cNvSpPr>
          <p:nvPr>
            <p:ph type="body"/>
          </p:nvPr>
        </p:nvSpPr>
        <p:spPr>
          <a:xfrm>
            <a:off x="838080" y="4098240"/>
            <a:ext cx="1051524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66" name="PlaceHolder 2"/>
          <p:cNvSpPr>
            <a:spLocks noGrp="1"/>
          </p:cNvSpPr>
          <p:nvPr>
            <p:ph type="body"/>
          </p:nvPr>
        </p:nvSpPr>
        <p:spPr>
          <a:xfrm>
            <a:off x="838080" y="1825560"/>
            <a:ext cx="1051524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67" name="PlaceHolder 3"/>
          <p:cNvSpPr>
            <a:spLocks noGrp="1"/>
          </p:cNvSpPr>
          <p:nvPr>
            <p:ph type="body"/>
          </p:nvPr>
        </p:nvSpPr>
        <p:spPr>
          <a:xfrm>
            <a:off x="838080" y="4098240"/>
            <a:ext cx="1051524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69" name="PlaceHolder 2"/>
          <p:cNvSpPr>
            <a:spLocks noGrp="1"/>
          </p:cNvSpPr>
          <p:nvPr>
            <p:ph type="body"/>
          </p:nvPr>
        </p:nvSpPr>
        <p:spPr>
          <a:xfrm>
            <a:off x="838080" y="182556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70" name="PlaceHolder 3"/>
          <p:cNvSpPr>
            <a:spLocks noGrp="1"/>
          </p:cNvSpPr>
          <p:nvPr>
            <p:ph type="body"/>
          </p:nvPr>
        </p:nvSpPr>
        <p:spPr>
          <a:xfrm>
            <a:off x="6226200" y="182556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71" name="PlaceHolder 4"/>
          <p:cNvSpPr>
            <a:spLocks noGrp="1"/>
          </p:cNvSpPr>
          <p:nvPr>
            <p:ph type="body"/>
          </p:nvPr>
        </p:nvSpPr>
        <p:spPr>
          <a:xfrm>
            <a:off x="6226200" y="409824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72" name="PlaceHolder 5"/>
          <p:cNvSpPr>
            <a:spLocks noGrp="1"/>
          </p:cNvSpPr>
          <p:nvPr>
            <p:ph type="body"/>
          </p:nvPr>
        </p:nvSpPr>
        <p:spPr>
          <a:xfrm>
            <a:off x="838080" y="4098240"/>
            <a:ext cx="5131080" cy="207504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74" name="PlaceHolder 2"/>
          <p:cNvSpPr>
            <a:spLocks noGrp="1"/>
          </p:cNvSpPr>
          <p:nvPr>
            <p:ph type="body"/>
          </p:nvPr>
        </p:nvSpPr>
        <p:spPr>
          <a:xfrm>
            <a:off x="838080" y="1825560"/>
            <a:ext cx="10515240" cy="435096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sp>
        <p:nvSpPr>
          <p:cNvPr id="75" name="PlaceHolder 3"/>
          <p:cNvSpPr>
            <a:spLocks noGrp="1"/>
          </p:cNvSpPr>
          <p:nvPr>
            <p:ph type="body"/>
          </p:nvPr>
        </p:nvSpPr>
        <p:spPr>
          <a:xfrm>
            <a:off x="838080" y="1825560"/>
            <a:ext cx="10515240" cy="4350960"/>
          </a:xfrm>
          <a:prstGeom prst="rect">
            <a:avLst/>
          </a:prstGeom>
        </p:spPr>
        <p:txBody>
          <a:bodyPr lIns="0" tIns="0" rIns="0" bIns="0"/>
          <a:lstStyle/>
          <a:p>
            <a:endParaRPr lang="en-US" sz="2800" b="0" strike="noStrike" spc="-1">
              <a:solidFill>
                <a:srgbClr val="000000"/>
              </a:solidFill>
              <a:uFill>
                <a:solidFill>
                  <a:srgbClr val="FFFFFF"/>
                </a:solidFill>
              </a:uFill>
              <a:latin typeface="Calibri"/>
            </a:endParaRPr>
          </a:p>
        </p:txBody>
      </p:sp>
      <p:pic>
        <p:nvPicPr>
          <p:cNvPr id="76" name="Picture 75"/>
          <p:cNvPicPr/>
          <p:nvPr/>
        </p:nvPicPr>
        <p:blipFill>
          <a:blip r:embed="rId2"/>
          <a:stretch/>
        </p:blipFill>
        <p:spPr>
          <a:xfrm>
            <a:off x="3368880" y="1825560"/>
            <a:ext cx="5452920" cy="4350960"/>
          </a:xfrm>
          <a:prstGeom prst="rect">
            <a:avLst/>
          </a:prstGeom>
          <a:ln>
            <a:noFill/>
          </a:ln>
        </p:spPr>
      </p:pic>
      <p:pic>
        <p:nvPicPr>
          <p:cNvPr id="77" name="Picture 76"/>
          <p:cNvPicPr/>
          <p:nvPr/>
        </p:nvPicPr>
        <p:blipFill>
          <a:blip r:embed="rId2"/>
          <a:stretch/>
        </p:blipFill>
        <p:spPr>
          <a:xfrm>
            <a:off x="3368880" y="1825560"/>
            <a:ext cx="5452920" cy="435096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p:spPr>
        <p:txBody>
          <a:bodyPr anchor="b"/>
          <a:lstStyle/>
          <a:p>
            <a:pPr algn="ctr">
              <a:lnSpc>
                <a:spcPct val="100000"/>
              </a:lnSpc>
            </a:pPr>
            <a:r>
              <a:rPr lang="en-US" sz="6000" b="0" strike="noStrike" spc="-1">
                <a:solidFill>
                  <a:srgbClr val="000000"/>
                </a:solidFill>
                <a:uFill>
                  <a:solidFill>
                    <a:srgbClr val="FFFFFF"/>
                  </a:solidFill>
                </a:uFill>
                <a:latin typeface="Calibri Light"/>
              </a:rPr>
              <a:t>Click to edit Master title style</a:t>
            </a:r>
            <a:endParaRPr lang="en-US" sz="1800" b="0" strike="noStrike" spc="-1">
              <a:solidFill>
                <a:srgbClr val="000000"/>
              </a:solidFill>
              <a:uFill>
                <a:solidFill>
                  <a:srgbClr val="FFFFFF"/>
                </a:solidFill>
              </a:uFill>
              <a:latin typeface="Calibri"/>
            </a:endParaRPr>
          </a:p>
        </p:txBody>
      </p:sp>
      <p:sp>
        <p:nvSpPr>
          <p:cNvPr id="6" name="PlaceHolder 2"/>
          <p:cNvSpPr>
            <a:spLocks noGrp="1"/>
          </p:cNvSpPr>
          <p:nvPr>
            <p:ph type="dt"/>
          </p:nvPr>
        </p:nvSpPr>
        <p:spPr>
          <a:xfrm>
            <a:off x="838080" y="6356520"/>
            <a:ext cx="2742840" cy="364680"/>
          </a:xfrm>
          <a:prstGeom prst="rect">
            <a:avLst/>
          </a:prstGeom>
        </p:spPr>
        <p:txBody>
          <a:bodyPr anchor="ctr"/>
          <a:lstStyle/>
          <a:p>
            <a:pPr>
              <a:lnSpc>
                <a:spcPct val="100000"/>
              </a:lnSpc>
            </a:pPr>
            <a:fld id="{03AE3C15-F3C8-47DB-B754-566AA3AFFA05}" type="datetime">
              <a:rPr lang="en-US" sz="1200" b="0" strike="noStrike" spc="-1">
                <a:solidFill>
                  <a:srgbClr val="8B8B8B"/>
                </a:solidFill>
                <a:uFill>
                  <a:solidFill>
                    <a:srgbClr val="FFFFFF"/>
                  </a:solidFill>
                </a:uFill>
                <a:latin typeface="Calibri"/>
              </a:rPr>
              <a:t>11/28/2016</a:t>
            </a:fld>
            <a:endParaRPr lang="en-US" sz="1400" b="0" strike="noStrike" spc="-1">
              <a:solidFill>
                <a:srgbClr val="000000"/>
              </a:solidFill>
              <a:uFill>
                <a:solidFill>
                  <a:srgbClr val="FFFFFF"/>
                </a:solidFill>
              </a:uFill>
              <a:latin typeface="Times New Roman"/>
            </a:endParaRPr>
          </a:p>
        </p:txBody>
      </p:sp>
      <p:sp>
        <p:nvSpPr>
          <p:cNvPr id="2" name="PlaceHolder 3"/>
          <p:cNvSpPr>
            <a:spLocks noGrp="1"/>
          </p:cNvSpPr>
          <p:nvPr>
            <p:ph type="ftr"/>
          </p:nvPr>
        </p:nvSpPr>
        <p:spPr>
          <a:xfrm>
            <a:off x="4038480" y="6356520"/>
            <a:ext cx="4114440" cy="364680"/>
          </a:xfrm>
          <a:prstGeom prst="rect">
            <a:avLst/>
          </a:prstGeom>
        </p:spPr>
        <p:txBody>
          <a:bodyPr anchor="ctr"/>
          <a:lstStyle/>
          <a:p>
            <a:endParaRPr lang="en-US" sz="2400" b="0" strike="noStrike" spc="-1">
              <a:solidFill>
                <a:srgbClr val="000000"/>
              </a:solidFill>
              <a:uFill>
                <a:solidFill>
                  <a:srgbClr val="FFFFFF"/>
                </a:solidFill>
              </a:uFill>
              <a:latin typeface="Times New Roman"/>
            </a:endParaRPr>
          </a:p>
        </p:txBody>
      </p:sp>
      <p:sp>
        <p:nvSpPr>
          <p:cNvPr id="3" name="PlaceHolder 4"/>
          <p:cNvSpPr>
            <a:spLocks noGrp="1"/>
          </p:cNvSpPr>
          <p:nvPr>
            <p:ph type="sldNum"/>
          </p:nvPr>
        </p:nvSpPr>
        <p:spPr>
          <a:xfrm>
            <a:off x="8610480" y="6356520"/>
            <a:ext cx="2742840" cy="364680"/>
          </a:xfrm>
          <a:prstGeom prst="rect">
            <a:avLst/>
          </a:prstGeom>
        </p:spPr>
        <p:txBody>
          <a:bodyPr anchor="ctr"/>
          <a:lstStyle/>
          <a:p>
            <a:pPr algn="r">
              <a:lnSpc>
                <a:spcPct val="100000"/>
              </a:lnSpc>
            </a:pPr>
            <a:fld id="{D37A2A69-FF1A-4A9D-A014-35E3F5D60378}" type="slidenum">
              <a:rPr lang="en-US" sz="1200" b="0" strike="noStrike" spc="-1">
                <a:solidFill>
                  <a:srgbClr val="8B8B8B"/>
                </a:solidFill>
                <a:uFill>
                  <a:solidFill>
                    <a:srgbClr val="FFFFFF"/>
                  </a:solidFill>
                </a:uFill>
                <a:latin typeface="Calibri"/>
              </a:rPr>
              <a:t>‹#›</a:t>
            </a:fld>
            <a:endParaRPr lang="en-US" sz="1400" b="0" strike="noStrike" spc="-1">
              <a:solidFill>
                <a:srgbClr val="000000"/>
              </a:solidFill>
              <a:uFill>
                <a:solidFill>
                  <a:srgbClr val="FFFFFF"/>
                </a:solidFill>
              </a:uFill>
              <a:latin typeface="Times New Roman"/>
            </a:endParaRPr>
          </a:p>
        </p:txBody>
      </p:sp>
      <p:sp>
        <p:nvSpPr>
          <p:cNvPr id="4" name="PlaceHolder 5"/>
          <p:cNvSpPr>
            <a:spLocks noGrp="1"/>
          </p:cNvSpPr>
          <p:nvPr>
            <p:ph type="body"/>
          </p:nvPr>
        </p:nvSpPr>
        <p:spPr>
          <a:xfrm>
            <a:off x="609480" y="1604520"/>
            <a:ext cx="10972440" cy="3977280"/>
          </a:xfrm>
          <a:prstGeom prst="rect">
            <a:avLst/>
          </a:prstGeom>
        </p:spPr>
        <p:txBody>
          <a:bodyPr lIns="0" tIns="0" rIns="0" bIns="0"/>
          <a:lstStyle/>
          <a:p>
            <a:pPr marL="432000" indent="-324000">
              <a:buClr>
                <a:srgbClr val="000000"/>
              </a:buClr>
              <a:buSzPct val="45000"/>
              <a:buFont typeface="Wingdings" charset="2"/>
              <a:buChar char=""/>
            </a:pPr>
            <a:r>
              <a:rPr lang="en-US" sz="2800" b="0" strike="noStrike" spc="-1">
                <a:solidFill>
                  <a:srgbClr val="000000"/>
                </a:solidFill>
                <a:uFill>
                  <a:solidFill>
                    <a:srgbClr val="FFFFFF"/>
                  </a:solidFill>
                </a:uFill>
                <a:latin typeface="Calibri"/>
              </a:rPr>
              <a:t>Click to edit the outline text format</a:t>
            </a:r>
          </a:p>
          <a:p>
            <a:pPr marL="864000" lvl="1" indent="-324000">
              <a:buClr>
                <a:srgbClr val="000000"/>
              </a:buClr>
              <a:buSzPct val="75000"/>
              <a:buFont typeface="Symbol" charset="2"/>
              <a:buChar char=""/>
            </a:pPr>
            <a:r>
              <a:rPr lang="en-US" sz="2000" b="0" strike="noStrike" spc="-1">
                <a:solidFill>
                  <a:srgbClr val="000000"/>
                </a:solidFill>
                <a:uFill>
                  <a:solidFill>
                    <a:srgbClr val="FFFFFF"/>
                  </a:solidFill>
                </a:uFill>
                <a:latin typeface="Calibri"/>
              </a:rPr>
              <a:t>Second Outline Level</a:t>
            </a:r>
          </a:p>
          <a:p>
            <a:pPr marL="1296000" lvl="2" indent="-288000">
              <a:buClr>
                <a:srgbClr val="000000"/>
              </a:buClr>
              <a:buSzPct val="45000"/>
              <a:buFont typeface="Wingdings" charset="2"/>
              <a:buChar char=""/>
            </a:pPr>
            <a:r>
              <a:rPr lang="en-US" sz="1800" b="0" strike="noStrike" spc="-1">
                <a:solidFill>
                  <a:srgbClr val="000000"/>
                </a:solidFill>
                <a:uFill>
                  <a:solidFill>
                    <a:srgbClr val="FFFFFF"/>
                  </a:solidFill>
                </a:uFill>
                <a:latin typeface="Calibri"/>
              </a:rPr>
              <a:t>Third Outline Level</a:t>
            </a:r>
          </a:p>
          <a:p>
            <a:pPr marL="1728000" lvl="3" indent="-216000">
              <a:buClr>
                <a:srgbClr val="000000"/>
              </a:buClr>
              <a:buSzPct val="75000"/>
              <a:buFont typeface="Symbol" charset="2"/>
              <a:buChar char=""/>
            </a:pPr>
            <a:r>
              <a:rPr lang="en-US" sz="1800" b="0" strike="noStrike" spc="-1">
                <a:solidFill>
                  <a:srgbClr val="000000"/>
                </a:solidFill>
                <a:uFill>
                  <a:solidFill>
                    <a:srgbClr val="FFFFFF"/>
                  </a:solidFill>
                </a:uFill>
                <a:latin typeface="Calibri"/>
              </a:rPr>
              <a:t>Fourth Outline Level</a:t>
            </a:r>
          </a:p>
          <a:p>
            <a:pPr marL="2160000" lvl="4" indent="-216000">
              <a:buClr>
                <a:srgbClr val="000000"/>
              </a:buClr>
              <a:buSzPct val="45000"/>
              <a:buFont typeface="Wingdings" charset="2"/>
              <a:buChar char=""/>
            </a:pPr>
            <a:r>
              <a:rPr lang="en-US" sz="2000" b="0" strike="noStrike" spc="-1">
                <a:solidFill>
                  <a:srgbClr val="000000"/>
                </a:solidFill>
                <a:uFill>
                  <a:solidFill>
                    <a:srgbClr val="FFFFFF"/>
                  </a:solidFill>
                </a:uFill>
                <a:latin typeface="Calibri"/>
              </a:rPr>
              <a:t>Fifth Outline Level</a:t>
            </a:r>
          </a:p>
          <a:p>
            <a:pPr marL="2592000" lvl="5" indent="-216000">
              <a:buClr>
                <a:srgbClr val="000000"/>
              </a:buClr>
              <a:buSzPct val="45000"/>
              <a:buFont typeface="Wingdings" charset="2"/>
              <a:buChar char=""/>
            </a:pPr>
            <a:r>
              <a:rPr lang="en-US" sz="2000" b="0" strike="noStrike" spc="-1">
                <a:solidFill>
                  <a:srgbClr val="000000"/>
                </a:solidFill>
                <a:uFill>
                  <a:solidFill>
                    <a:srgbClr val="FFFFFF"/>
                  </a:solidFill>
                </a:uFill>
                <a:latin typeface="Calibri"/>
              </a:rPr>
              <a:t>Sixth Outline Level</a:t>
            </a:r>
          </a:p>
          <a:p>
            <a:pPr marL="3024000" lvl="6" indent="-216000">
              <a:buClr>
                <a:srgbClr val="000000"/>
              </a:buClr>
              <a:buSzPct val="45000"/>
              <a:buFont typeface="Wingdings" charset="2"/>
              <a:buChar char=""/>
            </a:pPr>
            <a:r>
              <a:rPr lang="en-US" sz="2000" b="0" strike="noStrike" spc="-1">
                <a:solidFill>
                  <a:srgbClr val="000000"/>
                </a:solidFill>
                <a:uFill>
                  <a:solidFill>
                    <a:srgbClr val="FFFFFF"/>
                  </a:solidFill>
                </a:u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5240" cy="1325160"/>
          </a:xfrm>
          <a:prstGeom prst="rect">
            <a:avLst/>
          </a:prstGeom>
        </p:spPr>
        <p:txBody>
          <a:bodyPr anchor="ctr"/>
          <a:lstStyle/>
          <a:p>
            <a:pPr>
              <a:lnSpc>
                <a:spcPct val="90000"/>
              </a:lnSpc>
            </a:pPr>
            <a:r>
              <a:rPr lang="en-US" sz="4400" b="0" strike="noStrike" spc="-1">
                <a:solidFill>
                  <a:srgbClr val="000000"/>
                </a:solidFill>
                <a:uFill>
                  <a:solidFill>
                    <a:srgbClr val="FFFFFF"/>
                  </a:solidFill>
                </a:uFill>
                <a:latin typeface="Calibri Light"/>
              </a:rPr>
              <a:t>Click to edit Master title style</a:t>
            </a:r>
            <a:endParaRPr lang="en-US" sz="1800" b="0" strike="noStrike" spc="-1">
              <a:solidFill>
                <a:srgbClr val="000000"/>
              </a:solidFill>
              <a:uFill>
                <a:solidFill>
                  <a:srgbClr val="FFFFFF"/>
                </a:solidFill>
              </a:uFill>
              <a:latin typeface="Calibri"/>
            </a:endParaRPr>
          </a:p>
        </p:txBody>
      </p:sp>
      <p:sp>
        <p:nvSpPr>
          <p:cNvPr id="40" name="PlaceHolder 2"/>
          <p:cNvSpPr>
            <a:spLocks noGrp="1"/>
          </p:cNvSpPr>
          <p:nvPr>
            <p:ph type="body"/>
          </p:nvPr>
        </p:nvSpPr>
        <p:spPr>
          <a:xfrm>
            <a:off x="838080" y="1825560"/>
            <a:ext cx="10515240" cy="4350960"/>
          </a:xfrm>
          <a:prstGeom prst="rect">
            <a:avLst/>
          </a:prstGeom>
        </p:spPr>
        <p:txBody>
          <a:bodyPr/>
          <a:lstStyle/>
          <a:p>
            <a:pPr marL="432000" indent="-324000">
              <a:buClr>
                <a:srgbClr val="000000"/>
              </a:buClr>
              <a:buSzPct val="45000"/>
              <a:buFont typeface="Wingdings" charset="2"/>
              <a:buChar char=""/>
            </a:pPr>
            <a:r>
              <a:rPr lang="en-US" sz="2800" b="0" strike="noStrike" spc="-1">
                <a:solidFill>
                  <a:srgbClr val="000000"/>
                </a:solidFill>
                <a:uFill>
                  <a:solidFill>
                    <a:srgbClr val="FFFFFF"/>
                  </a:solidFill>
                </a:uFill>
                <a:latin typeface="Calibri"/>
              </a:rPr>
              <a:t>Click to edit the outline text format</a:t>
            </a:r>
          </a:p>
          <a:p>
            <a:pPr marL="864000" lvl="1" indent="-324000">
              <a:buClr>
                <a:srgbClr val="000000"/>
              </a:buClr>
              <a:buSzPct val="75000"/>
              <a:buFont typeface="Symbol" charset="2"/>
              <a:buChar char=""/>
            </a:pPr>
            <a:r>
              <a:rPr lang="en-US" sz="2800" b="0" strike="noStrike" spc="-1">
                <a:solidFill>
                  <a:srgbClr val="000000"/>
                </a:solidFill>
                <a:uFill>
                  <a:solidFill>
                    <a:srgbClr val="FFFFFF"/>
                  </a:solidFill>
                </a:uFill>
                <a:latin typeface="Calibri"/>
              </a:rPr>
              <a:t>Second Outline Level</a:t>
            </a:r>
          </a:p>
          <a:p>
            <a:pPr marL="1296000" lvl="2" indent="-288000">
              <a:buClr>
                <a:srgbClr val="000000"/>
              </a:buClr>
              <a:buSzPct val="45000"/>
              <a:buFont typeface="Wingdings" charset="2"/>
              <a:buChar char=""/>
            </a:pPr>
            <a:r>
              <a:rPr lang="en-US" sz="2800" b="0" strike="noStrike" spc="-1">
                <a:solidFill>
                  <a:srgbClr val="000000"/>
                </a:solidFill>
                <a:uFill>
                  <a:solidFill>
                    <a:srgbClr val="FFFFFF"/>
                  </a:solidFill>
                </a:uFill>
                <a:latin typeface="Calibri"/>
              </a:rPr>
              <a:t>Third Outline Level</a:t>
            </a:r>
          </a:p>
          <a:p>
            <a:pPr marL="1728000" lvl="3" indent="-216000">
              <a:buClr>
                <a:srgbClr val="000000"/>
              </a:buClr>
              <a:buSzPct val="75000"/>
              <a:buFont typeface="Symbol" charset="2"/>
              <a:buChar char=""/>
            </a:pPr>
            <a:r>
              <a:rPr lang="en-US" sz="2800" b="0" strike="noStrike" spc="-1">
                <a:solidFill>
                  <a:srgbClr val="000000"/>
                </a:solidFill>
                <a:uFill>
                  <a:solidFill>
                    <a:srgbClr val="FFFFFF"/>
                  </a:solidFill>
                </a:uFill>
                <a:latin typeface="Calibri"/>
              </a:rPr>
              <a:t>Fourth Outline Level</a:t>
            </a:r>
          </a:p>
          <a:p>
            <a:pPr marL="2160000" lvl="4" indent="-216000">
              <a:buClr>
                <a:srgbClr val="000000"/>
              </a:buClr>
              <a:buSzPct val="45000"/>
              <a:buFont typeface="Wingdings" charset="2"/>
              <a:buChar char=""/>
            </a:pPr>
            <a:r>
              <a:rPr lang="en-US" sz="2800" b="0" strike="noStrike" spc="-1">
                <a:solidFill>
                  <a:srgbClr val="000000"/>
                </a:solidFill>
                <a:uFill>
                  <a:solidFill>
                    <a:srgbClr val="FFFFFF"/>
                  </a:solidFill>
                </a:uFill>
                <a:latin typeface="Calibri"/>
              </a:rPr>
              <a:t>Fifth Outline Level</a:t>
            </a:r>
          </a:p>
          <a:p>
            <a:pPr marL="2592000" lvl="5" indent="-216000">
              <a:buClr>
                <a:srgbClr val="000000"/>
              </a:buClr>
              <a:buSzPct val="45000"/>
              <a:buFont typeface="Wingdings" charset="2"/>
              <a:buChar char=""/>
            </a:pPr>
            <a:r>
              <a:rPr lang="en-US" sz="2800" b="0" strike="noStrike" spc="-1">
                <a:solidFill>
                  <a:srgbClr val="000000"/>
                </a:solidFill>
                <a:uFill>
                  <a:solidFill>
                    <a:srgbClr val="FFFFFF"/>
                  </a:solidFill>
                </a:uFill>
                <a:latin typeface="Calibri"/>
              </a:rPr>
              <a:t>Sixth Outline Level</a:t>
            </a:r>
          </a:p>
          <a:p>
            <a:pPr marL="228600" indent="-228240">
              <a:lnSpc>
                <a:spcPct val="100000"/>
              </a:lnSpc>
              <a:buClr>
                <a:srgbClr val="000000"/>
              </a:buClr>
              <a:buFont typeface="Arial"/>
              <a:buChar char="•"/>
            </a:pPr>
            <a:r>
              <a:rPr lang="en-US" sz="2800" b="0" strike="noStrike" spc="-1">
                <a:solidFill>
                  <a:srgbClr val="000000"/>
                </a:solidFill>
                <a:uFill>
                  <a:solidFill>
                    <a:srgbClr val="FFFFFF"/>
                  </a:solidFill>
                </a:uFill>
                <a:latin typeface="Calibri"/>
              </a:rPr>
              <a:t>Seventh Outline LevelClick to edit Master text styles</a:t>
            </a:r>
          </a:p>
          <a:p>
            <a:pPr marL="685800" lvl="1" indent="-228240">
              <a:lnSpc>
                <a:spcPct val="100000"/>
              </a:lnSpc>
              <a:buClr>
                <a:srgbClr val="000000"/>
              </a:buClr>
              <a:buFont typeface="Arial"/>
              <a:buChar char="•"/>
            </a:pPr>
            <a:r>
              <a:rPr lang="en-US" sz="2400" b="0" strike="noStrike" spc="-1">
                <a:solidFill>
                  <a:srgbClr val="000000"/>
                </a:solidFill>
                <a:uFill>
                  <a:solidFill>
                    <a:srgbClr val="FFFFFF"/>
                  </a:solidFill>
                </a:uFill>
                <a:latin typeface="Calibri"/>
              </a:rPr>
              <a:t>Second level</a:t>
            </a:r>
            <a:endParaRPr lang="en-US" sz="2800" b="0" strike="noStrike" spc="-1">
              <a:solidFill>
                <a:srgbClr val="000000"/>
              </a:solidFill>
              <a:uFill>
                <a:solidFill>
                  <a:srgbClr val="FFFFFF"/>
                </a:solidFill>
              </a:uFill>
              <a:latin typeface="Calibri"/>
            </a:endParaRPr>
          </a:p>
          <a:p>
            <a:pPr marL="1143000" lvl="2" indent="-228240">
              <a:lnSpc>
                <a:spcPct val="100000"/>
              </a:lnSpc>
              <a:buClr>
                <a:srgbClr val="000000"/>
              </a:buClr>
              <a:buFont typeface="Arial"/>
              <a:buChar char="•"/>
            </a:pPr>
            <a:r>
              <a:rPr lang="en-US" sz="2000" b="0" strike="noStrike" spc="-1">
                <a:solidFill>
                  <a:srgbClr val="000000"/>
                </a:solidFill>
                <a:uFill>
                  <a:solidFill>
                    <a:srgbClr val="FFFFFF"/>
                  </a:solidFill>
                </a:uFill>
                <a:latin typeface="Calibri"/>
              </a:rPr>
              <a:t>Third level</a:t>
            </a:r>
            <a:endParaRPr lang="en-US" sz="2800" b="0" strike="noStrike" spc="-1">
              <a:solidFill>
                <a:srgbClr val="000000"/>
              </a:solidFill>
              <a:uFill>
                <a:solidFill>
                  <a:srgbClr val="FFFFFF"/>
                </a:solidFill>
              </a:uFill>
              <a:latin typeface="Calibri"/>
            </a:endParaRPr>
          </a:p>
          <a:p>
            <a:pPr marL="1600200" lvl="3" indent="-228240">
              <a:lnSpc>
                <a:spcPct val="100000"/>
              </a:lnSpc>
              <a:buClr>
                <a:srgbClr val="000000"/>
              </a:buClr>
              <a:buFont typeface="Arial"/>
              <a:buChar char="•"/>
            </a:pPr>
            <a:r>
              <a:rPr lang="en-US" sz="1800" b="0" strike="noStrike" spc="-1">
                <a:solidFill>
                  <a:srgbClr val="000000"/>
                </a:solidFill>
                <a:uFill>
                  <a:solidFill>
                    <a:srgbClr val="FFFFFF"/>
                  </a:solidFill>
                </a:uFill>
                <a:latin typeface="Calibri"/>
              </a:rPr>
              <a:t>Fourth level</a:t>
            </a:r>
            <a:endParaRPr lang="en-US" sz="2800" b="0" strike="noStrike" spc="-1">
              <a:solidFill>
                <a:srgbClr val="000000"/>
              </a:solidFill>
              <a:uFill>
                <a:solidFill>
                  <a:srgbClr val="FFFFFF"/>
                </a:solidFill>
              </a:uFill>
              <a:latin typeface="Calibri"/>
            </a:endParaRPr>
          </a:p>
          <a:p>
            <a:pPr marL="2057400" lvl="4" indent="-228240">
              <a:lnSpc>
                <a:spcPct val="100000"/>
              </a:lnSpc>
              <a:buClr>
                <a:srgbClr val="000000"/>
              </a:buClr>
              <a:buFont typeface="Arial"/>
              <a:buChar char="•"/>
            </a:pPr>
            <a:r>
              <a:rPr lang="en-US" sz="1800" b="0" strike="noStrike" spc="-1">
                <a:solidFill>
                  <a:srgbClr val="000000"/>
                </a:solidFill>
                <a:uFill>
                  <a:solidFill>
                    <a:srgbClr val="FFFFFF"/>
                  </a:solidFill>
                </a:uFill>
                <a:latin typeface="Calibri"/>
              </a:rPr>
              <a:t>Fifth level</a:t>
            </a:r>
            <a:endParaRPr lang="en-US" sz="2800" b="0" strike="noStrike" spc="-1">
              <a:solidFill>
                <a:srgbClr val="000000"/>
              </a:solidFill>
              <a:uFill>
                <a:solidFill>
                  <a:srgbClr val="FFFFFF"/>
                </a:solidFill>
              </a:uFill>
              <a:latin typeface="Calibri"/>
            </a:endParaRPr>
          </a:p>
        </p:txBody>
      </p:sp>
      <p:sp>
        <p:nvSpPr>
          <p:cNvPr id="41" name="PlaceHolder 3"/>
          <p:cNvSpPr>
            <a:spLocks noGrp="1"/>
          </p:cNvSpPr>
          <p:nvPr>
            <p:ph type="dt"/>
          </p:nvPr>
        </p:nvSpPr>
        <p:spPr>
          <a:xfrm>
            <a:off x="838080" y="6356520"/>
            <a:ext cx="2742840" cy="364680"/>
          </a:xfrm>
          <a:prstGeom prst="rect">
            <a:avLst/>
          </a:prstGeom>
        </p:spPr>
        <p:txBody>
          <a:bodyPr anchor="ctr"/>
          <a:lstStyle/>
          <a:p>
            <a:pPr>
              <a:lnSpc>
                <a:spcPct val="100000"/>
              </a:lnSpc>
            </a:pPr>
            <a:fld id="{FDE48418-C039-437D-92A7-645D5FF0BF3F}" type="datetime">
              <a:rPr lang="en-US" sz="1200" b="0" strike="noStrike" spc="-1">
                <a:solidFill>
                  <a:srgbClr val="8B8B8B"/>
                </a:solidFill>
                <a:uFill>
                  <a:solidFill>
                    <a:srgbClr val="FFFFFF"/>
                  </a:solidFill>
                </a:uFill>
                <a:latin typeface="Calibri"/>
              </a:rPr>
              <a:t>11/28/2016</a:t>
            </a:fld>
            <a:endParaRPr lang="en-US" sz="1400" b="0" strike="noStrike" spc="-1">
              <a:solidFill>
                <a:srgbClr val="000000"/>
              </a:solidFill>
              <a:uFill>
                <a:solidFill>
                  <a:srgbClr val="FFFFFF"/>
                </a:solidFill>
              </a:uFill>
              <a:latin typeface="Times New Roman"/>
            </a:endParaRPr>
          </a:p>
        </p:txBody>
      </p:sp>
      <p:sp>
        <p:nvSpPr>
          <p:cNvPr id="42" name="PlaceHolder 4"/>
          <p:cNvSpPr>
            <a:spLocks noGrp="1"/>
          </p:cNvSpPr>
          <p:nvPr>
            <p:ph type="ftr"/>
          </p:nvPr>
        </p:nvSpPr>
        <p:spPr>
          <a:xfrm>
            <a:off x="4038480" y="6356520"/>
            <a:ext cx="4114440" cy="364680"/>
          </a:xfrm>
          <a:prstGeom prst="rect">
            <a:avLst/>
          </a:prstGeom>
        </p:spPr>
        <p:txBody>
          <a:bodyPr anchor="ctr"/>
          <a:lstStyle/>
          <a:p>
            <a:endParaRPr lang="en-US" sz="2400" b="0" strike="noStrike" spc="-1">
              <a:solidFill>
                <a:srgbClr val="000000"/>
              </a:solidFill>
              <a:uFill>
                <a:solidFill>
                  <a:srgbClr val="FFFFFF"/>
                </a:solidFill>
              </a:uFill>
              <a:latin typeface="Times New Roman"/>
            </a:endParaRPr>
          </a:p>
        </p:txBody>
      </p:sp>
      <p:sp>
        <p:nvSpPr>
          <p:cNvPr id="43" name="PlaceHolder 5"/>
          <p:cNvSpPr>
            <a:spLocks noGrp="1"/>
          </p:cNvSpPr>
          <p:nvPr>
            <p:ph type="sldNum"/>
          </p:nvPr>
        </p:nvSpPr>
        <p:spPr>
          <a:xfrm>
            <a:off x="8610480" y="6356520"/>
            <a:ext cx="2742840" cy="364680"/>
          </a:xfrm>
          <a:prstGeom prst="rect">
            <a:avLst/>
          </a:prstGeom>
        </p:spPr>
        <p:txBody>
          <a:bodyPr anchor="ctr"/>
          <a:lstStyle/>
          <a:p>
            <a:pPr algn="r">
              <a:lnSpc>
                <a:spcPct val="100000"/>
              </a:lnSpc>
            </a:pPr>
            <a:fld id="{1D4A9CAD-4932-46CA-ADFE-76A025DA602D}" type="slidenum">
              <a:rPr lang="en-US" sz="1200" b="0" strike="noStrike" spc="-1">
                <a:solidFill>
                  <a:srgbClr val="8B8B8B"/>
                </a:solidFill>
                <a:uFill>
                  <a:solidFill>
                    <a:srgbClr val="FFFFFF"/>
                  </a:solidFill>
                </a:uFill>
                <a:latin typeface="Calibri"/>
              </a:rPr>
              <a:t>‹#›</a:t>
            </a:fld>
            <a:endParaRPr lang="en-US" sz="1400" b="0" strike="noStrike" spc="-1">
              <a:solidFill>
                <a:srgbClr val="000000"/>
              </a:solidFill>
              <a:uFill>
                <a:solidFill>
                  <a:srgbClr val="FFFFFF"/>
                </a:solidFill>
              </a:uFill>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TextShape 1"/>
          <p:cNvSpPr txBox="1"/>
          <p:nvPr/>
        </p:nvSpPr>
        <p:spPr>
          <a:xfrm>
            <a:off x="1523880" y="1122480"/>
            <a:ext cx="9143640" cy="2387160"/>
          </a:xfrm>
          <a:prstGeom prst="rect">
            <a:avLst/>
          </a:prstGeom>
          <a:noFill/>
          <a:ln>
            <a:noFill/>
          </a:ln>
        </p:spPr>
        <p:txBody>
          <a:bodyPr anchor="b"/>
          <a:lstStyle/>
          <a:p>
            <a:pPr algn="ctr">
              <a:lnSpc>
                <a:spcPct val="100000"/>
              </a:lnSpc>
            </a:pPr>
            <a:r>
              <a:rPr lang="en-US" sz="6000" b="0" strike="noStrike" spc="-1" dirty="0">
                <a:solidFill>
                  <a:srgbClr val="000000"/>
                </a:solidFill>
                <a:uFill>
                  <a:solidFill>
                    <a:srgbClr val="FFFFFF"/>
                  </a:solidFill>
                </a:uFill>
                <a:latin typeface="Calibri Light"/>
              </a:rPr>
              <a:t>A Tour of the </a:t>
            </a:r>
            <a:r>
              <a:rPr lang="en-US" sz="6000" b="0" strike="noStrike" spc="-1" dirty="0" smtClean="0">
                <a:solidFill>
                  <a:srgbClr val="000000"/>
                </a:solidFill>
                <a:uFill>
                  <a:solidFill>
                    <a:srgbClr val="FFFFFF"/>
                  </a:solidFill>
                </a:uFill>
                <a:latin typeface="Calibri Light"/>
              </a:rPr>
              <a:t>Lambda Calculus</a:t>
            </a:r>
            <a:endParaRPr lang="en-US" sz="1800" b="0" strike="noStrike" spc="-1" dirty="0">
              <a:solidFill>
                <a:srgbClr val="000000"/>
              </a:solidFill>
              <a:uFill>
                <a:solidFill>
                  <a:srgbClr val="FFFFFF"/>
                </a:solidFill>
              </a:uFill>
              <a:latin typeface="Calibri"/>
            </a:endParaRPr>
          </a:p>
        </p:txBody>
      </p:sp>
      <p:sp>
        <p:nvSpPr>
          <p:cNvPr id="79" name="TextShape 2"/>
          <p:cNvSpPr txBox="1"/>
          <p:nvPr/>
        </p:nvSpPr>
        <p:spPr>
          <a:xfrm>
            <a:off x="1523880" y="3602160"/>
            <a:ext cx="9143640" cy="2036640"/>
          </a:xfrm>
          <a:prstGeom prst="rect">
            <a:avLst/>
          </a:prstGeom>
          <a:noFill/>
          <a:ln>
            <a:noFill/>
          </a:ln>
        </p:spPr>
        <p:txBody>
          <a:bodyPr/>
          <a:lstStyle/>
          <a:p>
            <a:pPr algn="ctr">
              <a:lnSpc>
                <a:spcPct val="100000"/>
              </a:lnSpc>
            </a:pPr>
            <a:endParaRPr lang="en-US" sz="3200" b="0" strike="noStrike" spc="-1" dirty="0">
              <a:solidFill>
                <a:srgbClr val="000000"/>
              </a:solidFill>
              <a:uFill>
                <a:solidFill>
                  <a:srgbClr val="FFFFFF"/>
                </a:solidFill>
              </a:uFill>
              <a:latin typeface="Arial"/>
            </a:endParaRPr>
          </a:p>
          <a:p>
            <a:pPr algn="ctr">
              <a:lnSpc>
                <a:spcPct val="100000"/>
              </a:lnSpc>
            </a:pPr>
            <a:r>
              <a:rPr lang="en-US" sz="2400" b="0" strike="noStrike" spc="-1" dirty="0">
                <a:solidFill>
                  <a:srgbClr val="000000"/>
                </a:solidFill>
                <a:uFill>
                  <a:solidFill>
                    <a:srgbClr val="FFFFFF"/>
                  </a:solidFill>
                </a:uFill>
                <a:latin typeface="Calibri"/>
              </a:rPr>
              <a:t>Adam Houser</a:t>
            </a:r>
            <a:endParaRPr lang="en-US" sz="3200" b="0" strike="noStrike" spc="-1" dirty="0">
              <a:solidFill>
                <a:srgbClr val="000000"/>
              </a:solidFill>
              <a:uFill>
                <a:solidFill>
                  <a:srgbClr val="FFFFFF"/>
                </a:solidFill>
              </a:uFill>
              <a:latin typeface="Arial"/>
            </a:endParaRPr>
          </a:p>
          <a:p>
            <a:pPr algn="ctr">
              <a:lnSpc>
                <a:spcPct val="100000"/>
              </a:lnSpc>
            </a:pPr>
            <a:r>
              <a:rPr lang="en-US" sz="2400" b="0" strike="noStrike" spc="-1" dirty="0">
                <a:solidFill>
                  <a:srgbClr val="000000"/>
                </a:solidFill>
                <a:uFill>
                  <a:solidFill>
                    <a:srgbClr val="FFFFFF"/>
                  </a:solidFill>
                </a:uFill>
                <a:latin typeface="Calibri"/>
              </a:rPr>
              <a:t>Formal </a:t>
            </a:r>
            <a:r>
              <a:rPr lang="en-US" sz="2400" b="0" strike="noStrike" spc="-1" dirty="0" smtClean="0">
                <a:solidFill>
                  <a:srgbClr val="000000"/>
                </a:solidFill>
                <a:uFill>
                  <a:solidFill>
                    <a:srgbClr val="FFFFFF"/>
                  </a:solidFill>
                </a:uFill>
                <a:latin typeface="Calibri"/>
              </a:rPr>
              <a:t>methods guest lecture</a:t>
            </a:r>
          </a:p>
          <a:p>
            <a:pPr algn="ctr">
              <a:lnSpc>
                <a:spcPct val="100000"/>
              </a:lnSpc>
            </a:pPr>
            <a:r>
              <a:rPr lang="en-US" sz="2400" spc="-1" dirty="0" smtClean="0">
                <a:solidFill>
                  <a:srgbClr val="000000"/>
                </a:solidFill>
                <a:uFill>
                  <a:solidFill>
                    <a:srgbClr val="FFFFFF"/>
                  </a:solidFill>
                </a:uFill>
                <a:latin typeface="Calibri"/>
              </a:rPr>
              <a:t>28 Nov 2016</a:t>
            </a:r>
            <a:endParaRPr lang="en-US" sz="3200" b="0" strike="noStrike" spc="-1" dirty="0">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4" name="TextShape 1"/>
              <p:cNvSpPr txBox="1"/>
              <p:nvPr/>
            </p:nvSpPr>
            <p:spPr>
              <a:xfrm>
                <a:off x="838080" y="365040"/>
                <a:ext cx="10515240" cy="1325160"/>
              </a:xfrm>
              <a:prstGeom prst="rect">
                <a:avLst/>
              </a:prstGeom>
              <a:noFill/>
              <a:ln>
                <a:noFill/>
              </a:ln>
            </p:spPr>
            <p:txBody>
              <a:bodyPr anchor="ctr"/>
              <a:lstStyle/>
              <a:p>
                <a:pPr>
                  <a:lnSpc>
                    <a:spcPct val="90000"/>
                  </a:lnSpc>
                </a:pPr>
                <a14:m>
                  <m:oMath xmlns:m="http://schemas.openxmlformats.org/officeDocument/2006/math">
                    <m:r>
                      <a:rPr lang="el-GR" sz="4400" b="1" i="1" strike="noStrike" spc="-1" dirty="0" smtClean="0">
                        <a:solidFill>
                          <a:srgbClr val="000000"/>
                        </a:solidFill>
                        <a:uFill>
                          <a:solidFill>
                            <a:srgbClr val="FFFFFF"/>
                          </a:solidFill>
                        </a:uFill>
                        <a:latin typeface="Cambria Math"/>
                      </a:rPr>
                      <m:t>𝝀</m:t>
                    </m:r>
                  </m:oMath>
                </a14:m>
                <a:r>
                  <a:rPr lang="en-US" sz="4400" b="1" strike="noStrike" spc="-1" dirty="0" smtClean="0">
                    <a:solidFill>
                      <a:srgbClr val="000000"/>
                    </a:solidFill>
                    <a:uFill>
                      <a:solidFill>
                        <a:srgbClr val="FFFFFF"/>
                      </a:solidFill>
                    </a:uFill>
                    <a:latin typeface="Calibri Light"/>
                  </a:rPr>
                  <a:t>-calculus, defined</a:t>
                </a:r>
                <a:endParaRPr lang="en-US" sz="1800" b="1" strike="noStrike" spc="-1" dirty="0">
                  <a:solidFill>
                    <a:srgbClr val="000000"/>
                  </a:solidFill>
                  <a:uFill>
                    <a:solidFill>
                      <a:srgbClr val="FFFFFF"/>
                    </a:solidFill>
                  </a:uFill>
                  <a:latin typeface="Calibri"/>
                </a:endParaRPr>
              </a:p>
            </p:txBody>
          </p:sp>
        </mc:Choice>
        <mc:Fallback xmlns="">
          <p:sp>
            <p:nvSpPr>
              <p:cNvPr id="84" name="TextShape 1"/>
              <p:cNvSpPr txBox="1">
                <a:spLocks noRot="1" noChangeAspect="1" noMove="1" noResize="1" noEditPoints="1" noAdjustHandles="1" noChangeArrowheads="1" noChangeShapeType="1" noTextEdit="1"/>
              </p:cNvSpPr>
              <p:nvPr/>
            </p:nvSpPr>
            <p:spPr>
              <a:xfrm>
                <a:off x="838080" y="365040"/>
                <a:ext cx="10515240" cy="1325160"/>
              </a:xfrm>
              <a:prstGeom prst="rect">
                <a:avLst/>
              </a:prstGeom>
              <a:blipFill rotWithShape="1">
                <a:blip r:embed="rId2"/>
                <a:stretch>
                  <a:fillRect/>
                </a:stretch>
              </a:blipFill>
              <a:ln>
                <a:noFill/>
              </a:ln>
            </p:spPr>
            <p:txBody>
              <a:bodyPr/>
              <a:lstStyle/>
              <a:p>
                <a:r>
                  <a:rPr lang="en-US">
                    <a:noFill/>
                  </a:rPr>
                  <a:t> </a:t>
                </a:r>
              </a:p>
            </p:txBody>
          </p:sp>
        </mc:Fallback>
      </mc:AlternateContent>
      <p:sp>
        <p:nvSpPr>
          <p:cNvPr id="85" name="TextShape 2"/>
          <p:cNvSpPr txBox="1"/>
          <p:nvPr/>
        </p:nvSpPr>
        <p:spPr>
          <a:xfrm>
            <a:off x="838080" y="1825560"/>
            <a:ext cx="10515240" cy="4350960"/>
          </a:xfrm>
          <a:prstGeom prst="rect">
            <a:avLst/>
          </a:prstGeom>
          <a:noFill/>
          <a:ln>
            <a:noFill/>
          </a:ln>
        </p:spPr>
        <p:txBody>
          <a:bodyPr/>
          <a:lstStyle/>
          <a:p>
            <a:pPr marL="228600" indent="-228240">
              <a:lnSpc>
                <a:spcPct val="90000"/>
              </a:lnSpc>
              <a:buClr>
                <a:srgbClr val="000000"/>
              </a:buClr>
              <a:buFont typeface="Arial"/>
              <a:buChar char="•"/>
            </a:pPr>
            <a:r>
              <a:rPr lang="en-US" sz="2800" b="0" strike="noStrike" spc="-1" dirty="0">
                <a:solidFill>
                  <a:srgbClr val="000000"/>
                </a:solidFill>
                <a:uFill>
                  <a:solidFill>
                    <a:srgbClr val="FFFFFF"/>
                  </a:solidFill>
                </a:uFill>
                <a:latin typeface="Calibri"/>
              </a:rPr>
              <a:t>Model of computation (i.e., a formal system </a:t>
            </a:r>
            <a:r>
              <a:rPr lang="en-US" sz="2800" b="0" strike="noStrike" spc="-1" dirty="0" smtClean="0">
                <a:solidFill>
                  <a:srgbClr val="000000"/>
                </a:solidFill>
                <a:uFill>
                  <a:solidFill>
                    <a:srgbClr val="FFFFFF"/>
                  </a:solidFill>
                </a:uFill>
                <a:latin typeface="Calibri"/>
              </a:rPr>
              <a:t>for </a:t>
            </a:r>
            <a:r>
              <a:rPr lang="en-US" sz="2800" b="0" strike="noStrike" spc="-1" dirty="0">
                <a:solidFill>
                  <a:srgbClr val="000000"/>
                </a:solidFill>
                <a:uFill>
                  <a:solidFill>
                    <a:srgbClr val="FFFFFF"/>
                  </a:solidFill>
                </a:uFill>
                <a:latin typeface="Calibri"/>
              </a:rPr>
              <a:t>defining computable functions</a:t>
            </a:r>
            <a:r>
              <a:rPr lang="en-US" sz="2800" b="0" strike="noStrike" spc="-1" dirty="0" smtClean="0">
                <a:solidFill>
                  <a:srgbClr val="000000"/>
                </a:solidFill>
                <a:uFill>
                  <a:solidFill>
                    <a:srgbClr val="FFFFFF"/>
                  </a:solidFill>
                </a:uFill>
                <a:latin typeface="Calibri"/>
              </a:rPr>
              <a:t>) that </a:t>
            </a:r>
            <a:r>
              <a:rPr lang="en-US" sz="2800" b="0" strike="noStrike" spc="-1" dirty="0" smtClean="0">
                <a:uFill>
                  <a:solidFill>
                    <a:srgbClr val="FFFFFF"/>
                  </a:solidFill>
                </a:uFill>
                <a:latin typeface="Calibri"/>
              </a:rPr>
              <a:t>is </a:t>
            </a:r>
            <a:r>
              <a:rPr lang="en-US" sz="2800" b="0" i="1" strike="noStrike" spc="-1" dirty="0" smtClean="0">
                <a:uFill>
                  <a:solidFill>
                    <a:srgbClr val="FFFFFF"/>
                  </a:solidFill>
                </a:uFill>
                <a:latin typeface="Calibri"/>
              </a:rPr>
              <a:t>Turing complete.</a:t>
            </a:r>
            <a:endParaRPr lang="en-US" sz="2800" b="0" i="1" strike="noStrike" spc="-1" dirty="0">
              <a:uFill>
                <a:solidFill>
                  <a:srgbClr val="FFFFFF"/>
                </a:solidFill>
              </a:uFill>
              <a:latin typeface="Calibri"/>
            </a:endParaRPr>
          </a:p>
          <a:p>
            <a:pPr>
              <a:lnSpc>
                <a:spcPct val="90000"/>
              </a:lnSpc>
            </a:pPr>
            <a:endParaRPr lang="en-US" sz="2800" b="0" strike="noStrike" spc="-1" dirty="0">
              <a:solidFill>
                <a:srgbClr val="000000"/>
              </a:solidFill>
              <a:uFill>
                <a:solidFill>
                  <a:srgbClr val="FFFFFF"/>
                </a:solidFill>
              </a:uFill>
              <a:latin typeface="Calibri"/>
            </a:endParaRPr>
          </a:p>
          <a:p>
            <a:pPr marL="228600" indent="-228240">
              <a:lnSpc>
                <a:spcPct val="90000"/>
              </a:lnSpc>
              <a:buClr>
                <a:srgbClr val="000000"/>
              </a:buClr>
              <a:buFont typeface="Arial"/>
              <a:buChar char="•"/>
            </a:pPr>
            <a:r>
              <a:rPr lang="en-US" sz="2800" b="0" strike="noStrike" spc="-1" dirty="0">
                <a:solidFill>
                  <a:srgbClr val="000000"/>
                </a:solidFill>
                <a:uFill>
                  <a:solidFill>
                    <a:srgbClr val="FFFFFF"/>
                  </a:solidFill>
                </a:uFill>
                <a:latin typeface="Calibri"/>
              </a:rPr>
              <a:t>POWER: </a:t>
            </a:r>
            <a:r>
              <a:rPr lang="en-US" sz="2800" b="0" strike="noStrike" spc="-1" dirty="0" smtClean="0">
                <a:solidFill>
                  <a:srgbClr val="000000"/>
                </a:solidFill>
                <a:uFill>
                  <a:solidFill>
                    <a:srgbClr val="FFFFFF"/>
                  </a:solidFill>
                </a:uFill>
                <a:latin typeface="Calibri"/>
              </a:rPr>
              <a:t>computation </a:t>
            </a:r>
            <a:r>
              <a:rPr lang="en-US" sz="2800" b="0" strike="noStrike" spc="-1" dirty="0">
                <a:solidFill>
                  <a:srgbClr val="000000"/>
                </a:solidFill>
                <a:uFill>
                  <a:solidFill>
                    <a:srgbClr val="FFFFFF"/>
                  </a:solidFill>
                </a:uFill>
                <a:latin typeface="Calibri"/>
              </a:rPr>
              <a:t>through simplest </a:t>
            </a:r>
            <a:endParaRPr lang="en-US" sz="2800" b="0" strike="noStrike" spc="-1" dirty="0" smtClean="0">
              <a:solidFill>
                <a:srgbClr val="000000"/>
              </a:solidFill>
              <a:uFill>
                <a:solidFill>
                  <a:srgbClr val="FFFFFF"/>
                </a:solidFill>
              </a:uFill>
              <a:latin typeface="Calibri"/>
            </a:endParaRPr>
          </a:p>
          <a:p>
            <a:pPr marL="360">
              <a:lnSpc>
                <a:spcPct val="90000"/>
              </a:lnSpc>
              <a:buClr>
                <a:srgbClr val="000000"/>
              </a:buClr>
            </a:pPr>
            <a:r>
              <a:rPr lang="en-US" sz="2800" spc="-1" dirty="0" smtClean="0">
                <a:solidFill>
                  <a:srgbClr val="000000"/>
                </a:solidFill>
                <a:uFill>
                  <a:solidFill>
                    <a:srgbClr val="FFFFFF"/>
                  </a:solidFill>
                </a:uFill>
                <a:latin typeface="Calibri"/>
              </a:rPr>
              <a:t>   </a:t>
            </a:r>
            <a:r>
              <a:rPr lang="en-US" sz="2800" b="0" strike="noStrike" spc="-1" dirty="0" smtClean="0">
                <a:solidFill>
                  <a:srgbClr val="000000"/>
                </a:solidFill>
                <a:uFill>
                  <a:solidFill>
                    <a:srgbClr val="FFFFFF"/>
                  </a:solidFill>
                </a:uFill>
                <a:latin typeface="Calibri"/>
              </a:rPr>
              <a:t>possible functions, with focus </a:t>
            </a:r>
          </a:p>
          <a:p>
            <a:pPr marL="360">
              <a:lnSpc>
                <a:spcPct val="90000"/>
              </a:lnSpc>
              <a:buClr>
                <a:srgbClr val="000000"/>
              </a:buClr>
            </a:pPr>
            <a:r>
              <a:rPr lang="en-US" sz="2800" spc="-1" dirty="0" smtClean="0">
                <a:solidFill>
                  <a:srgbClr val="000000"/>
                </a:solidFill>
                <a:uFill>
                  <a:solidFill>
                    <a:srgbClr val="FFFFFF"/>
                  </a:solidFill>
                </a:uFill>
                <a:latin typeface="Calibri"/>
              </a:rPr>
              <a:t>   on transformation rules for those functions.</a:t>
            </a:r>
            <a:endParaRPr lang="en-US" sz="2800" b="0" strike="noStrike" spc="-1" dirty="0">
              <a:solidFill>
                <a:srgbClr val="000000"/>
              </a:solidFill>
              <a:uFill>
                <a:solidFill>
                  <a:srgbClr val="FFFFFF"/>
                </a:solidFill>
              </a:uFill>
              <a:latin typeface="Calibri"/>
            </a:endParaRPr>
          </a:p>
          <a:p>
            <a:pPr>
              <a:lnSpc>
                <a:spcPct val="90000"/>
              </a:lnSpc>
            </a:pPr>
            <a:endParaRPr lang="en-US" sz="2800" b="0" strike="noStrike" spc="-1" dirty="0">
              <a:solidFill>
                <a:srgbClr val="000000"/>
              </a:solidFill>
              <a:uFill>
                <a:solidFill>
                  <a:srgbClr val="FFFFFF"/>
                </a:solidFill>
              </a:uFill>
              <a:latin typeface="Calibri"/>
            </a:endParaRPr>
          </a:p>
          <a:p>
            <a:pPr marL="228600" indent="-228240">
              <a:lnSpc>
                <a:spcPct val="90000"/>
              </a:lnSpc>
              <a:buClr>
                <a:srgbClr val="000000"/>
              </a:buClr>
              <a:buFont typeface="Arial"/>
              <a:buChar char="•"/>
            </a:pPr>
            <a:r>
              <a:rPr lang="en-US" sz="2800" b="0" strike="noStrike" spc="-1" dirty="0">
                <a:solidFill>
                  <a:srgbClr val="000000"/>
                </a:solidFill>
                <a:uFill>
                  <a:solidFill>
                    <a:srgbClr val="FFFFFF"/>
                  </a:solidFill>
                </a:uFill>
                <a:latin typeface="Calibri"/>
              </a:rPr>
              <a:t>Underpins </a:t>
            </a:r>
            <a:r>
              <a:rPr lang="en-US" sz="2800" b="0" i="1" strike="noStrike" spc="-1" dirty="0" smtClean="0">
                <a:solidFill>
                  <a:srgbClr val="000000"/>
                </a:solidFill>
                <a:uFill>
                  <a:solidFill>
                    <a:srgbClr val="FFFFFF"/>
                  </a:solidFill>
                </a:uFill>
                <a:latin typeface="Calibri"/>
              </a:rPr>
              <a:t>functional programming </a:t>
            </a:r>
            <a:r>
              <a:rPr lang="en-US" sz="2800" b="0" strike="noStrike" spc="-1" dirty="0" smtClean="0">
                <a:solidFill>
                  <a:srgbClr val="000000"/>
                </a:solidFill>
                <a:uFill>
                  <a:solidFill>
                    <a:srgbClr val="FFFFFF"/>
                  </a:solidFill>
                </a:uFill>
                <a:latin typeface="Calibri"/>
              </a:rPr>
              <a:t>languages</a:t>
            </a:r>
          </a:p>
          <a:p>
            <a:pPr marL="457560" lvl="1">
              <a:lnSpc>
                <a:spcPct val="90000"/>
              </a:lnSpc>
              <a:buClr>
                <a:srgbClr val="000000"/>
              </a:buClr>
            </a:pPr>
            <a:r>
              <a:rPr lang="en-US" sz="2800" spc="-1" dirty="0" smtClean="0">
                <a:solidFill>
                  <a:srgbClr val="000000"/>
                </a:solidFill>
                <a:uFill>
                  <a:solidFill>
                    <a:srgbClr val="FFFFFF"/>
                  </a:solidFill>
                </a:uFill>
                <a:latin typeface="Calibri"/>
              </a:rPr>
              <a:t>(ex: Haskell, Coq, Elm).</a:t>
            </a:r>
            <a:endParaRPr lang="en-US" sz="2800" b="0" strike="noStrike" spc="-1" dirty="0" smtClean="0">
              <a:solidFill>
                <a:srgbClr val="000000"/>
              </a:solidFill>
              <a:uFill>
                <a:solidFill>
                  <a:srgbClr val="FFFFFF"/>
                </a:solidFill>
              </a:uFill>
              <a:latin typeface="Calibri"/>
            </a:endParaRPr>
          </a:p>
          <a:p>
            <a:pPr marL="360">
              <a:lnSpc>
                <a:spcPct val="90000"/>
              </a:lnSpc>
              <a:buClr>
                <a:srgbClr val="000000"/>
              </a:buClr>
            </a:pPr>
            <a:endParaRPr lang="en-US" sz="2800" b="0" strike="noStrike" spc="-1" dirty="0">
              <a:solidFill>
                <a:srgbClr val="000000"/>
              </a:solidFill>
              <a:uFill>
                <a:solidFill>
                  <a:srgbClr val="FFFFFF"/>
                </a:solidFill>
              </a:uFill>
              <a:latin typeface="Calibri"/>
            </a:endParaRPr>
          </a:p>
          <a:p>
            <a:pPr marL="228600" indent="-228240">
              <a:lnSpc>
                <a:spcPct val="90000"/>
              </a:lnSpc>
              <a:buClr>
                <a:srgbClr val="000000"/>
              </a:buClr>
              <a:buFont typeface="Arial"/>
              <a:buChar char="•"/>
            </a:pPr>
            <a:r>
              <a:rPr lang="en-US" sz="2800" b="0" strike="noStrike" spc="-1" dirty="0" smtClean="0">
                <a:solidFill>
                  <a:srgbClr val="000000"/>
                </a:solidFill>
                <a:uFill>
                  <a:solidFill>
                    <a:srgbClr val="FFFFFF"/>
                  </a:solidFill>
                </a:uFill>
                <a:latin typeface="Calibri"/>
              </a:rPr>
              <a:t>Note: no Newtonian calculus is involved.</a:t>
            </a:r>
            <a:endParaRPr lang="en-US" sz="2800" b="0" strike="noStrike" spc="-1" dirty="0">
              <a:solidFill>
                <a:srgbClr val="000000"/>
              </a:solidFill>
              <a:uFill>
                <a:solidFill>
                  <a:srgbClr val="FFFFFF"/>
                </a:solidFill>
              </a:uFill>
              <a:latin typeface="Calibri"/>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7800" y="2436446"/>
            <a:ext cx="2011680" cy="2688336"/>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pc="-1" dirty="0" smtClean="0">
                <a:solidFill>
                  <a:srgbClr val="000000"/>
                </a:solidFill>
                <a:uFill>
                  <a:solidFill>
                    <a:srgbClr val="FFFFFF"/>
                  </a:solidFill>
                </a:uFill>
                <a:latin typeface="Calibri Light"/>
              </a:rPr>
              <a:t>Fundamentals</a:t>
            </a:r>
            <a:endParaRPr lang="en-US" b="1" spc="-1" dirty="0">
              <a:solidFill>
                <a:srgbClr val="000000"/>
              </a:solidFill>
              <a:uFill>
                <a:solidFill>
                  <a:srgbClr val="FFFFFF"/>
                </a:solidFill>
              </a:uFill>
              <a:latin typeface="Calibri"/>
            </a:endParaRPr>
          </a:p>
        </p:txBody>
      </p:sp>
      <mc:AlternateContent xmlns:mc="http://schemas.openxmlformats.org/markup-compatibility/2006">
        <mc:Choice xmlns:a14="http://schemas.microsoft.com/office/drawing/2010/main" Requires="a14">
          <p:sp>
            <p:nvSpPr>
              <p:cNvPr id="87" name="TextShape 2"/>
              <p:cNvSpPr txBox="1"/>
              <p:nvPr/>
            </p:nvSpPr>
            <p:spPr>
              <a:xfrm>
                <a:off x="838080" y="1825560"/>
                <a:ext cx="10515240" cy="4803840"/>
              </a:xfrm>
              <a:prstGeom prst="rect">
                <a:avLst/>
              </a:prstGeom>
              <a:noFill/>
              <a:ln>
                <a:noFill/>
              </a:ln>
            </p:spPr>
            <p:txBody>
              <a:bodyPr/>
              <a:lstStyle/>
              <a:p>
                <a:pPr>
                  <a:lnSpc>
                    <a:spcPct val="100000"/>
                  </a:lnSpc>
                </a:pPr>
                <a:r>
                  <a:rPr lang="en-US" sz="2800" b="0" strike="noStrike" spc="-1" dirty="0" smtClean="0">
                    <a:solidFill>
                      <a:srgbClr val="000000"/>
                    </a:solidFill>
                    <a:uFill>
                      <a:solidFill>
                        <a:srgbClr val="FFFFFF"/>
                      </a:solidFill>
                    </a:uFill>
                    <a:latin typeface="Calibri"/>
                  </a:rPr>
                  <a:t>Names			letters			</a:t>
                </a:r>
                <a14:m>
                  <m:oMath xmlns:m="http://schemas.openxmlformats.org/officeDocument/2006/math">
                    <m:r>
                      <a:rPr lang="en-US" sz="2800" b="0" i="1" strike="noStrike" spc="-1" dirty="0" smtClean="0">
                        <a:solidFill>
                          <a:srgbClr val="000000"/>
                        </a:solidFill>
                        <a:uFill>
                          <a:solidFill>
                            <a:srgbClr val="FFFFFF"/>
                          </a:solidFill>
                        </a:uFill>
                        <a:latin typeface="Cambria Math"/>
                        <a:cs typeface="Courier New" panose="02070309020205020404" pitchFamily="49" charset="0"/>
                      </a:rPr>
                      <m:t>𝑎</m:t>
                    </m:r>
                    <m:r>
                      <a:rPr lang="en-US" sz="2800" b="0" i="1" strike="noStrike" spc="-1" dirty="0" smtClean="0">
                        <a:solidFill>
                          <a:srgbClr val="000000"/>
                        </a:solidFill>
                        <a:uFill>
                          <a:solidFill>
                            <a:srgbClr val="FFFFFF"/>
                          </a:solidFill>
                        </a:uFill>
                        <a:latin typeface="Cambria Math"/>
                        <a:cs typeface="Courier New" panose="02070309020205020404" pitchFamily="49" charset="0"/>
                      </a:rPr>
                      <m:t>, </m:t>
                    </m:r>
                    <m:r>
                      <a:rPr lang="en-US" sz="2800" b="0" i="1" strike="noStrike" spc="-1" dirty="0" smtClean="0">
                        <a:solidFill>
                          <a:srgbClr val="000000"/>
                        </a:solidFill>
                        <a:uFill>
                          <a:solidFill>
                            <a:srgbClr val="FFFFFF"/>
                          </a:solidFill>
                        </a:uFill>
                        <a:latin typeface="Cambria Math"/>
                        <a:cs typeface="Courier New" panose="02070309020205020404" pitchFamily="49" charset="0"/>
                      </a:rPr>
                      <m:t>𝑏</m:t>
                    </m:r>
                    <m:r>
                      <a:rPr lang="en-US" sz="2800" b="0" i="1" strike="noStrike" spc="-1" dirty="0" smtClean="0">
                        <a:solidFill>
                          <a:srgbClr val="000000"/>
                        </a:solidFill>
                        <a:uFill>
                          <a:solidFill>
                            <a:srgbClr val="FFFFFF"/>
                          </a:solidFill>
                        </a:uFill>
                        <a:latin typeface="Cambria Math"/>
                        <a:cs typeface="Courier New" panose="02070309020205020404" pitchFamily="49" charset="0"/>
                      </a:rPr>
                      <m:t>, </m:t>
                    </m:r>
                    <m:r>
                      <a:rPr lang="en-US" sz="2800" b="0" i="1" strike="noStrike" spc="-1" dirty="0" smtClean="0">
                        <a:solidFill>
                          <a:srgbClr val="000000"/>
                        </a:solidFill>
                        <a:uFill>
                          <a:solidFill>
                            <a:srgbClr val="FFFFFF"/>
                          </a:solidFill>
                        </a:uFill>
                        <a:latin typeface="Cambria Math"/>
                        <a:cs typeface="Courier New" panose="02070309020205020404" pitchFamily="49" charset="0"/>
                      </a:rPr>
                      <m:t>𝑐</m:t>
                    </m:r>
                    <m:r>
                      <a:rPr lang="en-US" sz="2800" b="0" i="1" strike="noStrike" spc="-1" dirty="0" smtClean="0">
                        <a:solidFill>
                          <a:srgbClr val="000000"/>
                        </a:solidFill>
                        <a:uFill>
                          <a:solidFill>
                            <a:srgbClr val="FFFFFF"/>
                          </a:solidFill>
                        </a:uFill>
                        <a:latin typeface="Cambria Math"/>
                        <a:cs typeface="Courier New" panose="02070309020205020404" pitchFamily="49" charset="0"/>
                      </a:rPr>
                      <m:t>, .. </m:t>
                    </m:r>
                    <m:r>
                      <a:rPr lang="en-US" sz="2800" b="0" i="1" strike="noStrike" spc="-1" dirty="0" smtClean="0">
                        <a:solidFill>
                          <a:srgbClr val="000000"/>
                        </a:solidFill>
                        <a:uFill>
                          <a:solidFill>
                            <a:srgbClr val="FFFFFF"/>
                          </a:solidFill>
                        </a:uFill>
                        <a:latin typeface="Cambria Math"/>
                        <a:cs typeface="Courier New" panose="02070309020205020404" pitchFamily="49" charset="0"/>
                      </a:rPr>
                      <m:t>𝑧</m:t>
                    </m:r>
                  </m:oMath>
                </a14:m>
                <a:endParaRPr lang="en-US" sz="2800" b="0" strike="noStrike" spc="-1" dirty="0" smtClean="0">
                  <a:solidFill>
                    <a:srgbClr val="000000"/>
                  </a:solidFill>
                  <a:uFill>
                    <a:solidFill>
                      <a:srgbClr val="FFFFFF"/>
                    </a:solidFill>
                  </a:uFill>
                  <a:latin typeface="Courier New" panose="02070309020205020404" pitchFamily="49" charset="0"/>
                  <a:cs typeface="Courier New" panose="02070309020205020404" pitchFamily="49" charset="0"/>
                </a:endParaRPr>
              </a:p>
              <a:p>
                <a:pPr>
                  <a:lnSpc>
                    <a:spcPct val="100000"/>
                  </a:lnSpc>
                </a:pPr>
                <a:endParaRPr lang="en-US" sz="2800" spc="-1" dirty="0" smtClean="0">
                  <a:solidFill>
                    <a:srgbClr val="000000"/>
                  </a:solidFill>
                  <a:uFill>
                    <a:solidFill>
                      <a:srgbClr val="FFFFFF"/>
                    </a:solidFill>
                  </a:uFill>
                  <a:latin typeface="Calibri"/>
                </a:endParaRPr>
              </a:p>
              <a:p>
                <a:pPr>
                  <a:lnSpc>
                    <a:spcPct val="100000"/>
                  </a:lnSpc>
                </a:pPr>
                <a:r>
                  <a:rPr lang="en-US" sz="2800" b="0" strike="noStrike" spc="-1" dirty="0" smtClean="0">
                    <a:solidFill>
                      <a:srgbClr val="000000"/>
                    </a:solidFill>
                    <a:uFill>
                      <a:solidFill>
                        <a:srgbClr val="FFFFFF"/>
                      </a:solidFill>
                    </a:uFill>
                    <a:latin typeface="Calibri"/>
                  </a:rPr>
                  <a:t>Functions			transformations 		</a:t>
                </a:r>
                <a14:m>
                  <m:oMath xmlns:m="http://schemas.openxmlformats.org/officeDocument/2006/math">
                    <m:r>
                      <a:rPr lang="el-GR" sz="2800" i="1" spc="-1" dirty="0" smtClean="0">
                        <a:solidFill>
                          <a:srgbClr val="000000"/>
                        </a:solidFill>
                        <a:uFill>
                          <a:solidFill>
                            <a:srgbClr val="FFFFFF"/>
                          </a:solidFill>
                        </a:uFill>
                        <a:latin typeface="Cambria Math"/>
                        <a:cs typeface="Courier New" panose="02070309020205020404" pitchFamily="49" charset="0"/>
                      </a:rPr>
                      <m:t>𝜆</m:t>
                    </m:r>
                    <m:r>
                      <a:rPr lang="en-US" sz="2800" i="1" spc="-1" dirty="0" err="1" smtClean="0">
                        <a:solidFill>
                          <a:srgbClr val="000000"/>
                        </a:solidFill>
                        <a:uFill>
                          <a:solidFill>
                            <a:srgbClr val="FFFFFF"/>
                          </a:solidFill>
                        </a:uFill>
                        <a:latin typeface="Cambria Math"/>
                        <a:cs typeface="Courier New" panose="02070309020205020404" pitchFamily="49" charset="0"/>
                      </a:rPr>
                      <m:t>𝑥</m:t>
                    </m:r>
                    <m:r>
                      <a:rPr lang="en-US" sz="2800" b="0" i="1" spc="-1" dirty="0" smtClean="0">
                        <a:solidFill>
                          <a:srgbClr val="000000"/>
                        </a:solidFill>
                        <a:uFill>
                          <a:solidFill>
                            <a:srgbClr val="FFFFFF"/>
                          </a:solidFill>
                        </a:uFill>
                        <a:latin typeface="Cambria Math"/>
                        <a:cs typeface="Courier New" panose="02070309020205020404" pitchFamily="49" charset="0"/>
                      </a:rPr>
                      <m:t>.</m:t>
                    </m:r>
                    <m:r>
                      <a:rPr lang="en-US" sz="2800" i="1" spc="-1" dirty="0" err="1" smtClean="0">
                        <a:solidFill>
                          <a:srgbClr val="000000"/>
                        </a:solidFill>
                        <a:uFill>
                          <a:solidFill>
                            <a:srgbClr val="FFFFFF"/>
                          </a:solidFill>
                        </a:uFill>
                        <a:latin typeface="Cambria Math"/>
                        <a:cs typeface="Courier New" panose="02070309020205020404" pitchFamily="49" charset="0"/>
                      </a:rPr>
                      <m:t>𝑥</m:t>
                    </m:r>
                    <m:r>
                      <a:rPr lang="en-US" sz="2800" i="1" spc="-1" dirty="0" smtClean="0">
                        <a:solidFill>
                          <a:srgbClr val="000000"/>
                        </a:solidFill>
                        <a:uFill>
                          <a:solidFill>
                            <a:srgbClr val="FFFFFF"/>
                          </a:solidFill>
                        </a:uFill>
                        <a:latin typeface="Cambria Math"/>
                        <a:cs typeface="Courier New" panose="02070309020205020404" pitchFamily="49" charset="0"/>
                      </a:rPr>
                      <m:t>		</m:t>
                    </m:r>
                  </m:oMath>
                </a14:m>
                <a:endParaRPr lang="en-US" sz="2800" i="1" spc="-1" dirty="0" smtClean="0">
                  <a:solidFill>
                    <a:srgbClr val="000000"/>
                  </a:solidFill>
                  <a:uFill>
                    <a:solidFill>
                      <a:srgbClr val="FFFFFF"/>
                    </a:solidFill>
                  </a:uFill>
                  <a:latin typeface="Cambria Math"/>
                  <a:cs typeface="Courier New" panose="02070309020205020404" pitchFamily="49" charset="0"/>
                </a:endParaRPr>
              </a:p>
              <a:p>
                <a:pPr>
                  <a:lnSpc>
                    <a:spcPct val="100000"/>
                  </a:lnSpc>
                </a:pPr>
                <a:r>
                  <a:rPr lang="en-US" sz="2800" spc="-1" dirty="0" smtClean="0">
                    <a:solidFill>
                      <a:srgbClr val="000000"/>
                    </a:solidFill>
                    <a:uFill>
                      <a:solidFill>
                        <a:srgbClr val="FFFFFF"/>
                      </a:solidFill>
                    </a:uFill>
                    <a:cs typeface="Courier New" panose="02070309020205020404" pitchFamily="49" charset="0"/>
                  </a:rPr>
                  <a:t>								</a:t>
                </a:r>
                <a14:m>
                  <m:oMath xmlns:m="http://schemas.openxmlformats.org/officeDocument/2006/math">
                    <m:r>
                      <a:rPr lang="en-US" sz="2800" i="1" spc="-1" dirty="0" smtClean="0">
                        <a:solidFill>
                          <a:srgbClr val="000000"/>
                        </a:solidFill>
                        <a:uFill>
                          <a:solidFill>
                            <a:srgbClr val="FFFFFF"/>
                          </a:solidFill>
                        </a:uFill>
                        <a:latin typeface="Cambria Math"/>
                        <a:cs typeface="Courier New" panose="02070309020205020404" pitchFamily="49" charset="0"/>
                      </a:rPr>
                      <m:t>𝑓</m:t>
                    </m:r>
                    <m:r>
                      <a:rPr lang="en-US" sz="2800" i="1" spc="-1" dirty="0" smtClean="0">
                        <a:solidFill>
                          <a:srgbClr val="000000"/>
                        </a:solidFill>
                        <a:uFill>
                          <a:solidFill>
                            <a:srgbClr val="FFFFFF"/>
                          </a:solidFill>
                        </a:uFill>
                        <a:latin typeface="Cambria Math"/>
                        <a:cs typeface="Courier New" panose="02070309020205020404" pitchFamily="49" charset="0"/>
                      </a:rPr>
                      <m:t>(</m:t>
                    </m:r>
                    <m:r>
                      <a:rPr lang="en-US" sz="2800" i="1" spc="-1" dirty="0" smtClean="0">
                        <a:solidFill>
                          <a:srgbClr val="000000"/>
                        </a:solidFill>
                        <a:uFill>
                          <a:solidFill>
                            <a:srgbClr val="FFFFFF"/>
                          </a:solidFill>
                        </a:uFill>
                        <a:latin typeface="Cambria Math"/>
                        <a:cs typeface="Courier New" panose="02070309020205020404" pitchFamily="49" charset="0"/>
                      </a:rPr>
                      <m:t>𝑥</m:t>
                    </m:r>
                    <m:r>
                      <a:rPr lang="en-US" sz="2800" i="1" spc="-1" dirty="0" smtClean="0">
                        <a:solidFill>
                          <a:srgbClr val="000000"/>
                        </a:solidFill>
                        <a:uFill>
                          <a:solidFill>
                            <a:srgbClr val="FFFFFF"/>
                          </a:solidFill>
                        </a:uFill>
                        <a:latin typeface="Cambria Math"/>
                        <a:cs typeface="Courier New" panose="02070309020205020404" pitchFamily="49" charset="0"/>
                      </a:rPr>
                      <m:t>)=</m:t>
                    </m:r>
                    <m:r>
                      <a:rPr lang="en-US" sz="2800" i="1" spc="-1" dirty="0" smtClean="0">
                        <a:solidFill>
                          <a:srgbClr val="000000"/>
                        </a:solidFill>
                        <a:uFill>
                          <a:solidFill>
                            <a:srgbClr val="FFFFFF"/>
                          </a:solidFill>
                        </a:uFill>
                        <a:latin typeface="Cambria Math"/>
                        <a:cs typeface="Courier New" panose="02070309020205020404" pitchFamily="49" charset="0"/>
                      </a:rPr>
                      <m:t>𝑥</m:t>
                    </m:r>
                  </m:oMath>
                </a14:m>
                <a:endParaRPr lang="en-US" sz="2800" b="0" strike="noStrike" spc="-1" dirty="0" smtClean="0">
                  <a:solidFill>
                    <a:srgbClr val="000000"/>
                  </a:solidFill>
                  <a:uFill>
                    <a:solidFill>
                      <a:srgbClr val="FFFFFF"/>
                    </a:solidFill>
                  </a:uFill>
                  <a:latin typeface="Courier New" panose="02070309020205020404" pitchFamily="49" charset="0"/>
                  <a:cs typeface="Courier New" panose="02070309020205020404" pitchFamily="49" charset="0"/>
                </a:endParaRPr>
              </a:p>
              <a:p>
                <a:pPr marL="457200" indent="-457200">
                  <a:lnSpc>
                    <a:spcPct val="100000"/>
                  </a:lnSpc>
                  <a:buFont typeface="Arial" panose="020B0604020202020204" pitchFamily="34" charset="0"/>
                  <a:buChar char="•"/>
                </a:pPr>
                <a:endParaRPr lang="en-US" sz="2800" spc="-1" dirty="0">
                  <a:solidFill>
                    <a:srgbClr val="000000"/>
                  </a:solidFill>
                  <a:uFill>
                    <a:solidFill>
                      <a:srgbClr val="FFFFFF"/>
                    </a:solidFill>
                  </a:uFill>
                  <a:latin typeface="Calibri"/>
                </a:endParaRPr>
              </a:p>
              <a:p>
                <a:pPr>
                  <a:lnSpc>
                    <a:spcPct val="100000"/>
                  </a:lnSpc>
                </a:pPr>
                <a:r>
                  <a:rPr lang="en-US" sz="2800" b="0" strike="noStrike" spc="-1" dirty="0" smtClean="0">
                    <a:solidFill>
                      <a:srgbClr val="000000"/>
                    </a:solidFill>
                    <a:uFill>
                      <a:solidFill>
                        <a:srgbClr val="FFFFFF"/>
                      </a:solidFill>
                    </a:uFill>
                    <a:latin typeface="Calibri"/>
                  </a:rPr>
                  <a:t>Applications			</a:t>
                </a:r>
                <a:r>
                  <a:rPr lang="en-US" sz="2800" b="0" strike="noStrike" spc="-1" dirty="0" smtClean="0">
                    <a:solidFill>
                      <a:srgbClr val="000000"/>
                    </a:solidFill>
                    <a:uFill>
                      <a:solidFill>
                        <a:srgbClr val="FFFFFF"/>
                      </a:solidFill>
                    </a:uFill>
                    <a:latin typeface="Calibri"/>
                  </a:rPr>
                  <a:t>expressions </a:t>
                </a:r>
                <a:r>
                  <a:rPr lang="en-US" sz="2800" b="0" strike="noStrike" spc="-1" dirty="0" smtClean="0">
                    <a:solidFill>
                      <a:srgbClr val="000000"/>
                    </a:solidFill>
                    <a:uFill>
                      <a:solidFill>
                        <a:srgbClr val="FFFFFF"/>
                      </a:solidFill>
                    </a:uFill>
                    <a:latin typeface="Calibri"/>
                  </a:rPr>
                  <a:t>applied to	</a:t>
                </a:r>
                <a14:m>
                  <m:oMath xmlns:m="http://schemas.openxmlformats.org/officeDocument/2006/math">
                    <m:d>
                      <m:dPr>
                        <m:ctrlPr>
                          <a:rPr lang="en-US" sz="2800" b="0" i="1" strike="noStrike" spc="-1" smtClean="0">
                            <a:solidFill>
                              <a:srgbClr val="000000"/>
                            </a:solidFill>
                            <a:uFill>
                              <a:solidFill>
                                <a:srgbClr val="FFFFFF"/>
                              </a:solidFill>
                            </a:uFill>
                            <a:latin typeface="Cambria Math" panose="02040503050406030204" pitchFamily="18" charset="0"/>
                          </a:rPr>
                        </m:ctrlPr>
                      </m:dPr>
                      <m:e>
                        <m:r>
                          <a:rPr lang="el-GR" sz="2800" i="1" spc="-1" dirty="0">
                            <a:solidFill>
                              <a:srgbClr val="000000"/>
                            </a:solidFill>
                            <a:uFill>
                              <a:solidFill>
                                <a:srgbClr val="FFFFFF"/>
                              </a:solidFill>
                            </a:uFill>
                            <a:latin typeface="Cambria Math"/>
                            <a:cs typeface="Courier New" panose="02070309020205020404" pitchFamily="49" charset="0"/>
                          </a:rPr>
                          <m:t>𝜆</m:t>
                        </m:r>
                        <m:r>
                          <a:rPr lang="en-US" sz="2800" b="0" i="1" strike="noStrike" spc="-1" smtClean="0">
                            <a:solidFill>
                              <a:srgbClr val="000000"/>
                            </a:solidFill>
                            <a:uFill>
                              <a:solidFill>
                                <a:srgbClr val="FFFFFF"/>
                              </a:solidFill>
                            </a:uFill>
                            <a:latin typeface="Cambria Math"/>
                          </a:rPr>
                          <m:t>𝑥</m:t>
                        </m:r>
                        <m:r>
                          <a:rPr lang="en-US" sz="2800" b="0" i="1" strike="noStrike" spc="-1" smtClean="0">
                            <a:solidFill>
                              <a:srgbClr val="000000"/>
                            </a:solidFill>
                            <a:uFill>
                              <a:solidFill>
                                <a:srgbClr val="FFFFFF"/>
                              </a:solidFill>
                            </a:uFill>
                            <a:latin typeface="Cambria Math"/>
                          </a:rPr>
                          <m:t>.</m:t>
                        </m:r>
                        <m:r>
                          <a:rPr lang="en-US" sz="2800" b="0" i="1" strike="noStrike" spc="-1" smtClean="0">
                            <a:solidFill>
                              <a:srgbClr val="000000"/>
                            </a:solidFill>
                            <a:uFill>
                              <a:solidFill>
                                <a:srgbClr val="FFFFFF"/>
                              </a:solidFill>
                            </a:uFill>
                            <a:latin typeface="Cambria Math"/>
                          </a:rPr>
                          <m:t>𝑥</m:t>
                        </m:r>
                      </m:e>
                    </m:d>
                    <m:r>
                      <a:rPr lang="en-US" sz="2800" b="0" i="1" strike="noStrike" spc="-1" smtClean="0">
                        <a:solidFill>
                          <a:srgbClr val="000000"/>
                        </a:solidFill>
                        <a:uFill>
                          <a:solidFill>
                            <a:srgbClr val="FFFFFF"/>
                          </a:solidFill>
                        </a:uFill>
                        <a:latin typeface="Cambria Math"/>
                      </a:rPr>
                      <m:t>𝑦</m:t>
                    </m:r>
                    <m:r>
                      <a:rPr lang="en-US" sz="2800" b="0" i="1" strike="noStrike" spc="-1" smtClean="0">
                        <a:solidFill>
                          <a:srgbClr val="000000"/>
                        </a:solidFill>
                        <a:uFill>
                          <a:solidFill>
                            <a:srgbClr val="FFFFFF"/>
                          </a:solidFill>
                        </a:uFill>
                        <a:latin typeface="Cambria Math"/>
                      </a:rPr>
                      <m:t> </m:t>
                    </m:r>
                  </m:oMath>
                </a14:m>
                <a:endParaRPr lang="en-US" sz="2800" b="0" strike="noStrike" spc="-1" dirty="0" smtClean="0">
                  <a:solidFill>
                    <a:srgbClr val="000000"/>
                  </a:solidFill>
                  <a:uFill>
                    <a:solidFill>
                      <a:srgbClr val="FFFFFF"/>
                    </a:solidFill>
                  </a:uFill>
                  <a:latin typeface="Calibri"/>
                </a:endParaRPr>
              </a:p>
              <a:p>
                <a:pPr>
                  <a:lnSpc>
                    <a:spcPct val="100000"/>
                  </a:lnSpc>
                </a:pPr>
                <a:r>
                  <a:rPr lang="en-US" sz="2800" spc="-1" dirty="0">
                    <a:solidFill>
                      <a:srgbClr val="000000"/>
                    </a:solidFill>
                    <a:uFill>
                      <a:solidFill>
                        <a:srgbClr val="FFFFFF"/>
                      </a:solidFill>
                    </a:uFill>
                    <a:latin typeface="Calibri"/>
                  </a:rPr>
                  <a:t>	</a:t>
                </a:r>
                <a:r>
                  <a:rPr lang="en-US" sz="2800" spc="-1" dirty="0" smtClean="0">
                    <a:solidFill>
                      <a:srgbClr val="000000"/>
                    </a:solidFill>
                    <a:uFill>
                      <a:solidFill>
                        <a:srgbClr val="FFFFFF"/>
                      </a:solidFill>
                    </a:uFill>
                    <a:latin typeface="Calibri"/>
                  </a:rPr>
                  <a:t>			</a:t>
                </a:r>
                <a:r>
                  <a:rPr lang="en-US" sz="2800" spc="-1" dirty="0" smtClean="0">
                    <a:solidFill>
                      <a:srgbClr val="000000"/>
                    </a:solidFill>
                    <a:uFill>
                      <a:solidFill>
                        <a:srgbClr val="FFFFFF"/>
                      </a:solidFill>
                    </a:uFill>
                    <a:latin typeface="Calibri"/>
                  </a:rPr>
                  <a:t>functions</a:t>
                </a:r>
                <a:endParaRPr lang="en-US" sz="2800" b="0" strike="noStrike" spc="-1" dirty="0" smtClean="0">
                  <a:solidFill>
                    <a:srgbClr val="000000"/>
                  </a:solidFill>
                  <a:uFill>
                    <a:solidFill>
                      <a:srgbClr val="FFFFFF"/>
                    </a:solidFill>
                  </a:uFill>
                  <a:latin typeface="Calibri"/>
                </a:endParaRPr>
              </a:p>
              <a:p>
                <a:pPr marL="457200" indent="-457200">
                  <a:lnSpc>
                    <a:spcPct val="100000"/>
                  </a:lnSpc>
                  <a:buFont typeface="Arial" panose="020B0604020202020204" pitchFamily="34" charset="0"/>
                  <a:buChar char="•"/>
                </a:pPr>
                <a:endParaRPr lang="en-US" sz="2800" spc="-1" dirty="0">
                  <a:solidFill>
                    <a:srgbClr val="000000"/>
                  </a:solidFill>
                  <a:uFill>
                    <a:solidFill>
                      <a:srgbClr val="FFFFFF"/>
                    </a:solidFill>
                  </a:uFill>
                  <a:latin typeface="Calibri"/>
                </a:endParaRPr>
              </a:p>
              <a:p>
                <a:pPr>
                  <a:lnSpc>
                    <a:spcPct val="100000"/>
                  </a:lnSpc>
                </a:pPr>
                <a:r>
                  <a:rPr lang="en-US" sz="2800" b="0" strike="noStrike" spc="-1" dirty="0" smtClean="0">
                    <a:solidFill>
                      <a:srgbClr val="000000"/>
                    </a:solidFill>
                    <a:uFill>
                      <a:solidFill>
                        <a:srgbClr val="FFFFFF"/>
                      </a:solidFill>
                    </a:uFill>
                    <a:latin typeface="Calibri"/>
                  </a:rPr>
                  <a:t>Expressions			names, functions, 		</a:t>
                </a:r>
                <a:r>
                  <a:rPr lang="en-US" sz="2800" spc="-1" dirty="0">
                    <a:solidFill>
                      <a:srgbClr val="000000"/>
                    </a:solidFill>
                    <a:uFill>
                      <a:solidFill>
                        <a:srgbClr val="FFFFFF"/>
                      </a:solidFill>
                    </a:uFill>
                    <a:cs typeface="Courier New" panose="02070309020205020404" pitchFamily="49" charset="0"/>
                  </a:rPr>
                  <a:t> </a:t>
                </a:r>
                <a14:m>
                  <m:oMath xmlns:m="http://schemas.openxmlformats.org/officeDocument/2006/math">
                    <m:r>
                      <a:rPr lang="en-US" sz="2800" i="1" spc="-1" dirty="0">
                        <a:solidFill>
                          <a:srgbClr val="000000"/>
                        </a:solidFill>
                        <a:uFill>
                          <a:solidFill>
                            <a:srgbClr val="FFFFFF"/>
                          </a:solidFill>
                        </a:uFill>
                        <a:latin typeface="Cambria Math"/>
                        <a:cs typeface="Courier New" panose="02070309020205020404" pitchFamily="49" charset="0"/>
                      </a:rPr>
                      <m:t>𝑎</m:t>
                    </m:r>
                  </m:oMath>
                </a14:m>
                <a:endParaRPr lang="en-US" sz="2800" b="0" strike="noStrike" spc="-1" dirty="0" smtClean="0">
                  <a:solidFill>
                    <a:srgbClr val="000000"/>
                  </a:solidFill>
                  <a:uFill>
                    <a:solidFill>
                      <a:srgbClr val="FFFFFF"/>
                    </a:solidFill>
                  </a:uFill>
                  <a:latin typeface="Calibri"/>
                </a:endParaRPr>
              </a:p>
              <a:p>
                <a:pPr lvl="1"/>
                <a:r>
                  <a:rPr lang="en-US" sz="2800" spc="-1" dirty="0">
                    <a:solidFill>
                      <a:srgbClr val="000000"/>
                    </a:solidFill>
                    <a:uFill>
                      <a:solidFill>
                        <a:srgbClr val="FFFFFF"/>
                      </a:solidFill>
                    </a:uFill>
                    <a:latin typeface="Calibri"/>
                  </a:rPr>
                  <a:t>	</a:t>
                </a:r>
                <a:r>
                  <a:rPr lang="en-US" sz="2800" spc="-1" dirty="0" smtClean="0">
                    <a:solidFill>
                      <a:srgbClr val="000000"/>
                    </a:solidFill>
                    <a:uFill>
                      <a:solidFill>
                        <a:srgbClr val="FFFFFF"/>
                      </a:solidFill>
                    </a:uFill>
                    <a:latin typeface="Calibri"/>
                  </a:rPr>
                  <a:t>			or applications		</a:t>
                </a:r>
                <a:r>
                  <a:rPr lang="el-GR" sz="2800" spc="-1" dirty="0">
                    <a:solidFill>
                      <a:srgbClr val="000000"/>
                    </a:solidFill>
                    <a:uFill>
                      <a:solidFill>
                        <a:srgbClr val="FFFFFF"/>
                      </a:solidFill>
                    </a:uFill>
                    <a:cs typeface="Courier New" panose="02070309020205020404" pitchFamily="49" charset="0"/>
                  </a:rPr>
                  <a:t> </a:t>
                </a:r>
                <a14:m>
                  <m:oMath xmlns:m="http://schemas.openxmlformats.org/officeDocument/2006/math">
                    <m:r>
                      <a:rPr lang="el-GR" sz="2800" i="1" spc="-1" dirty="0">
                        <a:solidFill>
                          <a:srgbClr val="000000"/>
                        </a:solidFill>
                        <a:uFill>
                          <a:solidFill>
                            <a:srgbClr val="FFFFFF"/>
                          </a:solidFill>
                        </a:uFill>
                        <a:latin typeface="Cambria Math"/>
                        <a:cs typeface="Courier New" panose="02070309020205020404" pitchFamily="49" charset="0"/>
                      </a:rPr>
                      <m:t>𝜆</m:t>
                    </m:r>
                    <m:r>
                      <a:rPr lang="en-US" sz="2800" i="1" spc="-1" dirty="0" err="1">
                        <a:solidFill>
                          <a:srgbClr val="000000"/>
                        </a:solidFill>
                        <a:uFill>
                          <a:solidFill>
                            <a:srgbClr val="FFFFFF"/>
                          </a:solidFill>
                        </a:uFill>
                        <a:latin typeface="Cambria Math"/>
                        <a:cs typeface="Courier New" panose="02070309020205020404" pitchFamily="49" charset="0"/>
                      </a:rPr>
                      <m:t>𝑥</m:t>
                    </m:r>
                    <m:r>
                      <a:rPr lang="en-US" sz="2800" i="1" spc="-1" dirty="0">
                        <a:solidFill>
                          <a:srgbClr val="000000"/>
                        </a:solidFill>
                        <a:uFill>
                          <a:solidFill>
                            <a:srgbClr val="FFFFFF"/>
                          </a:solidFill>
                        </a:uFill>
                        <a:latin typeface="Cambria Math"/>
                        <a:cs typeface="Courier New" panose="02070309020205020404" pitchFamily="49" charset="0"/>
                      </a:rPr>
                      <m:t>.</m:t>
                    </m:r>
                    <m:r>
                      <a:rPr lang="en-US" sz="2800" i="1" spc="-1" dirty="0" err="1">
                        <a:solidFill>
                          <a:srgbClr val="000000"/>
                        </a:solidFill>
                        <a:uFill>
                          <a:solidFill>
                            <a:srgbClr val="FFFFFF"/>
                          </a:solidFill>
                        </a:uFill>
                        <a:latin typeface="Cambria Math"/>
                        <a:cs typeface="Courier New" panose="02070309020205020404" pitchFamily="49" charset="0"/>
                      </a:rPr>
                      <m:t>𝑥</m:t>
                    </m:r>
                  </m:oMath>
                </a14:m>
                <a:endParaRPr lang="en-US" sz="2800" b="0" strike="noStrike" spc="-1" dirty="0" smtClean="0">
                  <a:solidFill>
                    <a:srgbClr val="000000"/>
                  </a:solidFill>
                  <a:uFill>
                    <a:solidFill>
                      <a:srgbClr val="FFFFFF"/>
                    </a:solidFill>
                  </a:uFill>
                  <a:latin typeface="Calibri"/>
                </a:endParaRPr>
              </a:p>
              <a:p>
                <a:pPr lvl="1"/>
                <a:r>
                  <a:rPr lang="en-US" sz="2800" b="0" strike="noStrike" spc="-1" dirty="0" smtClean="0">
                    <a:solidFill>
                      <a:srgbClr val="000000"/>
                    </a:solidFill>
                    <a:uFill>
                      <a:solidFill>
                        <a:srgbClr val="FFFFFF"/>
                      </a:solidFill>
                    </a:uFill>
                    <a:latin typeface="Calibri"/>
                  </a:rPr>
                  <a:t>								 </a:t>
                </a:r>
                <a14:m>
                  <m:oMath xmlns:m="http://schemas.openxmlformats.org/officeDocument/2006/math">
                    <m:d>
                      <m:dPr>
                        <m:ctrlPr>
                          <a:rPr lang="en-US" sz="2800" i="1" spc="-1">
                            <a:solidFill>
                              <a:srgbClr val="000000"/>
                            </a:solidFill>
                            <a:uFill>
                              <a:solidFill>
                                <a:srgbClr val="FFFFFF"/>
                              </a:solidFill>
                            </a:uFill>
                            <a:latin typeface="Cambria Math" panose="02040503050406030204" pitchFamily="18" charset="0"/>
                          </a:rPr>
                        </m:ctrlPr>
                      </m:dPr>
                      <m:e>
                        <m:r>
                          <a:rPr lang="el-GR" sz="2800" i="1" spc="-1" dirty="0">
                            <a:solidFill>
                              <a:srgbClr val="000000"/>
                            </a:solidFill>
                            <a:uFill>
                              <a:solidFill>
                                <a:srgbClr val="FFFFFF"/>
                              </a:solidFill>
                            </a:uFill>
                            <a:latin typeface="Cambria Math"/>
                            <a:cs typeface="Courier New" panose="02070309020205020404" pitchFamily="49" charset="0"/>
                          </a:rPr>
                          <m:t>𝜆</m:t>
                        </m:r>
                        <m:r>
                          <a:rPr lang="en-US" sz="2800" i="1" spc="-1">
                            <a:solidFill>
                              <a:srgbClr val="000000"/>
                            </a:solidFill>
                            <a:uFill>
                              <a:solidFill>
                                <a:srgbClr val="FFFFFF"/>
                              </a:solidFill>
                            </a:uFill>
                            <a:latin typeface="Cambria Math"/>
                          </a:rPr>
                          <m:t>𝑥</m:t>
                        </m:r>
                        <m:r>
                          <a:rPr lang="en-US" sz="2800" i="1" spc="-1">
                            <a:solidFill>
                              <a:srgbClr val="000000"/>
                            </a:solidFill>
                            <a:uFill>
                              <a:solidFill>
                                <a:srgbClr val="FFFFFF"/>
                              </a:solidFill>
                            </a:uFill>
                            <a:latin typeface="Cambria Math"/>
                          </a:rPr>
                          <m:t>.</m:t>
                        </m:r>
                        <m:r>
                          <a:rPr lang="en-US" sz="2800" i="1" spc="-1">
                            <a:solidFill>
                              <a:srgbClr val="000000"/>
                            </a:solidFill>
                            <a:uFill>
                              <a:solidFill>
                                <a:srgbClr val="FFFFFF"/>
                              </a:solidFill>
                            </a:uFill>
                            <a:latin typeface="Cambria Math"/>
                          </a:rPr>
                          <m:t>𝑥</m:t>
                        </m:r>
                      </m:e>
                    </m:d>
                    <m:r>
                      <a:rPr lang="en-US" sz="2800" i="1" spc="-1">
                        <a:solidFill>
                          <a:srgbClr val="000000"/>
                        </a:solidFill>
                        <a:uFill>
                          <a:solidFill>
                            <a:srgbClr val="FFFFFF"/>
                          </a:solidFill>
                        </a:uFill>
                        <a:latin typeface="Cambria Math"/>
                      </a:rPr>
                      <m:t>𝑦</m:t>
                    </m:r>
                    <m:r>
                      <a:rPr lang="en-US" sz="2800" b="0" i="1" spc="-1" smtClean="0">
                        <a:solidFill>
                          <a:srgbClr val="000000"/>
                        </a:solidFill>
                        <a:uFill>
                          <a:solidFill>
                            <a:srgbClr val="FFFFFF"/>
                          </a:solidFill>
                        </a:uFill>
                        <a:latin typeface="Cambria Math"/>
                      </a:rPr>
                      <m:t> </m:t>
                    </m:r>
                  </m:oMath>
                </a14:m>
                <a:endParaRPr lang="en-US" sz="2800" spc="-1" dirty="0">
                  <a:solidFill>
                    <a:srgbClr val="000000"/>
                  </a:solidFill>
                  <a:uFill>
                    <a:solidFill>
                      <a:srgbClr val="FFFFFF"/>
                    </a:solidFill>
                  </a:uFill>
                  <a:latin typeface="Calibri"/>
                </a:endParaRPr>
              </a:p>
              <a:p>
                <a:pPr lvl="1"/>
                <a:endParaRPr lang="en-US" sz="2800" b="0" strike="noStrike" spc="-1" dirty="0">
                  <a:solidFill>
                    <a:srgbClr val="000000"/>
                  </a:solidFill>
                  <a:uFill>
                    <a:solidFill>
                      <a:srgbClr val="FFFFFF"/>
                    </a:solidFill>
                  </a:uFill>
                  <a:latin typeface="Calibri"/>
                </a:endParaRPr>
              </a:p>
            </p:txBody>
          </p:sp>
        </mc:Choice>
        <mc:Fallback>
          <p:sp>
            <p:nvSpPr>
              <p:cNvPr id="87" name="TextShape 2"/>
              <p:cNvSpPr txBox="1">
                <a:spLocks noRot="1" noChangeAspect="1" noMove="1" noResize="1" noEditPoints="1" noAdjustHandles="1" noChangeArrowheads="1" noChangeShapeType="1" noTextEdit="1"/>
              </p:cNvSpPr>
              <p:nvPr/>
            </p:nvSpPr>
            <p:spPr>
              <a:xfrm>
                <a:off x="838080" y="1825560"/>
                <a:ext cx="10515240" cy="4803840"/>
              </a:xfrm>
              <a:prstGeom prst="rect">
                <a:avLst/>
              </a:prstGeom>
              <a:blipFill rotWithShape="0">
                <a:blip r:embed="rId3"/>
                <a:stretch>
                  <a:fillRect l="-1159" t="-1521"/>
                </a:stretch>
              </a:blipFill>
              <a:ln>
                <a:noFill/>
              </a:ln>
            </p:spPr>
            <p:txBody>
              <a:bodyPr/>
              <a:lstStyle/>
              <a:p>
                <a:r>
                  <a:rPr lang="en-US">
                    <a:noFill/>
                  </a:rPr>
                  <a:t> </a:t>
                </a:r>
              </a:p>
            </p:txBody>
          </p:sp>
        </mc:Fallback>
      </mc:AlternateContent>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pc="-1" dirty="0" smtClean="0">
                <a:solidFill>
                  <a:srgbClr val="000000"/>
                </a:solidFill>
                <a:uFill>
                  <a:solidFill>
                    <a:srgbClr val="FFFFFF"/>
                  </a:solidFill>
                </a:uFill>
                <a:latin typeface="Calibri Light"/>
              </a:rPr>
              <a:t>Fundamentals, continued</a:t>
            </a:r>
            <a:endParaRPr lang="en-US" sz="4400" b="1" spc="-1" dirty="0">
              <a:solidFill>
                <a:srgbClr val="000000"/>
              </a:solidFill>
              <a:uFill>
                <a:solidFill>
                  <a:srgbClr val="FFFFFF"/>
                </a:solidFill>
              </a:uFill>
              <a:latin typeface="Calibri"/>
            </a:endParaRPr>
          </a:p>
        </p:txBody>
      </p:sp>
      <p:sp>
        <p:nvSpPr>
          <p:cNvPr id="87" name="TextShape 2"/>
          <p:cNvSpPr txBox="1"/>
          <p:nvPr/>
        </p:nvSpPr>
        <p:spPr>
          <a:xfrm>
            <a:off x="828555" y="1825560"/>
            <a:ext cx="10515240" cy="4803840"/>
          </a:xfrm>
          <a:prstGeom prst="rect">
            <a:avLst/>
          </a:prstGeom>
          <a:noFill/>
          <a:ln>
            <a:noFill/>
          </a:ln>
        </p:spPr>
        <p:txBody>
          <a:bodyPr/>
          <a:lstStyle/>
          <a:p>
            <a:pPr marL="457200" indent="-457200">
              <a:buFont typeface="Arial" panose="020B0604020202020204" pitchFamily="34" charset="0"/>
              <a:buChar char="•"/>
            </a:pPr>
            <a:r>
              <a:rPr lang="en-US" sz="2800" i="1" spc="-1" dirty="0" smtClean="0">
                <a:solidFill>
                  <a:srgbClr val="000000"/>
                </a:solidFill>
                <a:uFill>
                  <a:solidFill>
                    <a:srgbClr val="FFFFFF"/>
                  </a:solidFill>
                </a:uFill>
                <a:latin typeface="Calibri"/>
              </a:rPr>
              <a:t>Everything</a:t>
            </a:r>
            <a:r>
              <a:rPr lang="en-US" sz="2800" spc="-1" dirty="0" smtClean="0">
                <a:solidFill>
                  <a:srgbClr val="000000"/>
                </a:solidFill>
                <a:uFill>
                  <a:solidFill>
                    <a:srgbClr val="FFFFFF"/>
                  </a:solidFill>
                </a:uFill>
                <a:latin typeface="Calibri"/>
              </a:rPr>
              <a:t> in pure (</a:t>
            </a:r>
            <a:r>
              <a:rPr lang="en-US" sz="2800" spc="-1" dirty="0" err="1" smtClean="0">
                <a:solidFill>
                  <a:srgbClr val="000000"/>
                </a:solidFill>
                <a:uFill>
                  <a:solidFill>
                    <a:srgbClr val="FFFFFF"/>
                  </a:solidFill>
                </a:uFill>
                <a:latin typeface="Calibri"/>
              </a:rPr>
              <a:t>untyped</a:t>
            </a:r>
            <a:r>
              <a:rPr lang="en-US" sz="2800" spc="-1" dirty="0" smtClean="0">
                <a:solidFill>
                  <a:srgbClr val="000000"/>
                </a:solidFill>
                <a:uFill>
                  <a:solidFill>
                    <a:srgbClr val="FFFFFF"/>
                  </a:solidFill>
                </a:uFill>
                <a:latin typeface="Calibri"/>
              </a:rPr>
              <a:t>) </a:t>
            </a:r>
            <a:r>
              <a:rPr lang="el-GR" sz="2800" spc="-1" dirty="0" smtClean="0">
                <a:solidFill>
                  <a:srgbClr val="000000"/>
                </a:solidFill>
                <a:uFill>
                  <a:solidFill>
                    <a:srgbClr val="FFFFFF"/>
                  </a:solidFill>
                </a:uFill>
                <a:latin typeface="Calibri"/>
              </a:rPr>
              <a:t>λ</a:t>
            </a:r>
            <a:r>
              <a:rPr lang="en-US" sz="2800" spc="-1" dirty="0" smtClean="0">
                <a:solidFill>
                  <a:srgbClr val="000000"/>
                </a:solidFill>
                <a:uFill>
                  <a:solidFill>
                    <a:srgbClr val="FFFFFF"/>
                  </a:solidFill>
                </a:uFill>
                <a:latin typeface="Calibri"/>
              </a:rPr>
              <a:t>-calculus is a function; only concern is computation via name substitution.</a:t>
            </a:r>
          </a:p>
          <a:p>
            <a:pPr marL="457200" indent="-457200">
              <a:buFont typeface="Arial" panose="020B0604020202020204" pitchFamily="34" charset="0"/>
              <a:buChar char="•"/>
            </a:pPr>
            <a:endParaRPr lang="en-US" sz="2800" b="0" strike="noStrike" spc="-1" dirty="0">
              <a:solidFill>
                <a:srgbClr val="000000"/>
              </a:solidFill>
              <a:uFill>
                <a:solidFill>
                  <a:srgbClr val="FFFFFF"/>
                </a:solidFill>
              </a:uFill>
              <a:latin typeface="Calibri"/>
            </a:endParaRPr>
          </a:p>
          <a:p>
            <a:pPr marL="457200" indent="-457200">
              <a:buFont typeface="Arial" panose="020B0604020202020204" pitchFamily="34" charset="0"/>
              <a:buChar char="•"/>
            </a:pPr>
            <a:r>
              <a:rPr lang="en-US" sz="2800" spc="-1" dirty="0" smtClean="0">
                <a:solidFill>
                  <a:srgbClr val="000000"/>
                </a:solidFill>
                <a:uFill>
                  <a:solidFill>
                    <a:srgbClr val="FFFFFF"/>
                  </a:solidFill>
                </a:uFill>
                <a:latin typeface="Calibri"/>
              </a:rPr>
              <a:t>All names are local to </a:t>
            </a:r>
            <a:r>
              <a:rPr lang="en-US" sz="2800" spc="-1" dirty="0" smtClean="0">
                <a:solidFill>
                  <a:srgbClr val="000000"/>
                </a:solidFill>
                <a:uFill>
                  <a:solidFill>
                    <a:srgbClr val="FFFFFF"/>
                  </a:solidFill>
                </a:uFill>
                <a:latin typeface="Calibri"/>
              </a:rPr>
              <a:t>expressions.</a:t>
            </a:r>
            <a:endParaRPr lang="en-US" sz="2800" spc="-1" dirty="0" smtClean="0">
              <a:solidFill>
                <a:srgbClr val="000000"/>
              </a:solidFill>
              <a:uFill>
                <a:solidFill>
                  <a:srgbClr val="FFFFFF"/>
                </a:solidFill>
              </a:uFill>
              <a:latin typeface="Calibri"/>
            </a:endParaRPr>
          </a:p>
          <a:p>
            <a:pPr marL="457200" indent="-457200">
              <a:buFont typeface="Arial" panose="020B0604020202020204" pitchFamily="34" charset="0"/>
              <a:buChar char="•"/>
            </a:pPr>
            <a:endParaRPr lang="en-US" sz="2800" b="0" strike="noStrike" spc="-1" dirty="0">
              <a:solidFill>
                <a:srgbClr val="000000"/>
              </a:solidFill>
              <a:uFill>
                <a:solidFill>
                  <a:srgbClr val="FFFFFF"/>
                </a:solidFill>
              </a:uFill>
              <a:latin typeface="Calibri"/>
            </a:endParaRPr>
          </a:p>
          <a:p>
            <a:pPr marL="457200" indent="-457200">
              <a:buFont typeface="Arial" panose="020B0604020202020204" pitchFamily="34" charset="0"/>
              <a:buChar char="•"/>
            </a:pPr>
            <a:r>
              <a:rPr lang="en-US" sz="2800" spc="-1" dirty="0" smtClean="0">
                <a:solidFill>
                  <a:srgbClr val="000000"/>
                </a:solidFill>
                <a:uFill>
                  <a:solidFill>
                    <a:srgbClr val="FFFFFF"/>
                  </a:solidFill>
                </a:uFill>
                <a:latin typeface="Calibri"/>
              </a:rPr>
              <a:t>There are only a few different strategies used to evaluate functions, which we will cover in a bit.</a:t>
            </a:r>
          </a:p>
          <a:p>
            <a:pPr marL="457200" indent="-457200">
              <a:buFont typeface="Arial" panose="020B0604020202020204" pitchFamily="34" charset="0"/>
              <a:buChar char="•"/>
            </a:pPr>
            <a:endParaRPr lang="en-US" sz="2800" spc="-1" dirty="0">
              <a:solidFill>
                <a:srgbClr val="000000"/>
              </a:solidFill>
              <a:uFill>
                <a:solidFill>
                  <a:srgbClr val="FFFFFF"/>
                </a:solidFill>
              </a:uFill>
              <a:latin typeface="Calibri"/>
            </a:endParaRPr>
          </a:p>
          <a:p>
            <a:pPr marL="457200" indent="-457200">
              <a:buFont typeface="Arial" panose="020B0604020202020204" pitchFamily="34" charset="0"/>
              <a:buChar char="•"/>
            </a:pPr>
            <a:endParaRPr lang="en-US" sz="2800" spc="-1" dirty="0" smtClean="0">
              <a:solidFill>
                <a:srgbClr val="000000"/>
              </a:solidFill>
              <a:uFill>
                <a:solidFill>
                  <a:srgbClr val="FFFFFF"/>
                </a:solidFill>
              </a:uFill>
              <a:latin typeface="Calibri"/>
            </a:endParaRPr>
          </a:p>
          <a:p>
            <a:endParaRPr lang="en-US" sz="2800" b="0" strike="noStrike" spc="-1" dirty="0">
              <a:solidFill>
                <a:srgbClr val="000000"/>
              </a:solidFill>
              <a:uFill>
                <a:solidFill>
                  <a:srgbClr val="FFFFFF"/>
                </a:solidFill>
              </a:uFill>
              <a:latin typeface="Calibri"/>
            </a:endParaRPr>
          </a:p>
        </p:txBody>
      </p:sp>
    </p:spTree>
    <p:extLst>
      <p:ext uri="{BB962C8B-B14F-4D97-AF65-F5344CB8AC3E}">
        <p14:creationId xmlns:p14="http://schemas.microsoft.com/office/powerpoint/2010/main" val="357535087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pc="-1" dirty="0" smtClean="0">
                <a:solidFill>
                  <a:srgbClr val="000000"/>
                </a:solidFill>
                <a:uFill>
                  <a:solidFill>
                    <a:srgbClr val="FFFFFF"/>
                  </a:solidFill>
                </a:uFill>
                <a:latin typeface="Calibri Light"/>
              </a:rPr>
              <a:t>Evaluation</a:t>
            </a:r>
            <a:endParaRPr lang="en-US" sz="4400" b="1" spc="-1" dirty="0">
              <a:solidFill>
                <a:srgbClr val="000000"/>
              </a:solidFill>
              <a:uFill>
                <a:solidFill>
                  <a:srgbClr val="FFFFFF"/>
                </a:solidFill>
              </a:uFill>
              <a:latin typeface="Calibri"/>
            </a:endParaRPr>
          </a:p>
        </p:txBody>
      </p:sp>
      <p:sp>
        <p:nvSpPr>
          <p:cNvPr id="87" name="TextShape 2"/>
          <p:cNvSpPr txBox="1"/>
          <p:nvPr/>
        </p:nvSpPr>
        <p:spPr>
          <a:xfrm>
            <a:off x="828555" y="1825560"/>
            <a:ext cx="10515240" cy="4803840"/>
          </a:xfrm>
          <a:prstGeom prst="rect">
            <a:avLst/>
          </a:prstGeom>
          <a:noFill/>
          <a:ln>
            <a:noFill/>
          </a:ln>
        </p:spPr>
        <p:txBody>
          <a:bodyPr/>
          <a:lstStyle/>
          <a:p>
            <a:pPr marL="457200" indent="-457200">
              <a:buFont typeface="Arial" panose="020B0604020202020204" pitchFamily="34" charset="0"/>
              <a:buChar char="•"/>
            </a:pPr>
            <a:r>
              <a:rPr lang="en-US" sz="2800" spc="-1" dirty="0" smtClean="0">
                <a:solidFill>
                  <a:srgbClr val="000000"/>
                </a:solidFill>
                <a:uFill>
                  <a:solidFill>
                    <a:srgbClr val="FFFFFF"/>
                  </a:solidFill>
                </a:uFill>
                <a:latin typeface="Calibri"/>
              </a:rPr>
              <a:t>When </a:t>
            </a:r>
            <a:r>
              <a:rPr lang="el-GR" sz="2800" spc="-1" dirty="0">
                <a:solidFill>
                  <a:srgbClr val="000000"/>
                </a:solidFill>
                <a:uFill>
                  <a:solidFill>
                    <a:srgbClr val="FFFFFF"/>
                  </a:solidFill>
                </a:uFill>
                <a:latin typeface="Calibri"/>
              </a:rPr>
              <a:t>λ</a:t>
            </a:r>
            <a:r>
              <a:rPr lang="en-US" sz="2800" spc="-1" dirty="0">
                <a:solidFill>
                  <a:srgbClr val="000000"/>
                </a:solidFill>
                <a:uFill>
                  <a:solidFill>
                    <a:srgbClr val="FFFFFF"/>
                  </a:solidFill>
                </a:uFill>
                <a:latin typeface="Calibri"/>
              </a:rPr>
              <a:t>-calculus </a:t>
            </a:r>
            <a:r>
              <a:rPr lang="en-US" sz="2800" spc="-1" dirty="0" smtClean="0">
                <a:solidFill>
                  <a:srgbClr val="000000"/>
                </a:solidFill>
                <a:uFill>
                  <a:solidFill>
                    <a:srgbClr val="FFFFFF"/>
                  </a:solidFill>
                </a:uFill>
                <a:latin typeface="Calibri"/>
              </a:rPr>
              <a:t>functions are evaluated, they are </a:t>
            </a:r>
            <a:r>
              <a:rPr lang="en-US" sz="2800" i="1" spc="-1" dirty="0" smtClean="0">
                <a:solidFill>
                  <a:srgbClr val="000000"/>
                </a:solidFill>
                <a:uFill>
                  <a:solidFill>
                    <a:srgbClr val="FFFFFF"/>
                  </a:solidFill>
                </a:uFill>
                <a:latin typeface="Calibri"/>
              </a:rPr>
              <a:t>resolved. </a:t>
            </a:r>
          </a:p>
          <a:p>
            <a:endParaRPr lang="en-US" sz="2800" i="1" spc="-1" dirty="0">
              <a:solidFill>
                <a:srgbClr val="000000"/>
              </a:solidFill>
              <a:uFill>
                <a:solidFill>
                  <a:srgbClr val="FFFFFF"/>
                </a:solidFill>
              </a:uFill>
              <a:latin typeface="Calibri"/>
            </a:endParaRPr>
          </a:p>
          <a:p>
            <a:pPr marL="457200" indent="-457200">
              <a:buFont typeface="Arial" panose="020B0604020202020204" pitchFamily="34" charset="0"/>
              <a:buChar char="•"/>
            </a:pPr>
            <a:r>
              <a:rPr lang="en-US" sz="2800" spc="-1" dirty="0" smtClean="0">
                <a:solidFill>
                  <a:srgbClr val="000000"/>
                </a:solidFill>
                <a:uFill>
                  <a:solidFill>
                    <a:srgbClr val="FFFFFF"/>
                  </a:solidFill>
                </a:uFill>
                <a:latin typeface="Calibri"/>
              </a:rPr>
              <a:t>Resolution goes as far as it can by using substitution.</a:t>
            </a:r>
          </a:p>
          <a:p>
            <a:endParaRPr lang="en-US" sz="2800" spc="-1" dirty="0">
              <a:solidFill>
                <a:srgbClr val="000000"/>
              </a:solidFill>
              <a:uFill>
                <a:solidFill>
                  <a:srgbClr val="FFFFFF"/>
                </a:solidFill>
              </a:uFill>
              <a:latin typeface="Calibri"/>
            </a:endParaRPr>
          </a:p>
          <a:p>
            <a:pPr marL="457200" indent="-457200">
              <a:buFont typeface="Arial" panose="020B0604020202020204" pitchFamily="34" charset="0"/>
              <a:buChar char="•"/>
            </a:pPr>
            <a:r>
              <a:rPr lang="en-US" sz="2800" spc="-1" dirty="0" smtClean="0">
                <a:solidFill>
                  <a:srgbClr val="000000"/>
                </a:solidFill>
                <a:uFill>
                  <a:solidFill>
                    <a:srgbClr val="FFFFFF"/>
                  </a:solidFill>
                </a:uFill>
                <a:latin typeface="Calibri"/>
              </a:rPr>
              <a:t>Completion occurs when there are no more functions to evaluate. This simplest form is called </a:t>
            </a:r>
            <a:r>
              <a:rPr lang="en-US" sz="2800" i="1" spc="-1" dirty="0" smtClean="0">
                <a:solidFill>
                  <a:srgbClr val="000000"/>
                </a:solidFill>
                <a:uFill>
                  <a:solidFill>
                    <a:srgbClr val="FFFFFF"/>
                  </a:solidFill>
                </a:uFill>
                <a:latin typeface="Calibri"/>
              </a:rPr>
              <a:t>normal form.</a:t>
            </a:r>
          </a:p>
          <a:p>
            <a:endParaRPr lang="en-US" sz="2800" i="1" spc="-1" dirty="0" smtClean="0">
              <a:solidFill>
                <a:srgbClr val="000000"/>
              </a:solidFill>
              <a:uFill>
                <a:solidFill>
                  <a:srgbClr val="FFFFFF"/>
                </a:solidFill>
              </a:uFill>
              <a:latin typeface="Calibri"/>
            </a:endParaRPr>
          </a:p>
          <a:p>
            <a:pPr marL="457200" indent="-457200">
              <a:buFont typeface="Arial" panose="020B0604020202020204" pitchFamily="34" charset="0"/>
              <a:buChar char="•"/>
            </a:pPr>
            <a:r>
              <a:rPr lang="en-US" sz="2800" spc="-1" dirty="0" smtClean="0">
                <a:solidFill>
                  <a:srgbClr val="000000"/>
                </a:solidFill>
                <a:uFill>
                  <a:solidFill>
                    <a:srgbClr val="FFFFFF"/>
                  </a:solidFill>
                </a:uFill>
                <a:latin typeface="Calibri"/>
              </a:rPr>
              <a:t>Next, we look at some resolution rules and strategies.</a:t>
            </a:r>
            <a:endParaRPr lang="en-US" sz="2800" spc="-1" dirty="0">
              <a:solidFill>
                <a:srgbClr val="000000"/>
              </a:solidFill>
              <a:uFill>
                <a:solidFill>
                  <a:srgbClr val="FFFFFF"/>
                </a:solidFill>
              </a:uFill>
              <a:latin typeface="Calibri"/>
            </a:endParaRPr>
          </a:p>
          <a:p>
            <a:pPr marL="971550" lvl="1" indent="-514350">
              <a:buFont typeface="+mj-lt"/>
              <a:buAutoNum type="arabicPeriod"/>
            </a:pPr>
            <a:endParaRPr lang="en-US" sz="2800" spc="-1" dirty="0" smtClean="0">
              <a:solidFill>
                <a:srgbClr val="000000"/>
              </a:solidFill>
              <a:uFill>
                <a:solidFill>
                  <a:srgbClr val="FFFFFF"/>
                </a:solidFill>
              </a:uFill>
              <a:latin typeface="Calibri"/>
            </a:endParaRPr>
          </a:p>
          <a:p>
            <a:endParaRPr lang="en-US" sz="2800" b="0" strike="noStrike" spc="-1" dirty="0">
              <a:solidFill>
                <a:srgbClr val="000000"/>
              </a:solidFill>
              <a:uFill>
                <a:solidFill>
                  <a:srgbClr val="FFFFFF"/>
                </a:solidFill>
              </a:uFill>
              <a:latin typeface="Calibri"/>
            </a:endParaRPr>
          </a:p>
        </p:txBody>
      </p:sp>
    </p:spTree>
    <p:extLst>
      <p:ext uri="{BB962C8B-B14F-4D97-AF65-F5344CB8AC3E}">
        <p14:creationId xmlns:p14="http://schemas.microsoft.com/office/powerpoint/2010/main" val="328823535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pc="-1" dirty="0" smtClean="0">
                <a:solidFill>
                  <a:srgbClr val="000000"/>
                </a:solidFill>
                <a:uFill>
                  <a:solidFill>
                    <a:srgbClr val="FFFFFF"/>
                  </a:solidFill>
                </a:uFill>
                <a:latin typeface="Calibri Light"/>
              </a:rPr>
              <a:t>Evaluation rule: </a:t>
            </a:r>
            <a:r>
              <a:rPr lang="en-US" sz="4400" b="1" spc="-1" dirty="0" smtClean="0">
                <a:solidFill>
                  <a:srgbClr val="000000"/>
                </a:solidFill>
                <a:uFill>
                  <a:solidFill>
                    <a:srgbClr val="FFFFFF"/>
                  </a:solidFill>
                </a:uFill>
                <a:latin typeface="Calibri Light"/>
              </a:rPr>
              <a:t>binding</a:t>
            </a:r>
            <a:endParaRPr lang="en-US" sz="4400" b="1" spc="-1" dirty="0">
              <a:solidFill>
                <a:srgbClr val="000000"/>
              </a:solidFill>
              <a:uFill>
                <a:solidFill>
                  <a:srgbClr val="FFFFFF"/>
                </a:solidFill>
              </a:uFill>
              <a:latin typeface="Calibri"/>
            </a:endParaRPr>
          </a:p>
        </p:txBody>
      </p:sp>
      <mc:AlternateContent xmlns:mc="http://schemas.openxmlformats.org/markup-compatibility/2006" xmlns:a14="http://schemas.microsoft.com/office/drawing/2010/main">
        <mc:Choice Requires="a14">
          <p:sp>
            <p:nvSpPr>
              <p:cNvPr id="95" name="TextShape 2"/>
              <p:cNvSpPr txBox="1"/>
              <p:nvPr/>
            </p:nvSpPr>
            <p:spPr>
              <a:xfrm>
                <a:off x="838080" y="1825560"/>
                <a:ext cx="10515240" cy="4350960"/>
              </a:xfrm>
              <a:prstGeom prst="rect">
                <a:avLst/>
              </a:prstGeom>
              <a:noFill/>
              <a:ln>
                <a:noFill/>
              </a:ln>
            </p:spPr>
            <p:txBody>
              <a:bodyPr/>
              <a:lstStyle/>
              <a:p>
                <a:pPr marL="360">
                  <a:lnSpc>
                    <a:spcPct val="90000"/>
                  </a:lnSpc>
                  <a:buClr>
                    <a:srgbClr val="000000"/>
                  </a:buClr>
                </a:pPr>
                <a:r>
                  <a:rPr lang="en-US" sz="2800" b="0" strike="noStrike" spc="-1" dirty="0" smtClean="0">
                    <a:solidFill>
                      <a:srgbClr val="000000"/>
                    </a:solidFill>
                    <a:uFill>
                      <a:solidFill>
                        <a:srgbClr val="FFFFFF"/>
                      </a:solidFill>
                    </a:uFill>
                    <a:latin typeface="Calibri"/>
                  </a:rPr>
                  <a:t>Variables </a:t>
                </a:r>
                <a:r>
                  <a:rPr lang="en-US" sz="2800" b="0" strike="noStrike" spc="-1" dirty="0">
                    <a:solidFill>
                      <a:srgbClr val="000000"/>
                    </a:solidFill>
                    <a:uFill>
                      <a:solidFill>
                        <a:srgbClr val="FFFFFF"/>
                      </a:solidFill>
                    </a:uFill>
                    <a:latin typeface="Calibri"/>
                  </a:rPr>
                  <a:t>in λ-calculus can be either </a:t>
                </a:r>
                <a:r>
                  <a:rPr lang="en-US" sz="2800" b="0" i="1" strike="noStrike" spc="-1" dirty="0">
                    <a:solidFill>
                      <a:srgbClr val="000000"/>
                    </a:solidFill>
                    <a:uFill>
                      <a:solidFill>
                        <a:srgbClr val="FFFFFF"/>
                      </a:solidFill>
                    </a:uFill>
                    <a:latin typeface="Calibri"/>
                  </a:rPr>
                  <a:t>bound</a:t>
                </a:r>
                <a:r>
                  <a:rPr lang="en-US" sz="2800" b="0" strike="noStrike" spc="-1" dirty="0">
                    <a:solidFill>
                      <a:srgbClr val="000000"/>
                    </a:solidFill>
                    <a:uFill>
                      <a:solidFill>
                        <a:srgbClr val="FFFFFF"/>
                      </a:solidFill>
                    </a:uFill>
                    <a:latin typeface="Calibri"/>
                  </a:rPr>
                  <a:t> or </a:t>
                </a:r>
                <a:r>
                  <a:rPr lang="en-US" sz="2800" b="0" i="1" strike="noStrike" spc="-1" dirty="0">
                    <a:solidFill>
                      <a:srgbClr val="000000"/>
                    </a:solidFill>
                    <a:uFill>
                      <a:solidFill>
                        <a:srgbClr val="FFFFFF"/>
                      </a:solidFill>
                    </a:uFill>
                    <a:latin typeface="Calibri"/>
                  </a:rPr>
                  <a:t>free</a:t>
                </a:r>
                <a:endParaRPr lang="en-US" sz="2800" b="0" strike="noStrike" spc="-1" dirty="0">
                  <a:solidFill>
                    <a:srgbClr val="000000"/>
                  </a:solidFill>
                  <a:uFill>
                    <a:solidFill>
                      <a:srgbClr val="FFFFFF"/>
                    </a:solidFill>
                  </a:uFill>
                  <a:latin typeface="Calibri"/>
                </a:endParaRPr>
              </a:p>
              <a:p>
                <a:pPr marL="685800" lvl="1" indent="-228240">
                  <a:lnSpc>
                    <a:spcPct val="100000"/>
                  </a:lnSpc>
                  <a:buClr>
                    <a:srgbClr val="000000"/>
                  </a:buClr>
                  <a:buFont typeface="Arial"/>
                  <a:buChar char="•"/>
                </a:pPr>
                <a:r>
                  <a:rPr lang="en-US" sz="2400" b="0" strike="noStrike" spc="-1" dirty="0">
                    <a:solidFill>
                      <a:srgbClr val="000000"/>
                    </a:solidFill>
                    <a:uFill>
                      <a:solidFill>
                        <a:srgbClr val="FFFFFF"/>
                      </a:solidFill>
                    </a:uFill>
                    <a:latin typeface="Calibri"/>
                  </a:rPr>
                  <a:t>Bound = variable bound to λ and within the scope of the λ operator’s </a:t>
                </a:r>
                <a:r>
                  <a:rPr lang="en-US" sz="2400" b="0" strike="noStrike" spc="-1" dirty="0" smtClean="0">
                    <a:solidFill>
                      <a:srgbClr val="000000"/>
                    </a:solidFill>
                    <a:uFill>
                      <a:solidFill>
                        <a:srgbClr val="FFFFFF"/>
                      </a:solidFill>
                    </a:uFill>
                    <a:latin typeface="Calibri"/>
                  </a:rPr>
                  <a:t>expression</a:t>
                </a:r>
                <a:endParaRPr lang="en-US" sz="2000" b="0" strike="noStrike" spc="-1" dirty="0">
                  <a:solidFill>
                    <a:srgbClr val="000000"/>
                  </a:solidFill>
                  <a:uFill>
                    <a:solidFill>
                      <a:srgbClr val="FFFFFF"/>
                    </a:solidFill>
                  </a:uFill>
                  <a:latin typeface="Calibri"/>
                </a:endParaRPr>
              </a:p>
              <a:p>
                <a:pPr marL="685800" lvl="1" indent="-228240">
                  <a:lnSpc>
                    <a:spcPct val="100000"/>
                  </a:lnSpc>
                  <a:buClr>
                    <a:srgbClr val="000000"/>
                  </a:buClr>
                  <a:buFont typeface="Arial"/>
                  <a:buChar char="•"/>
                </a:pPr>
                <a:r>
                  <a:rPr lang="en-US" sz="2400" b="0" strike="noStrike" spc="-1" dirty="0">
                    <a:solidFill>
                      <a:srgbClr val="000000"/>
                    </a:solidFill>
                    <a:uFill>
                      <a:solidFill>
                        <a:srgbClr val="FFFFFF"/>
                      </a:solidFill>
                    </a:uFill>
                    <a:latin typeface="Calibri"/>
                  </a:rPr>
                  <a:t>Free = variable not bound to λ and beyond the scope of the λ operator’s </a:t>
                </a:r>
                <a:r>
                  <a:rPr lang="en-US" sz="2400" b="0" strike="noStrike" spc="-1" dirty="0" smtClean="0">
                    <a:solidFill>
                      <a:srgbClr val="000000"/>
                    </a:solidFill>
                    <a:uFill>
                      <a:solidFill>
                        <a:srgbClr val="FFFFFF"/>
                      </a:solidFill>
                    </a:uFill>
                    <a:latin typeface="Calibri"/>
                  </a:rPr>
                  <a:t>expression</a:t>
                </a:r>
                <a:endParaRPr lang="en-US" sz="2000" b="0" strike="noStrike" spc="-1" dirty="0">
                  <a:solidFill>
                    <a:srgbClr val="000000"/>
                  </a:solidFill>
                  <a:uFill>
                    <a:solidFill>
                      <a:srgbClr val="FFFFFF"/>
                    </a:solidFill>
                  </a:uFill>
                  <a:latin typeface="Calibri"/>
                </a:endParaRPr>
              </a:p>
              <a:p>
                <a:pPr>
                  <a:lnSpc>
                    <a:spcPct val="100000"/>
                  </a:lnSpc>
                </a:pPr>
                <a:r>
                  <a:rPr lang="en-US" sz="2800" b="0" strike="noStrike" spc="-1" dirty="0">
                    <a:solidFill>
                      <a:srgbClr val="000000"/>
                    </a:solidFill>
                    <a:uFill>
                      <a:solidFill>
                        <a:srgbClr val="FFFFFF"/>
                      </a:solidFill>
                    </a:uFill>
                    <a:latin typeface="Calibri"/>
                  </a:rPr>
                  <a:t>		</a:t>
                </a:r>
                <a14:m>
                  <m:oMath xmlns:m="http://schemas.openxmlformats.org/officeDocument/2006/math">
                    <m:r>
                      <a:rPr lang="en-US" sz="2800" b="0" i="1" strike="noStrike" spc="-1" dirty="0" smtClean="0">
                        <a:solidFill>
                          <a:srgbClr val="000000"/>
                        </a:solidFill>
                        <a:uFill>
                          <a:solidFill>
                            <a:srgbClr val="FFFFFF"/>
                          </a:solidFill>
                        </a:uFill>
                        <a:latin typeface="Cambria Math"/>
                      </a:rPr>
                      <m:t>(</m:t>
                    </m:r>
                    <m:r>
                      <a:rPr lang="en-US" sz="2800" b="0" i="1" strike="noStrike" spc="-1" dirty="0" err="1">
                        <a:solidFill>
                          <a:srgbClr val="000000"/>
                        </a:solidFill>
                        <a:uFill>
                          <a:solidFill>
                            <a:srgbClr val="FFFFFF"/>
                          </a:solidFill>
                        </a:uFill>
                        <a:latin typeface="Cambria Math"/>
                      </a:rPr>
                      <m:t>𝜆</m:t>
                    </m:r>
                    <m:r>
                      <a:rPr lang="en-US" sz="2800" b="0" i="1" strike="noStrike" spc="-1" dirty="0" err="1">
                        <a:solidFill>
                          <a:srgbClr val="000000"/>
                        </a:solidFill>
                        <a:uFill>
                          <a:solidFill>
                            <a:srgbClr val="FFFFFF"/>
                          </a:solidFill>
                        </a:uFill>
                        <a:latin typeface="Cambria Math"/>
                      </a:rPr>
                      <m:t>𝑥</m:t>
                    </m:r>
                    <m:r>
                      <a:rPr lang="en-US" sz="2800" b="0" i="1" strike="noStrike" spc="-1" dirty="0" err="1">
                        <a:solidFill>
                          <a:srgbClr val="000000"/>
                        </a:solidFill>
                        <a:uFill>
                          <a:solidFill>
                            <a:srgbClr val="FFFFFF"/>
                          </a:solidFill>
                        </a:uFill>
                        <a:latin typeface="Cambria Math"/>
                      </a:rPr>
                      <m:t>.</m:t>
                    </m:r>
                    <m:r>
                      <a:rPr lang="en-US" sz="2800" b="0" i="1" strike="noStrike" spc="-1" dirty="0" err="1">
                        <a:solidFill>
                          <a:srgbClr val="000000"/>
                        </a:solidFill>
                        <a:uFill>
                          <a:solidFill>
                            <a:srgbClr val="FFFFFF"/>
                          </a:solidFill>
                        </a:uFill>
                        <a:latin typeface="Cambria Math"/>
                      </a:rPr>
                      <m:t>𝑥𝑦</m:t>
                    </m:r>
                  </m:oMath>
                </a14:m>
                <a:r>
                  <a:rPr lang="en-US" sz="2800" b="0" strike="noStrike" spc="-1" dirty="0" smtClean="0">
                    <a:solidFill>
                      <a:srgbClr val="000000"/>
                    </a:solidFill>
                    <a:uFill>
                      <a:solidFill>
                        <a:srgbClr val="FFFFFF"/>
                      </a:solidFill>
                    </a:uFill>
                    <a:latin typeface="Calibri"/>
                  </a:rPr>
                  <a:t>)</a:t>
                </a:r>
                <a:r>
                  <a:rPr lang="en-US" sz="2800" b="0" strike="noStrike" spc="-1" dirty="0">
                    <a:solidFill>
                      <a:srgbClr val="000000"/>
                    </a:solidFill>
                    <a:uFill>
                      <a:solidFill>
                        <a:srgbClr val="FFFFFF"/>
                      </a:solidFill>
                    </a:uFill>
                    <a:latin typeface="Calibri"/>
                  </a:rPr>
                  <a:t>		</a:t>
                </a:r>
                <a14:m>
                  <m:oMath xmlns:m="http://schemas.openxmlformats.org/officeDocument/2006/math">
                    <m:r>
                      <a:rPr lang="en-US" sz="2800" b="0" i="1" strike="noStrike" spc="-1" dirty="0" smtClean="0">
                        <a:solidFill>
                          <a:srgbClr val="000000"/>
                        </a:solidFill>
                        <a:uFill>
                          <a:solidFill>
                            <a:srgbClr val="FFFFFF"/>
                          </a:solidFill>
                        </a:uFill>
                        <a:latin typeface="Cambria Math"/>
                      </a:rPr>
                      <m:t>𝑥</m:t>
                    </m:r>
                  </m:oMath>
                </a14:m>
                <a:r>
                  <a:rPr lang="en-US" sz="2800" b="0" strike="noStrike" spc="-1" dirty="0" smtClean="0">
                    <a:solidFill>
                      <a:srgbClr val="000000"/>
                    </a:solidFill>
                    <a:uFill>
                      <a:solidFill>
                        <a:srgbClr val="FFFFFF"/>
                      </a:solidFill>
                    </a:uFill>
                    <a:latin typeface="Calibri"/>
                  </a:rPr>
                  <a:t> </a:t>
                </a:r>
                <a:r>
                  <a:rPr lang="en-US" sz="2800" b="0" strike="noStrike" spc="-1" dirty="0">
                    <a:solidFill>
                      <a:srgbClr val="000000"/>
                    </a:solidFill>
                    <a:uFill>
                      <a:solidFill>
                        <a:srgbClr val="FFFFFF"/>
                      </a:solidFill>
                    </a:uFill>
                    <a:latin typeface="Calibri"/>
                  </a:rPr>
                  <a:t>is </a:t>
                </a:r>
                <a:r>
                  <a:rPr lang="en-US" sz="2800" b="0" i="1" strike="noStrike" spc="-1" dirty="0">
                    <a:solidFill>
                      <a:srgbClr val="000000"/>
                    </a:solidFill>
                    <a:uFill>
                      <a:solidFill>
                        <a:srgbClr val="FFFFFF"/>
                      </a:solidFill>
                    </a:uFill>
                    <a:latin typeface="Calibri"/>
                  </a:rPr>
                  <a:t>bound</a:t>
                </a:r>
                <a:r>
                  <a:rPr lang="en-US" sz="2800" b="0" strike="noStrike" spc="-1" dirty="0">
                    <a:solidFill>
                      <a:srgbClr val="000000"/>
                    </a:solidFill>
                    <a:uFill>
                      <a:solidFill>
                        <a:srgbClr val="FFFFFF"/>
                      </a:solidFill>
                    </a:uFill>
                    <a:latin typeface="Calibri"/>
                  </a:rPr>
                  <a:t>, </a:t>
                </a:r>
                <a14:m>
                  <m:oMath xmlns:m="http://schemas.openxmlformats.org/officeDocument/2006/math">
                    <m:r>
                      <a:rPr lang="en-US" sz="2800" b="0" i="1" strike="noStrike" spc="-1" dirty="0" smtClean="0">
                        <a:solidFill>
                          <a:srgbClr val="000000"/>
                        </a:solidFill>
                        <a:uFill>
                          <a:solidFill>
                            <a:srgbClr val="FFFFFF"/>
                          </a:solidFill>
                        </a:uFill>
                        <a:latin typeface="Cambria Math"/>
                      </a:rPr>
                      <m:t>𝑦</m:t>
                    </m:r>
                  </m:oMath>
                </a14:m>
                <a:r>
                  <a:rPr lang="en-US" sz="2800" b="0" strike="noStrike" spc="-1" dirty="0">
                    <a:solidFill>
                      <a:srgbClr val="000000"/>
                    </a:solidFill>
                    <a:uFill>
                      <a:solidFill>
                        <a:srgbClr val="FFFFFF"/>
                      </a:solidFill>
                    </a:uFill>
                    <a:latin typeface="Calibri"/>
                  </a:rPr>
                  <a:t> is </a:t>
                </a:r>
                <a:r>
                  <a:rPr lang="en-US" sz="2800" b="0" i="1" strike="noStrike" spc="-1" dirty="0">
                    <a:solidFill>
                      <a:srgbClr val="000000"/>
                    </a:solidFill>
                    <a:uFill>
                      <a:solidFill>
                        <a:srgbClr val="FFFFFF"/>
                      </a:solidFill>
                    </a:uFill>
                    <a:latin typeface="Calibri"/>
                  </a:rPr>
                  <a:t>free</a:t>
                </a:r>
                <a:endParaRPr lang="en-US" sz="2800" b="0" strike="noStrike" spc="-1" dirty="0">
                  <a:solidFill>
                    <a:srgbClr val="000000"/>
                  </a:solidFill>
                  <a:uFill>
                    <a:solidFill>
                      <a:srgbClr val="FFFFFF"/>
                    </a:solidFill>
                  </a:uFill>
                  <a:latin typeface="Calibri"/>
                </a:endParaRPr>
              </a:p>
              <a:p>
                <a:pPr algn="ctr">
                  <a:lnSpc>
                    <a:spcPct val="100000"/>
                  </a:lnSpc>
                </a:pPr>
                <a:endParaRPr lang="en-US" sz="2800" b="0" strike="noStrike" spc="-1" dirty="0">
                  <a:solidFill>
                    <a:srgbClr val="000000"/>
                  </a:solidFill>
                  <a:uFill>
                    <a:solidFill>
                      <a:srgbClr val="FFFFFF"/>
                    </a:solidFill>
                  </a:uFill>
                  <a:latin typeface="Calibri"/>
                </a:endParaRPr>
              </a:p>
              <a:p>
                <a:pPr>
                  <a:lnSpc>
                    <a:spcPct val="100000"/>
                  </a:lnSpc>
                </a:pPr>
                <a:r>
                  <a:rPr lang="en-US" sz="2800" b="0" strike="noStrike" spc="-1" dirty="0">
                    <a:solidFill>
                      <a:srgbClr val="000000"/>
                    </a:solidFill>
                    <a:uFill>
                      <a:solidFill>
                        <a:srgbClr val="FFFFFF"/>
                      </a:solidFill>
                    </a:uFill>
                    <a:latin typeface="Calibri"/>
                  </a:rPr>
                  <a:t>		</a:t>
                </a:r>
                <a14:m>
                  <m:oMath xmlns:m="http://schemas.openxmlformats.org/officeDocument/2006/math">
                    <m:r>
                      <a:rPr lang="en-US" sz="2800" b="0" i="1" strike="noStrike" spc="-1" dirty="0" smtClean="0">
                        <a:solidFill>
                          <a:srgbClr val="000000"/>
                        </a:solidFill>
                        <a:uFill>
                          <a:solidFill>
                            <a:srgbClr val="FFFFFF"/>
                          </a:solidFill>
                        </a:uFill>
                        <a:latin typeface="Cambria Math"/>
                      </a:rPr>
                      <m:t>(</m:t>
                    </m:r>
                    <m:r>
                      <a:rPr lang="en-US" sz="2800" b="0" i="1" strike="noStrike" spc="-1" dirty="0" err="1">
                        <a:solidFill>
                          <a:srgbClr val="000000"/>
                        </a:solidFill>
                        <a:uFill>
                          <a:solidFill>
                            <a:srgbClr val="FFFFFF"/>
                          </a:solidFill>
                        </a:uFill>
                        <a:latin typeface="Cambria Math"/>
                      </a:rPr>
                      <m:t>𝜆</m:t>
                    </m:r>
                    <m:r>
                      <a:rPr lang="en-US" sz="2800" b="0" i="1" strike="noStrike" spc="-1" dirty="0" err="1">
                        <a:solidFill>
                          <a:srgbClr val="000000"/>
                        </a:solidFill>
                        <a:uFill>
                          <a:solidFill>
                            <a:srgbClr val="FFFFFF"/>
                          </a:solidFill>
                        </a:uFill>
                        <a:latin typeface="Cambria Math"/>
                      </a:rPr>
                      <m:t>𝑥</m:t>
                    </m:r>
                    <m:r>
                      <a:rPr lang="en-US" sz="2800" b="0" i="1" strike="noStrike" spc="-1" dirty="0" err="1">
                        <a:solidFill>
                          <a:srgbClr val="000000"/>
                        </a:solidFill>
                        <a:uFill>
                          <a:solidFill>
                            <a:srgbClr val="FFFFFF"/>
                          </a:solidFill>
                        </a:uFill>
                        <a:latin typeface="Cambria Math"/>
                      </a:rPr>
                      <m:t>.</m:t>
                    </m:r>
                    <m:r>
                      <a:rPr lang="en-US" sz="2800" b="0" i="1" strike="noStrike" spc="-1" dirty="0" err="1">
                        <a:solidFill>
                          <a:srgbClr val="000000"/>
                        </a:solidFill>
                        <a:uFill>
                          <a:solidFill>
                            <a:srgbClr val="FFFFFF"/>
                          </a:solidFill>
                        </a:uFill>
                        <a:latin typeface="Cambria Math"/>
                      </a:rPr>
                      <m:t>𝑥</m:t>
                    </m:r>
                    <m:r>
                      <a:rPr lang="en-US" sz="2800" b="0" i="1" strike="noStrike" spc="-1" dirty="0" smtClean="0">
                        <a:solidFill>
                          <a:srgbClr val="000000"/>
                        </a:solidFill>
                        <a:uFill>
                          <a:solidFill>
                            <a:srgbClr val="FFFFFF"/>
                          </a:solidFill>
                        </a:uFill>
                        <a:latin typeface="Cambria Math"/>
                      </a:rPr>
                      <m:t>)</m:t>
                    </m:r>
                    <m:r>
                      <a:rPr lang="en-US" sz="2800" b="0" i="1" strike="noStrike" spc="-1" dirty="0">
                        <a:solidFill>
                          <a:srgbClr val="000000"/>
                        </a:solidFill>
                        <a:uFill>
                          <a:solidFill>
                            <a:srgbClr val="FFFFFF"/>
                          </a:solidFill>
                        </a:uFill>
                        <a:latin typeface="Cambria Math"/>
                      </a:rPr>
                      <m:t>(</m:t>
                    </m:r>
                    <m:r>
                      <a:rPr lang="en-US" sz="2800" b="0" i="1" strike="noStrike" spc="-1" dirty="0" err="1">
                        <a:solidFill>
                          <a:srgbClr val="000000"/>
                        </a:solidFill>
                        <a:uFill>
                          <a:solidFill>
                            <a:srgbClr val="FFFFFF"/>
                          </a:solidFill>
                        </a:uFill>
                        <a:latin typeface="Cambria Math"/>
                      </a:rPr>
                      <m:t>𝜆</m:t>
                    </m:r>
                    <m:r>
                      <a:rPr lang="en-US" sz="2800" b="0" i="1" strike="noStrike" spc="-1" dirty="0" err="1">
                        <a:solidFill>
                          <a:srgbClr val="000000"/>
                        </a:solidFill>
                        <a:uFill>
                          <a:solidFill>
                            <a:srgbClr val="FFFFFF"/>
                          </a:solidFill>
                        </a:uFill>
                        <a:latin typeface="Cambria Math"/>
                      </a:rPr>
                      <m:t>𝑦</m:t>
                    </m:r>
                    <m:r>
                      <a:rPr lang="en-US" sz="2800" b="0" i="1" strike="noStrike" spc="-1" dirty="0" err="1">
                        <a:solidFill>
                          <a:srgbClr val="000000"/>
                        </a:solidFill>
                        <a:uFill>
                          <a:solidFill>
                            <a:srgbClr val="FFFFFF"/>
                          </a:solidFill>
                        </a:uFill>
                        <a:latin typeface="Cambria Math"/>
                      </a:rPr>
                      <m:t>.</m:t>
                    </m:r>
                    <m:r>
                      <a:rPr lang="en-US" sz="2800" b="0" i="1" strike="noStrike" spc="-1" dirty="0" smtClean="0">
                        <a:solidFill>
                          <a:srgbClr val="000000"/>
                        </a:solidFill>
                        <a:uFill>
                          <a:solidFill>
                            <a:srgbClr val="FFFFFF"/>
                          </a:solidFill>
                        </a:uFill>
                        <a:latin typeface="Cambria Math"/>
                      </a:rPr>
                      <m:t>𝑦𝑥</m:t>
                    </m:r>
                    <m:r>
                      <a:rPr lang="en-US" sz="2800" b="0" i="1" strike="noStrike" spc="-1" dirty="0" smtClean="0">
                        <a:solidFill>
                          <a:srgbClr val="000000"/>
                        </a:solidFill>
                        <a:uFill>
                          <a:solidFill>
                            <a:srgbClr val="FFFFFF"/>
                          </a:solidFill>
                        </a:uFill>
                        <a:latin typeface="Cambria Math"/>
                      </a:rPr>
                      <m:t>)</m:t>
                    </m:r>
                  </m:oMath>
                </a14:m>
                <a:r>
                  <a:rPr lang="en-US" sz="2800" b="0" strike="noStrike" spc="-1" dirty="0">
                    <a:solidFill>
                      <a:srgbClr val="000000"/>
                    </a:solidFill>
                    <a:uFill>
                      <a:solidFill>
                        <a:srgbClr val="FFFFFF"/>
                      </a:solidFill>
                    </a:uFill>
                    <a:latin typeface="Calibri"/>
                  </a:rPr>
                  <a:t>	</a:t>
                </a:r>
                <a:r>
                  <a:rPr lang="en-US" sz="2800" b="0" strike="noStrike" spc="-1" dirty="0" smtClean="0">
                    <a:solidFill>
                      <a:srgbClr val="000000"/>
                    </a:solidFill>
                    <a:uFill>
                      <a:solidFill>
                        <a:srgbClr val="FFFFFF"/>
                      </a:solidFill>
                    </a:uFill>
                    <a:latin typeface="Calibri"/>
                  </a:rPr>
                  <a:t>left </a:t>
                </a:r>
                <a14:m>
                  <m:oMath xmlns:m="http://schemas.openxmlformats.org/officeDocument/2006/math">
                    <m:r>
                      <a:rPr lang="en-US" sz="2800" b="0" i="1" strike="noStrike" spc="-1" dirty="0" smtClean="0">
                        <a:solidFill>
                          <a:srgbClr val="000000"/>
                        </a:solidFill>
                        <a:uFill>
                          <a:solidFill>
                            <a:srgbClr val="FFFFFF"/>
                          </a:solidFill>
                        </a:uFill>
                        <a:latin typeface="Cambria Math"/>
                      </a:rPr>
                      <m:t>𝑥</m:t>
                    </m:r>
                  </m:oMath>
                </a14:m>
                <a:r>
                  <a:rPr lang="en-US" sz="2800" b="0" strike="noStrike" spc="-1" dirty="0" smtClean="0">
                    <a:solidFill>
                      <a:srgbClr val="000000"/>
                    </a:solidFill>
                    <a:uFill>
                      <a:solidFill>
                        <a:srgbClr val="FFFFFF"/>
                      </a:solidFill>
                    </a:uFill>
                    <a:latin typeface="Calibri"/>
                  </a:rPr>
                  <a:t> is bound, right </a:t>
                </a:r>
                <a14:m>
                  <m:oMath xmlns:m="http://schemas.openxmlformats.org/officeDocument/2006/math">
                    <m:r>
                      <a:rPr lang="en-US" sz="2800" b="0" i="1" strike="noStrike" spc="-1" dirty="0" smtClean="0">
                        <a:solidFill>
                          <a:srgbClr val="000000"/>
                        </a:solidFill>
                        <a:uFill>
                          <a:solidFill>
                            <a:srgbClr val="FFFFFF"/>
                          </a:solidFill>
                        </a:uFill>
                        <a:latin typeface="Cambria Math"/>
                      </a:rPr>
                      <m:t>𝑦</m:t>
                    </m:r>
                  </m:oMath>
                </a14:m>
                <a:r>
                  <a:rPr lang="en-US" sz="2800" b="0" strike="noStrike" spc="-1" dirty="0" smtClean="0">
                    <a:solidFill>
                      <a:srgbClr val="000000"/>
                    </a:solidFill>
                    <a:uFill>
                      <a:solidFill>
                        <a:srgbClr val="FFFFFF"/>
                      </a:solidFill>
                    </a:uFill>
                    <a:latin typeface="Calibri"/>
                  </a:rPr>
                  <a:t> is bound</a:t>
                </a:r>
              </a:p>
              <a:p>
                <a:pPr>
                  <a:lnSpc>
                    <a:spcPct val="100000"/>
                  </a:lnSpc>
                </a:pPr>
                <a:endParaRPr lang="en-US" sz="2800" spc="-1" dirty="0">
                  <a:solidFill>
                    <a:srgbClr val="000000"/>
                  </a:solidFill>
                  <a:uFill>
                    <a:solidFill>
                      <a:srgbClr val="FFFFFF"/>
                    </a:solidFill>
                  </a:uFill>
                  <a:latin typeface="Calibri"/>
                </a:endParaRPr>
              </a:p>
              <a:p>
                <a:pPr marL="914400" lvl="1" indent="-457200">
                  <a:buFont typeface="Arial" panose="020B0604020202020204" pitchFamily="34" charset="0"/>
                  <a:buChar char="•"/>
                </a:pPr>
                <a:r>
                  <a:rPr lang="en-US" sz="2400" b="0" strike="noStrike" spc="-1" dirty="0" smtClean="0">
                    <a:solidFill>
                      <a:srgbClr val="000000"/>
                    </a:solidFill>
                    <a:uFill>
                      <a:solidFill>
                        <a:srgbClr val="FFFFFF"/>
                      </a:solidFill>
                    </a:uFill>
                    <a:latin typeface="Calibri"/>
                  </a:rPr>
                  <a:t>POP QUIZ: in the second expression above, is the </a:t>
                </a:r>
                <a14:m>
                  <m:oMath xmlns:m="http://schemas.openxmlformats.org/officeDocument/2006/math">
                    <m:r>
                      <a:rPr lang="en-US" sz="2400" b="0" i="1" strike="noStrike" spc="-1" dirty="0" smtClean="0">
                        <a:solidFill>
                          <a:srgbClr val="000000"/>
                        </a:solidFill>
                        <a:uFill>
                          <a:solidFill>
                            <a:srgbClr val="FFFFFF"/>
                          </a:solidFill>
                        </a:uFill>
                        <a:latin typeface="Cambria Math"/>
                      </a:rPr>
                      <m:t>𝑥</m:t>
                    </m:r>
                  </m:oMath>
                </a14:m>
                <a:r>
                  <a:rPr lang="en-US" sz="2400" b="0" strike="noStrike" spc="-1" dirty="0" smtClean="0">
                    <a:solidFill>
                      <a:srgbClr val="000000"/>
                    </a:solidFill>
                    <a:uFill>
                      <a:solidFill>
                        <a:srgbClr val="FFFFFF"/>
                      </a:solidFill>
                    </a:uFill>
                    <a:latin typeface="Calibri"/>
                  </a:rPr>
                  <a:t> name consistent across both functions?</a:t>
                </a:r>
                <a:endParaRPr lang="en-US" sz="2400" b="0" strike="noStrike" spc="-1" dirty="0">
                  <a:solidFill>
                    <a:srgbClr val="000000"/>
                  </a:solidFill>
                  <a:uFill>
                    <a:solidFill>
                      <a:srgbClr val="FFFFFF"/>
                    </a:solidFill>
                  </a:uFill>
                  <a:latin typeface="Calibri"/>
                </a:endParaRPr>
              </a:p>
            </p:txBody>
          </p:sp>
        </mc:Choice>
        <mc:Fallback xmlns="">
          <p:sp>
            <p:nvSpPr>
              <p:cNvPr id="95" name="TextShape 2"/>
              <p:cNvSpPr txBox="1">
                <a:spLocks noRot="1" noChangeAspect="1" noMove="1" noResize="1" noEditPoints="1" noAdjustHandles="1" noChangeArrowheads="1" noChangeShapeType="1" noTextEdit="1"/>
              </p:cNvSpPr>
              <p:nvPr/>
            </p:nvSpPr>
            <p:spPr>
              <a:xfrm>
                <a:off x="838080" y="1825560"/>
                <a:ext cx="10515240" cy="4350960"/>
              </a:xfrm>
              <a:prstGeom prst="rect">
                <a:avLst/>
              </a:prstGeom>
              <a:blipFill rotWithShape="1">
                <a:blip r:embed="rId3"/>
                <a:stretch>
                  <a:fillRect l="-1159" t="-2241" b="-3782"/>
                </a:stretch>
              </a:blipFill>
              <a:ln>
                <a:noFill/>
              </a:ln>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6"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pc="-1" dirty="0" smtClean="0">
                    <a:solidFill>
                      <a:srgbClr val="000000"/>
                    </a:solidFill>
                    <a:uFill>
                      <a:solidFill>
                        <a:srgbClr val="FFFFFF"/>
                      </a:solidFill>
                    </a:uFill>
                    <a:latin typeface="Calibri Light"/>
                  </a:rPr>
                  <a:t>Evaluation strategy: </a:t>
                </a:r>
                <a14:m>
                  <m:oMath xmlns:m="http://schemas.openxmlformats.org/officeDocument/2006/math">
                    <m:r>
                      <m:rPr>
                        <m:sty m:val="p"/>
                      </m:rPr>
                      <a:rPr lang="el-GR" sz="4400" b="1" i="1" spc="-1" dirty="0" smtClean="0">
                        <a:solidFill>
                          <a:srgbClr val="000000"/>
                        </a:solidFill>
                        <a:uFill>
                          <a:solidFill>
                            <a:srgbClr val="FFFFFF"/>
                          </a:solidFill>
                        </a:uFill>
                        <a:latin typeface="Cambria Math"/>
                      </a:rPr>
                      <m:t>β</m:t>
                    </m:r>
                  </m:oMath>
                </a14:m>
                <a:r>
                  <a:rPr lang="en-US" sz="4400" b="1" spc="-1" dirty="0" smtClean="0">
                    <a:solidFill>
                      <a:srgbClr val="000000"/>
                    </a:solidFill>
                    <a:uFill>
                      <a:solidFill>
                        <a:srgbClr val="FFFFFF"/>
                      </a:solidFill>
                    </a:uFill>
                    <a:latin typeface="Calibri Light"/>
                  </a:rPr>
                  <a:t>-reduction</a:t>
                </a:r>
                <a:endParaRPr lang="en-US" sz="4400" b="1" spc="-1" dirty="0">
                  <a:solidFill>
                    <a:srgbClr val="000000"/>
                  </a:solidFill>
                  <a:uFill>
                    <a:solidFill>
                      <a:srgbClr val="FFFFFF"/>
                    </a:solidFill>
                  </a:uFill>
                  <a:latin typeface="Calibri"/>
                </a:endParaRPr>
              </a:p>
            </p:txBody>
          </p:sp>
        </mc:Choice>
        <mc:Fallback>
          <p:sp>
            <p:nvSpPr>
              <p:cNvPr id="86" name="TextShape 1"/>
              <p:cNvSpPr txBox="1">
                <a:spLocks noRot="1" noChangeAspect="1" noMove="1" noResize="1" noEditPoints="1" noAdjustHandles="1" noChangeArrowheads="1" noChangeShapeType="1" noTextEdit="1"/>
              </p:cNvSpPr>
              <p:nvPr/>
            </p:nvSpPr>
            <p:spPr>
              <a:xfrm>
                <a:off x="838080" y="365040"/>
                <a:ext cx="10515240" cy="1325160"/>
              </a:xfrm>
              <a:prstGeom prst="rect">
                <a:avLst/>
              </a:prstGeom>
              <a:blipFill rotWithShape="0">
                <a:blip r:embed="rId3"/>
                <a:stretch>
                  <a:fillRect l="-231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Shape 2"/>
              <p:cNvSpPr txBox="1"/>
              <p:nvPr/>
            </p:nvSpPr>
            <p:spPr>
              <a:xfrm>
                <a:off x="828555" y="1825560"/>
                <a:ext cx="10515240" cy="4803840"/>
              </a:xfrm>
              <a:prstGeom prst="rect">
                <a:avLst/>
              </a:prstGeom>
              <a:noFill/>
              <a:ln>
                <a:noFill/>
              </a:ln>
            </p:spPr>
            <p:txBody>
              <a:bodyPr/>
              <a:lstStyle/>
              <a:p>
                <a:r>
                  <a:rPr lang="en-US" sz="2800" spc="-1" dirty="0" smtClean="0">
                    <a:solidFill>
                      <a:srgbClr val="000000"/>
                    </a:solidFill>
                    <a:uFill>
                      <a:solidFill>
                        <a:srgbClr val="FFFFFF"/>
                      </a:solidFill>
                    </a:uFill>
                    <a:latin typeface="Calibri"/>
                  </a:rPr>
                  <a:t>Purpose: simplifying expressions down to normal form. </a:t>
                </a:r>
              </a:p>
              <a:p>
                <a:endParaRPr lang="en-US" sz="2800" spc="-1" dirty="0" smtClean="0">
                  <a:solidFill>
                    <a:srgbClr val="000000"/>
                  </a:solidFill>
                  <a:uFill>
                    <a:solidFill>
                      <a:srgbClr val="FFFFFF"/>
                    </a:solidFill>
                  </a:uFill>
                  <a:latin typeface="Calibri"/>
                </a:endParaRPr>
              </a:p>
              <a:p>
                <a:r>
                  <a:rPr lang="en-US" sz="2800" spc="-1" dirty="0">
                    <a:solidFill>
                      <a:srgbClr val="000000"/>
                    </a:solidFill>
                    <a:uFill>
                      <a:solidFill>
                        <a:srgbClr val="FFFFFF"/>
                      </a:solidFill>
                    </a:uFill>
                    <a:latin typeface="Calibri"/>
                  </a:rPr>
                  <a:t>	</a:t>
                </a:r>
                <a:r>
                  <a:rPr lang="en-US" sz="2800" spc="-1" dirty="0" smtClean="0">
                    <a:solidFill>
                      <a:srgbClr val="000000"/>
                    </a:solidFill>
                    <a:uFill>
                      <a:solidFill>
                        <a:srgbClr val="FFFFFF"/>
                      </a:solidFill>
                    </a:uFill>
                    <a:latin typeface="Calibri"/>
                  </a:rPr>
                  <a:t>	</a:t>
                </a:r>
                <a:r>
                  <a:rPr lang="el-GR" sz="2800" spc="-1" dirty="0">
                    <a:solidFill>
                      <a:srgbClr val="000000"/>
                    </a:solidFill>
                    <a:uFill>
                      <a:solidFill>
                        <a:srgbClr val="FFFFFF"/>
                      </a:solidFill>
                    </a:uFill>
                    <a:latin typeface="Calibri"/>
                  </a:rPr>
                  <a:t> </a:t>
                </a:r>
                <a14:m>
                  <m:oMath xmlns:m="http://schemas.openxmlformats.org/officeDocument/2006/math">
                    <m:d>
                      <m:dPr>
                        <m:ctrlPr>
                          <a:rPr lang="en-US" sz="2800" i="1" spc="-1" dirty="0" smtClean="0">
                            <a:solidFill>
                              <a:srgbClr val="000000"/>
                            </a:solidFill>
                            <a:uFill>
                              <a:solidFill>
                                <a:srgbClr val="FFFFFF"/>
                              </a:solidFill>
                            </a:uFill>
                            <a:latin typeface="Cambria Math" panose="02040503050406030204" pitchFamily="18" charset="0"/>
                          </a:rPr>
                        </m:ctrlPr>
                      </m:dPr>
                      <m:e>
                        <m:r>
                          <a:rPr lang="el-GR" sz="2800" i="1" spc="-1" dirty="0" smtClean="0">
                            <a:solidFill>
                              <a:srgbClr val="000000"/>
                            </a:solidFill>
                            <a:uFill>
                              <a:solidFill>
                                <a:srgbClr val="FFFFFF"/>
                              </a:solidFill>
                            </a:uFill>
                            <a:latin typeface="Cambria Math"/>
                          </a:rPr>
                          <m:t>𝜆</m:t>
                        </m:r>
                        <m:r>
                          <a:rPr lang="en-US" sz="2800" i="1" spc="-1" dirty="0" smtClean="0">
                            <a:solidFill>
                              <a:srgbClr val="000000"/>
                            </a:solidFill>
                            <a:uFill>
                              <a:solidFill>
                                <a:srgbClr val="FFFFFF"/>
                              </a:solidFill>
                            </a:uFill>
                            <a:latin typeface="Cambria Math"/>
                          </a:rPr>
                          <m:t>𝑥</m:t>
                        </m:r>
                        <m:r>
                          <a:rPr lang="en-US" sz="2800" i="1" spc="-1" dirty="0" smtClean="0">
                            <a:solidFill>
                              <a:srgbClr val="000000"/>
                            </a:solidFill>
                            <a:uFill>
                              <a:solidFill>
                                <a:srgbClr val="FFFFFF"/>
                              </a:solidFill>
                            </a:uFill>
                            <a:latin typeface="Cambria Math"/>
                          </a:rPr>
                          <m:t>.</m:t>
                        </m:r>
                        <m:r>
                          <a:rPr lang="el-GR" sz="2800" i="1" spc="-1" dirty="0" smtClean="0">
                            <a:solidFill>
                              <a:srgbClr val="000000"/>
                            </a:solidFill>
                            <a:uFill>
                              <a:solidFill>
                                <a:srgbClr val="FFFFFF"/>
                              </a:solidFill>
                            </a:uFill>
                            <a:latin typeface="Cambria Math"/>
                          </a:rPr>
                          <m:t>𝜆</m:t>
                        </m:r>
                        <m:r>
                          <a:rPr lang="en-US" sz="2800" i="1" spc="-1" dirty="0" err="1" smtClean="0">
                            <a:solidFill>
                              <a:srgbClr val="000000"/>
                            </a:solidFill>
                            <a:uFill>
                              <a:solidFill>
                                <a:srgbClr val="FFFFFF"/>
                              </a:solidFill>
                            </a:uFill>
                            <a:latin typeface="Cambria Math"/>
                          </a:rPr>
                          <m:t>𝑧</m:t>
                        </m:r>
                        <m:r>
                          <a:rPr lang="en-US" sz="2800" i="1" spc="-1" dirty="0" err="1" smtClean="0">
                            <a:solidFill>
                              <a:srgbClr val="000000"/>
                            </a:solidFill>
                            <a:uFill>
                              <a:solidFill>
                                <a:srgbClr val="FFFFFF"/>
                              </a:solidFill>
                            </a:uFill>
                            <a:latin typeface="Cambria Math"/>
                          </a:rPr>
                          <m:t>.</m:t>
                        </m:r>
                        <m:r>
                          <a:rPr lang="en-US" sz="2800" i="1" spc="-1" dirty="0" err="1" smtClean="0">
                            <a:solidFill>
                              <a:srgbClr val="000000"/>
                            </a:solidFill>
                            <a:uFill>
                              <a:solidFill>
                                <a:srgbClr val="FFFFFF"/>
                              </a:solidFill>
                            </a:uFill>
                            <a:latin typeface="Cambria Math"/>
                          </a:rPr>
                          <m:t>𝑥</m:t>
                        </m:r>
                        <m:r>
                          <a:rPr lang="en-US" sz="2800" i="1" spc="-1" dirty="0" smtClean="0">
                            <a:solidFill>
                              <a:srgbClr val="000000"/>
                            </a:solidFill>
                            <a:uFill>
                              <a:solidFill>
                                <a:srgbClr val="FFFFFF"/>
                              </a:solidFill>
                            </a:uFill>
                            <a:latin typeface="Cambria Math"/>
                          </a:rPr>
                          <m:t> </m:t>
                        </m:r>
                        <m:r>
                          <a:rPr lang="en-US" sz="2800" i="1" spc="-1" dirty="0" smtClean="0">
                            <a:solidFill>
                              <a:srgbClr val="000000"/>
                            </a:solidFill>
                            <a:uFill>
                              <a:solidFill>
                                <a:srgbClr val="FFFFFF"/>
                              </a:solidFill>
                            </a:uFill>
                            <a:latin typeface="Cambria Math"/>
                          </a:rPr>
                          <m:t>𝑧</m:t>
                        </m:r>
                      </m:e>
                    </m:d>
                    <m:r>
                      <a:rPr lang="en-US" sz="2800" i="1" spc="-1" dirty="0" smtClean="0">
                        <a:solidFill>
                          <a:srgbClr val="C00000"/>
                        </a:solidFill>
                        <a:uFill>
                          <a:solidFill>
                            <a:srgbClr val="FFFFFF"/>
                          </a:solidFill>
                        </a:uFill>
                        <a:latin typeface="Cambria Math"/>
                      </a:rPr>
                      <m:t>𝑦</m:t>
                    </m:r>
                  </m:oMath>
                </a14:m>
                <a:r>
                  <a:rPr lang="en-US" sz="2800" spc="-1" dirty="0" smtClean="0">
                    <a:solidFill>
                      <a:srgbClr val="000000"/>
                    </a:solidFill>
                    <a:uFill>
                      <a:solidFill>
                        <a:srgbClr val="FFFFFF"/>
                      </a:solidFill>
                    </a:uFill>
                    <a:latin typeface="Calibri"/>
                  </a:rPr>
                  <a:t> </a:t>
                </a:r>
              </a:p>
              <a:p>
                <a:endParaRPr lang="en-US" sz="2800" spc="-1" dirty="0">
                  <a:solidFill>
                    <a:srgbClr val="000000"/>
                  </a:solidFill>
                  <a:uFill>
                    <a:solidFill>
                      <a:srgbClr val="FFFFFF"/>
                    </a:solidFill>
                  </a:uFill>
                  <a:latin typeface="Calibri"/>
                </a:endParaRPr>
              </a:p>
              <a:p>
                <a:r>
                  <a:rPr lang="en-US" sz="2800" spc="-1" dirty="0" smtClean="0">
                    <a:solidFill>
                      <a:srgbClr val="000000"/>
                    </a:solidFill>
                    <a:uFill>
                      <a:solidFill>
                        <a:srgbClr val="FFFFFF"/>
                      </a:solidFill>
                    </a:uFill>
                    <a:latin typeface="Calibri"/>
                  </a:rPr>
                  <a:t>		</a:t>
                </a:r>
                <a14:m>
                  <m:oMath xmlns:m="http://schemas.openxmlformats.org/officeDocument/2006/math">
                    <m:d>
                      <m:dPr>
                        <m:ctrlPr>
                          <a:rPr lang="en-US" sz="2800" i="1" spc="-1" dirty="0" smtClean="0">
                            <a:solidFill>
                              <a:srgbClr val="000000"/>
                            </a:solidFill>
                            <a:uFill>
                              <a:solidFill>
                                <a:srgbClr val="FFFFFF"/>
                              </a:solidFill>
                            </a:uFill>
                            <a:latin typeface="Cambria Math" panose="02040503050406030204" pitchFamily="18" charset="0"/>
                          </a:rPr>
                        </m:ctrlPr>
                      </m:dPr>
                      <m:e>
                        <m:r>
                          <a:rPr lang="el-GR" sz="2800" i="1" spc="-1" dirty="0" smtClean="0">
                            <a:solidFill>
                              <a:srgbClr val="000000"/>
                            </a:solidFill>
                            <a:uFill>
                              <a:solidFill>
                                <a:srgbClr val="FFFFFF"/>
                              </a:solidFill>
                            </a:uFill>
                            <a:latin typeface="Cambria Math"/>
                          </a:rPr>
                          <m:t>𝜆</m:t>
                        </m:r>
                        <m:r>
                          <a:rPr lang="en-US" sz="2800" i="1" spc="-1" dirty="0" smtClean="0">
                            <a:solidFill>
                              <a:srgbClr val="000000"/>
                            </a:solidFill>
                            <a:uFill>
                              <a:solidFill>
                                <a:srgbClr val="FFFFFF"/>
                              </a:solidFill>
                            </a:uFill>
                            <a:latin typeface="Cambria Math"/>
                          </a:rPr>
                          <m:t>𝑥</m:t>
                        </m:r>
                        <m:r>
                          <a:rPr lang="en-US" sz="2800" i="1" spc="-1" dirty="0" smtClean="0">
                            <a:solidFill>
                              <a:srgbClr val="000000"/>
                            </a:solidFill>
                            <a:uFill>
                              <a:solidFill>
                                <a:srgbClr val="FFFFFF"/>
                              </a:solidFill>
                            </a:uFill>
                            <a:latin typeface="Cambria Math"/>
                          </a:rPr>
                          <m:t>.</m:t>
                        </m:r>
                        <m:d>
                          <m:dPr>
                            <m:ctrlPr>
                              <a:rPr lang="en-US" sz="2800" i="1" spc="-1" dirty="0" smtClean="0">
                                <a:solidFill>
                                  <a:srgbClr val="000000"/>
                                </a:solidFill>
                                <a:uFill>
                                  <a:solidFill>
                                    <a:srgbClr val="FFFFFF"/>
                                  </a:solidFill>
                                </a:uFill>
                                <a:latin typeface="Cambria Math" panose="02040503050406030204" pitchFamily="18" charset="0"/>
                              </a:rPr>
                            </m:ctrlPr>
                          </m:dPr>
                          <m:e>
                            <m:r>
                              <a:rPr lang="el-GR" sz="2800" i="1" spc="-1" dirty="0" smtClean="0">
                                <a:solidFill>
                                  <a:srgbClr val="000000"/>
                                </a:solidFill>
                                <a:uFill>
                                  <a:solidFill>
                                    <a:srgbClr val="FFFFFF"/>
                                  </a:solidFill>
                                </a:uFill>
                                <a:latin typeface="Cambria Math"/>
                              </a:rPr>
                              <m:t>𝜆</m:t>
                            </m:r>
                            <m:r>
                              <a:rPr lang="en-US" sz="2800" i="1" spc="-1" dirty="0" smtClean="0">
                                <a:solidFill>
                                  <a:srgbClr val="000000"/>
                                </a:solidFill>
                                <a:uFill>
                                  <a:solidFill>
                                    <a:srgbClr val="FFFFFF"/>
                                  </a:solidFill>
                                </a:uFill>
                                <a:latin typeface="Cambria Math"/>
                              </a:rPr>
                              <m:t>𝑧</m:t>
                            </m:r>
                            <m:r>
                              <a:rPr lang="en-US" sz="2800" i="1" spc="-1" dirty="0" smtClean="0">
                                <a:solidFill>
                                  <a:srgbClr val="000000"/>
                                </a:solidFill>
                                <a:uFill>
                                  <a:solidFill>
                                    <a:srgbClr val="FFFFFF"/>
                                  </a:solidFill>
                                </a:uFill>
                                <a:latin typeface="Cambria Math"/>
                              </a:rPr>
                              <m:t>.</m:t>
                            </m:r>
                            <m:d>
                              <m:dPr>
                                <m:ctrlPr>
                                  <a:rPr lang="en-US" sz="2800" i="1" spc="-1" dirty="0" smtClean="0">
                                    <a:solidFill>
                                      <a:srgbClr val="000000"/>
                                    </a:solidFill>
                                    <a:uFill>
                                      <a:solidFill>
                                        <a:srgbClr val="FFFFFF"/>
                                      </a:solidFill>
                                    </a:uFill>
                                    <a:latin typeface="Cambria Math" panose="02040503050406030204" pitchFamily="18" charset="0"/>
                                  </a:rPr>
                                </m:ctrlPr>
                              </m:dPr>
                              <m:e>
                                <m:r>
                                  <a:rPr lang="en-US" sz="2800" i="1" spc="-1" dirty="0" smtClean="0">
                                    <a:solidFill>
                                      <a:srgbClr val="000000"/>
                                    </a:solidFill>
                                    <a:uFill>
                                      <a:solidFill>
                                        <a:srgbClr val="FFFFFF"/>
                                      </a:solidFill>
                                    </a:uFill>
                                    <a:latin typeface="Cambria Math"/>
                                  </a:rPr>
                                  <m:t>𝑥</m:t>
                                </m:r>
                                <m:r>
                                  <a:rPr lang="en-US" sz="2800" i="1" spc="-1" dirty="0" smtClean="0">
                                    <a:solidFill>
                                      <a:srgbClr val="000000"/>
                                    </a:solidFill>
                                    <a:uFill>
                                      <a:solidFill>
                                        <a:srgbClr val="FFFFFF"/>
                                      </a:solidFill>
                                    </a:uFill>
                                    <a:latin typeface="Cambria Math"/>
                                  </a:rPr>
                                  <m:t> </m:t>
                                </m:r>
                                <m:r>
                                  <a:rPr lang="en-US" sz="2800" i="1" spc="-1" dirty="0" smtClean="0">
                                    <a:solidFill>
                                      <a:srgbClr val="000000"/>
                                    </a:solidFill>
                                    <a:uFill>
                                      <a:solidFill>
                                        <a:srgbClr val="FFFFFF"/>
                                      </a:solidFill>
                                    </a:uFill>
                                    <a:latin typeface="Cambria Math"/>
                                  </a:rPr>
                                  <m:t>𝑧</m:t>
                                </m:r>
                              </m:e>
                            </m:d>
                          </m:e>
                        </m:d>
                      </m:e>
                    </m:d>
                    <m:r>
                      <a:rPr lang="en-US" sz="2800" i="1" spc="-1" dirty="0" smtClean="0">
                        <a:solidFill>
                          <a:srgbClr val="C00000"/>
                        </a:solidFill>
                        <a:uFill>
                          <a:solidFill>
                            <a:srgbClr val="FFFFFF"/>
                          </a:solidFill>
                        </a:uFill>
                        <a:latin typeface="Cambria Math"/>
                      </a:rPr>
                      <m:t>𝑦</m:t>
                    </m:r>
                  </m:oMath>
                </a14:m>
                <a:endParaRPr lang="en-US" sz="2800" spc="-1" dirty="0" smtClean="0">
                  <a:solidFill>
                    <a:srgbClr val="C00000"/>
                  </a:solidFill>
                  <a:uFill>
                    <a:solidFill>
                      <a:srgbClr val="FFFFFF"/>
                    </a:solidFill>
                  </a:uFill>
                  <a:latin typeface="Calibri"/>
                </a:endParaRPr>
              </a:p>
              <a:p>
                <a:endParaRPr lang="en-US" sz="2800" spc="-1" dirty="0" smtClean="0">
                  <a:solidFill>
                    <a:srgbClr val="000000"/>
                  </a:solidFill>
                  <a:uFill>
                    <a:solidFill>
                      <a:srgbClr val="FFFFFF"/>
                    </a:solidFill>
                  </a:uFill>
                  <a:latin typeface="Calibri"/>
                </a:endParaRPr>
              </a:p>
              <a:p>
                <a:r>
                  <a:rPr lang="en-US" sz="2800" spc="-1" dirty="0">
                    <a:solidFill>
                      <a:srgbClr val="000000"/>
                    </a:solidFill>
                    <a:uFill>
                      <a:solidFill>
                        <a:srgbClr val="FFFFFF"/>
                      </a:solidFill>
                    </a:uFill>
                    <a:latin typeface="Calibri"/>
                  </a:rPr>
                  <a:t>	</a:t>
                </a:r>
                <a:r>
                  <a:rPr lang="en-US" sz="2800" spc="-1" dirty="0" smtClean="0">
                    <a:solidFill>
                      <a:srgbClr val="000000"/>
                    </a:solidFill>
                    <a:uFill>
                      <a:solidFill>
                        <a:srgbClr val="FFFFFF"/>
                      </a:solidFill>
                    </a:uFill>
                    <a:latin typeface="Calibri"/>
                  </a:rPr>
                  <a:t>	</a:t>
                </a:r>
                <a14:m>
                  <m:oMath xmlns:m="http://schemas.openxmlformats.org/officeDocument/2006/math">
                    <m:d>
                      <m:dPr>
                        <m:ctrlPr>
                          <a:rPr lang="en-US" sz="2800" i="1" spc="-1" dirty="0" smtClean="0">
                            <a:solidFill>
                              <a:srgbClr val="000000"/>
                            </a:solidFill>
                            <a:uFill>
                              <a:solidFill>
                                <a:srgbClr val="FFFFFF"/>
                              </a:solidFill>
                            </a:uFill>
                            <a:latin typeface="Cambria Math" panose="02040503050406030204" pitchFamily="18" charset="0"/>
                          </a:rPr>
                        </m:ctrlPr>
                      </m:dPr>
                      <m:e>
                        <m:r>
                          <a:rPr lang="el-GR" sz="2800" i="1" spc="-1" dirty="0" smtClean="0">
                            <a:solidFill>
                              <a:srgbClr val="000000"/>
                            </a:solidFill>
                            <a:uFill>
                              <a:solidFill>
                                <a:srgbClr val="FFFFFF"/>
                              </a:solidFill>
                            </a:uFill>
                            <a:latin typeface="Cambria Math"/>
                          </a:rPr>
                          <m:t>𝜆</m:t>
                        </m:r>
                        <m:r>
                          <a:rPr lang="en-US" sz="2800" i="1" spc="-1" dirty="0" smtClean="0">
                            <a:solidFill>
                              <a:srgbClr val="C00000"/>
                            </a:solidFill>
                            <a:uFill>
                              <a:solidFill>
                                <a:srgbClr val="FFFFFF"/>
                              </a:solidFill>
                            </a:uFill>
                            <a:latin typeface="Cambria Math"/>
                          </a:rPr>
                          <m:t>𝑦</m:t>
                        </m:r>
                        <m:r>
                          <a:rPr lang="en-US" sz="2800" i="1" spc="-1" dirty="0" smtClean="0">
                            <a:solidFill>
                              <a:srgbClr val="000000"/>
                            </a:solidFill>
                            <a:uFill>
                              <a:solidFill>
                                <a:srgbClr val="FFFFFF"/>
                              </a:solidFill>
                            </a:uFill>
                            <a:latin typeface="Cambria Math"/>
                          </a:rPr>
                          <m:t>.</m:t>
                        </m:r>
                        <m:d>
                          <m:dPr>
                            <m:ctrlPr>
                              <a:rPr lang="en-US" sz="2800" i="1" spc="-1" dirty="0" smtClean="0">
                                <a:solidFill>
                                  <a:srgbClr val="000000"/>
                                </a:solidFill>
                                <a:uFill>
                                  <a:solidFill>
                                    <a:srgbClr val="FFFFFF"/>
                                  </a:solidFill>
                                </a:uFill>
                                <a:latin typeface="Cambria Math" panose="02040503050406030204" pitchFamily="18" charset="0"/>
                              </a:rPr>
                            </m:ctrlPr>
                          </m:dPr>
                          <m:e>
                            <m:r>
                              <a:rPr lang="el-GR" sz="2800" i="1" spc="-1" dirty="0" smtClean="0">
                                <a:solidFill>
                                  <a:srgbClr val="000000"/>
                                </a:solidFill>
                                <a:uFill>
                                  <a:solidFill>
                                    <a:srgbClr val="FFFFFF"/>
                                  </a:solidFill>
                                </a:uFill>
                                <a:latin typeface="Cambria Math"/>
                              </a:rPr>
                              <m:t>𝜆</m:t>
                            </m:r>
                            <m:r>
                              <a:rPr lang="en-US" sz="2800" i="1" spc="-1" dirty="0" smtClean="0">
                                <a:solidFill>
                                  <a:srgbClr val="000000"/>
                                </a:solidFill>
                                <a:uFill>
                                  <a:solidFill>
                                    <a:srgbClr val="FFFFFF"/>
                                  </a:solidFill>
                                </a:uFill>
                                <a:latin typeface="Cambria Math"/>
                              </a:rPr>
                              <m:t>𝑧</m:t>
                            </m:r>
                            <m:r>
                              <a:rPr lang="en-US" sz="2800" i="1" spc="-1" dirty="0" smtClean="0">
                                <a:solidFill>
                                  <a:srgbClr val="000000"/>
                                </a:solidFill>
                                <a:uFill>
                                  <a:solidFill>
                                    <a:srgbClr val="FFFFFF"/>
                                  </a:solidFill>
                                </a:uFill>
                                <a:latin typeface="Cambria Math"/>
                              </a:rPr>
                              <m:t>.</m:t>
                            </m:r>
                            <m:d>
                              <m:dPr>
                                <m:ctrlPr>
                                  <a:rPr lang="en-US" sz="2800" i="1" spc="-1" dirty="0" smtClean="0">
                                    <a:solidFill>
                                      <a:srgbClr val="000000"/>
                                    </a:solidFill>
                                    <a:uFill>
                                      <a:solidFill>
                                        <a:srgbClr val="FFFFFF"/>
                                      </a:solidFill>
                                    </a:uFill>
                                    <a:latin typeface="Cambria Math" panose="02040503050406030204" pitchFamily="18" charset="0"/>
                                  </a:rPr>
                                </m:ctrlPr>
                              </m:dPr>
                              <m:e>
                                <m:r>
                                  <a:rPr lang="en-US" sz="2800" i="1" spc="-1" dirty="0" smtClean="0">
                                    <a:solidFill>
                                      <a:srgbClr val="C00000"/>
                                    </a:solidFill>
                                    <a:uFill>
                                      <a:solidFill>
                                        <a:srgbClr val="FFFFFF"/>
                                      </a:solidFill>
                                    </a:uFill>
                                    <a:latin typeface="Cambria Math"/>
                                  </a:rPr>
                                  <m:t>𝑦</m:t>
                                </m:r>
                                <m:r>
                                  <a:rPr lang="en-US" sz="2800" i="1" spc="-1" dirty="0" smtClean="0">
                                    <a:solidFill>
                                      <a:srgbClr val="000000"/>
                                    </a:solidFill>
                                    <a:uFill>
                                      <a:solidFill>
                                        <a:srgbClr val="FFFFFF"/>
                                      </a:solidFill>
                                    </a:uFill>
                                    <a:latin typeface="Cambria Math"/>
                                  </a:rPr>
                                  <m:t> </m:t>
                                </m:r>
                                <m:r>
                                  <a:rPr lang="en-US" sz="2800" i="1" spc="-1" dirty="0" smtClean="0">
                                    <a:solidFill>
                                      <a:srgbClr val="000000"/>
                                    </a:solidFill>
                                    <a:uFill>
                                      <a:solidFill>
                                        <a:srgbClr val="FFFFFF"/>
                                      </a:solidFill>
                                    </a:uFill>
                                    <a:latin typeface="Cambria Math"/>
                                  </a:rPr>
                                  <m:t>𝑧</m:t>
                                </m:r>
                              </m:e>
                            </m:d>
                          </m:e>
                        </m:d>
                      </m:e>
                    </m:d>
                    <m:r>
                      <a:rPr lang="en-US" sz="2800" i="1" spc="-1" dirty="0" smtClean="0">
                        <a:solidFill>
                          <a:srgbClr val="C00000"/>
                        </a:solidFill>
                        <a:uFill>
                          <a:solidFill>
                            <a:srgbClr val="FFFFFF"/>
                          </a:solidFill>
                        </a:uFill>
                        <a:latin typeface="Cambria Math"/>
                      </a:rPr>
                      <m:t>𝑦</m:t>
                    </m:r>
                  </m:oMath>
                </a14:m>
                <a:endParaRPr lang="en-US" sz="2800" spc="-1" dirty="0" smtClean="0">
                  <a:solidFill>
                    <a:srgbClr val="C00000"/>
                  </a:solidFill>
                  <a:uFill>
                    <a:solidFill>
                      <a:srgbClr val="FFFFFF"/>
                    </a:solidFill>
                  </a:uFill>
                  <a:latin typeface="Calibri"/>
                </a:endParaRPr>
              </a:p>
              <a:p>
                <a:endParaRPr lang="en-US" sz="2800" spc="-1" dirty="0" smtClean="0">
                  <a:solidFill>
                    <a:srgbClr val="000000"/>
                  </a:solidFill>
                  <a:uFill>
                    <a:solidFill>
                      <a:srgbClr val="FFFFFF"/>
                    </a:solidFill>
                  </a:uFill>
                  <a:latin typeface="Calibri"/>
                </a:endParaRPr>
              </a:p>
              <a:p>
                <a:r>
                  <a:rPr lang="en-US" sz="2800" spc="-1" dirty="0">
                    <a:solidFill>
                      <a:srgbClr val="000000"/>
                    </a:solidFill>
                    <a:uFill>
                      <a:solidFill>
                        <a:srgbClr val="FFFFFF"/>
                      </a:solidFill>
                    </a:uFill>
                    <a:latin typeface="Calibri"/>
                  </a:rPr>
                  <a:t>	</a:t>
                </a:r>
                <a:r>
                  <a:rPr lang="en-US" sz="2800" spc="-1" dirty="0" smtClean="0">
                    <a:solidFill>
                      <a:srgbClr val="000000"/>
                    </a:solidFill>
                    <a:uFill>
                      <a:solidFill>
                        <a:srgbClr val="FFFFFF"/>
                      </a:solidFill>
                    </a:uFill>
                    <a:latin typeface="Calibri"/>
                  </a:rPr>
                  <a:t>	</a:t>
                </a:r>
                <a14:m>
                  <m:oMath xmlns:m="http://schemas.openxmlformats.org/officeDocument/2006/math">
                    <m:r>
                      <a:rPr lang="el-GR" sz="2800" i="1" spc="-1" dirty="0" smtClean="0">
                        <a:solidFill>
                          <a:srgbClr val="000000"/>
                        </a:solidFill>
                        <a:uFill>
                          <a:solidFill>
                            <a:srgbClr val="FFFFFF"/>
                          </a:solidFill>
                        </a:uFill>
                        <a:latin typeface="Cambria Math"/>
                      </a:rPr>
                      <m:t> </m:t>
                    </m:r>
                    <m:d>
                      <m:dPr>
                        <m:ctrlPr>
                          <a:rPr lang="en-US" sz="2800" i="1" spc="-1" dirty="0" smtClean="0">
                            <a:solidFill>
                              <a:srgbClr val="000000"/>
                            </a:solidFill>
                            <a:uFill>
                              <a:solidFill>
                                <a:srgbClr val="FFFFFF"/>
                              </a:solidFill>
                            </a:uFill>
                            <a:latin typeface="Cambria Math" panose="02040503050406030204" pitchFamily="18" charset="0"/>
                          </a:rPr>
                        </m:ctrlPr>
                      </m:dPr>
                      <m:e>
                        <m:r>
                          <a:rPr lang="el-GR" sz="2800" i="1" spc="-1" dirty="0" smtClean="0">
                            <a:solidFill>
                              <a:srgbClr val="000000"/>
                            </a:solidFill>
                            <a:uFill>
                              <a:solidFill>
                                <a:srgbClr val="FFFFFF"/>
                              </a:solidFill>
                            </a:uFill>
                            <a:latin typeface="Cambria Math"/>
                          </a:rPr>
                          <m:t>𝜆</m:t>
                        </m:r>
                        <m:r>
                          <a:rPr lang="en-US" sz="2800" i="1" spc="-1" dirty="0" smtClean="0">
                            <a:solidFill>
                              <a:srgbClr val="000000"/>
                            </a:solidFill>
                            <a:uFill>
                              <a:solidFill>
                                <a:srgbClr val="FFFFFF"/>
                              </a:solidFill>
                            </a:uFill>
                            <a:latin typeface="Cambria Math"/>
                          </a:rPr>
                          <m:t>𝑧</m:t>
                        </m:r>
                        <m:r>
                          <a:rPr lang="en-US" sz="2800" i="1" spc="-1" dirty="0" smtClean="0">
                            <a:solidFill>
                              <a:srgbClr val="000000"/>
                            </a:solidFill>
                            <a:uFill>
                              <a:solidFill>
                                <a:srgbClr val="FFFFFF"/>
                              </a:solidFill>
                            </a:uFill>
                            <a:latin typeface="Cambria Math"/>
                          </a:rPr>
                          <m:t>.</m:t>
                        </m:r>
                        <m:d>
                          <m:dPr>
                            <m:ctrlPr>
                              <a:rPr lang="en-US" sz="2800" i="1" spc="-1" dirty="0" smtClean="0">
                                <a:solidFill>
                                  <a:srgbClr val="000000"/>
                                </a:solidFill>
                                <a:uFill>
                                  <a:solidFill>
                                    <a:srgbClr val="FFFFFF"/>
                                  </a:solidFill>
                                </a:uFill>
                                <a:latin typeface="Cambria Math" panose="02040503050406030204" pitchFamily="18" charset="0"/>
                              </a:rPr>
                            </m:ctrlPr>
                          </m:dPr>
                          <m:e>
                            <m:r>
                              <a:rPr lang="en-US" sz="2800" i="1" spc="-1" dirty="0" smtClean="0">
                                <a:solidFill>
                                  <a:srgbClr val="C00000"/>
                                </a:solidFill>
                                <a:uFill>
                                  <a:solidFill>
                                    <a:srgbClr val="FFFFFF"/>
                                  </a:solidFill>
                                </a:uFill>
                                <a:latin typeface="Cambria Math"/>
                              </a:rPr>
                              <m:t>𝑦</m:t>
                            </m:r>
                            <m:r>
                              <a:rPr lang="en-US" sz="2800" i="1" spc="-1" dirty="0" smtClean="0">
                                <a:solidFill>
                                  <a:srgbClr val="000000"/>
                                </a:solidFill>
                                <a:uFill>
                                  <a:solidFill>
                                    <a:srgbClr val="FFFFFF"/>
                                  </a:solidFill>
                                </a:uFill>
                                <a:latin typeface="Cambria Math"/>
                              </a:rPr>
                              <m:t> </m:t>
                            </m:r>
                            <m:r>
                              <a:rPr lang="en-US" sz="2800" i="1" spc="-1" dirty="0" smtClean="0">
                                <a:solidFill>
                                  <a:srgbClr val="000000"/>
                                </a:solidFill>
                                <a:uFill>
                                  <a:solidFill>
                                    <a:srgbClr val="FFFFFF"/>
                                  </a:solidFill>
                                </a:uFill>
                                <a:latin typeface="Cambria Math"/>
                              </a:rPr>
                              <m:t>𝑧</m:t>
                            </m:r>
                          </m:e>
                        </m:d>
                      </m:e>
                    </m:d>
                  </m:oMath>
                </a14:m>
                <a:endParaRPr lang="en-US" sz="2800" spc="-1" dirty="0" smtClean="0">
                  <a:solidFill>
                    <a:srgbClr val="000000"/>
                  </a:solidFill>
                  <a:uFill>
                    <a:solidFill>
                      <a:srgbClr val="FFFFFF"/>
                    </a:solidFill>
                  </a:uFill>
                  <a:latin typeface="Calibri"/>
                </a:endParaRPr>
              </a:p>
              <a:p>
                <a:r>
                  <a:rPr lang="en-US" sz="2800" spc="-1" dirty="0">
                    <a:solidFill>
                      <a:srgbClr val="000000"/>
                    </a:solidFill>
                    <a:uFill>
                      <a:solidFill>
                        <a:srgbClr val="FFFFFF"/>
                      </a:solidFill>
                    </a:uFill>
                    <a:latin typeface="Calibri"/>
                  </a:rPr>
                  <a:t>	</a:t>
                </a:r>
                <a:r>
                  <a:rPr lang="en-US" sz="2800" spc="-1" dirty="0" smtClean="0">
                    <a:solidFill>
                      <a:srgbClr val="000000"/>
                    </a:solidFill>
                    <a:uFill>
                      <a:solidFill>
                        <a:srgbClr val="FFFFFF"/>
                      </a:solidFill>
                    </a:uFill>
                    <a:latin typeface="Calibri"/>
                  </a:rPr>
                  <a:t>	</a:t>
                </a:r>
                <a:endParaRPr lang="en-US" sz="2800" spc="-1" dirty="0">
                  <a:solidFill>
                    <a:srgbClr val="000000"/>
                  </a:solidFill>
                  <a:uFill>
                    <a:solidFill>
                      <a:srgbClr val="FFFFFF"/>
                    </a:solidFill>
                  </a:uFill>
                  <a:latin typeface="Calibri"/>
                </a:endParaRPr>
              </a:p>
              <a:p>
                <a:pPr marL="971550" lvl="1" indent="-514350">
                  <a:buFont typeface="+mj-lt"/>
                  <a:buAutoNum type="arabicPeriod"/>
                </a:pPr>
                <a:endParaRPr lang="en-US" sz="2800" spc="-1" dirty="0" smtClean="0">
                  <a:solidFill>
                    <a:srgbClr val="000000"/>
                  </a:solidFill>
                  <a:uFill>
                    <a:solidFill>
                      <a:srgbClr val="FFFFFF"/>
                    </a:solidFill>
                  </a:uFill>
                  <a:latin typeface="Calibri"/>
                </a:endParaRPr>
              </a:p>
              <a:p>
                <a:endParaRPr lang="en-US" sz="2800" b="0" strike="noStrike" spc="-1" dirty="0">
                  <a:solidFill>
                    <a:srgbClr val="000000"/>
                  </a:solidFill>
                  <a:uFill>
                    <a:solidFill>
                      <a:srgbClr val="FFFFFF"/>
                    </a:solidFill>
                  </a:uFill>
                  <a:latin typeface="Calibri"/>
                </a:endParaRPr>
              </a:p>
            </p:txBody>
          </p:sp>
        </mc:Choice>
        <mc:Fallback xmlns="">
          <p:sp>
            <p:nvSpPr>
              <p:cNvPr id="87" name="TextShape 2"/>
              <p:cNvSpPr txBox="1">
                <a:spLocks noRot="1" noChangeAspect="1" noMove="1" noResize="1" noEditPoints="1" noAdjustHandles="1" noChangeArrowheads="1" noChangeShapeType="1" noTextEdit="1"/>
              </p:cNvSpPr>
              <p:nvPr/>
            </p:nvSpPr>
            <p:spPr>
              <a:xfrm>
                <a:off x="828555" y="1825560"/>
                <a:ext cx="10515240" cy="4803840"/>
              </a:xfrm>
              <a:prstGeom prst="rect">
                <a:avLst/>
              </a:prstGeom>
              <a:blipFill rotWithShape="1">
                <a:blip r:embed="rId4"/>
                <a:stretch>
                  <a:fillRect l="-1217" t="-1141"/>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03808015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6"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pc="-1" dirty="0" smtClean="0">
                    <a:solidFill>
                      <a:srgbClr val="000000"/>
                    </a:solidFill>
                    <a:uFill>
                      <a:solidFill>
                        <a:srgbClr val="FFFFFF"/>
                      </a:solidFill>
                    </a:uFill>
                    <a:latin typeface="Calibri Light"/>
                  </a:rPr>
                  <a:t>Evaluation strategy: </a:t>
                </a:r>
                <a14:m>
                  <m:oMath xmlns:m="http://schemas.openxmlformats.org/officeDocument/2006/math">
                    <m:r>
                      <m:rPr>
                        <m:sty m:val="p"/>
                      </m:rPr>
                      <a:rPr lang="el-GR" sz="4400" b="1" i="1" spc="-1" dirty="0" smtClean="0">
                        <a:solidFill>
                          <a:srgbClr val="000000"/>
                        </a:solidFill>
                        <a:uFill>
                          <a:solidFill>
                            <a:srgbClr val="FFFFFF"/>
                          </a:solidFill>
                        </a:uFill>
                        <a:latin typeface="Cambria Math"/>
                      </a:rPr>
                      <m:t>β</m:t>
                    </m:r>
                  </m:oMath>
                </a14:m>
                <a:r>
                  <a:rPr lang="en-US" sz="4400" b="1" spc="-1" dirty="0" smtClean="0">
                    <a:solidFill>
                      <a:srgbClr val="000000"/>
                    </a:solidFill>
                    <a:uFill>
                      <a:solidFill>
                        <a:srgbClr val="FFFFFF"/>
                      </a:solidFill>
                    </a:uFill>
                    <a:latin typeface="Calibri Light"/>
                  </a:rPr>
                  <a:t>-reduction, with practice</a:t>
                </a:r>
                <a:endParaRPr lang="en-US" sz="4400" b="1" spc="-1" dirty="0">
                  <a:solidFill>
                    <a:srgbClr val="000000"/>
                  </a:solidFill>
                  <a:uFill>
                    <a:solidFill>
                      <a:srgbClr val="FFFFFF"/>
                    </a:solidFill>
                  </a:uFill>
                  <a:latin typeface="Calibri"/>
                </a:endParaRPr>
              </a:p>
            </p:txBody>
          </p:sp>
        </mc:Choice>
        <mc:Fallback>
          <p:sp>
            <p:nvSpPr>
              <p:cNvPr id="86" name="TextShape 1"/>
              <p:cNvSpPr txBox="1">
                <a:spLocks noRot="1" noChangeAspect="1" noMove="1" noResize="1" noEditPoints="1" noAdjustHandles="1" noChangeArrowheads="1" noChangeShapeType="1" noTextEdit="1"/>
              </p:cNvSpPr>
              <p:nvPr/>
            </p:nvSpPr>
            <p:spPr>
              <a:xfrm>
                <a:off x="838080" y="365040"/>
                <a:ext cx="10515240" cy="1325160"/>
              </a:xfrm>
              <a:prstGeom prst="rect">
                <a:avLst/>
              </a:prstGeom>
              <a:blipFill rotWithShape="0">
                <a:blip r:embed="rId3"/>
                <a:stretch>
                  <a:fillRect l="-2319" r="-75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Shape 2"/>
              <p:cNvSpPr txBox="1"/>
              <p:nvPr/>
            </p:nvSpPr>
            <p:spPr>
              <a:xfrm>
                <a:off x="828555" y="1825560"/>
                <a:ext cx="10515240" cy="4803840"/>
              </a:xfrm>
              <a:prstGeom prst="rect">
                <a:avLst/>
              </a:prstGeom>
              <a:noFill/>
              <a:ln>
                <a:noFill/>
              </a:ln>
            </p:spPr>
            <p:txBody>
              <a:bodyPr/>
              <a:lstStyle/>
              <a:p>
                <a:r>
                  <a:rPr lang="en-US" sz="2800" spc="-1" dirty="0" smtClean="0">
                    <a:solidFill>
                      <a:srgbClr val="000000"/>
                    </a:solidFill>
                    <a:uFill>
                      <a:solidFill>
                        <a:srgbClr val="FFFFFF"/>
                      </a:solidFill>
                    </a:uFill>
                    <a:latin typeface="Calibri"/>
                  </a:rPr>
                  <a:t>Simplify the following expression to normal form. </a:t>
                </a:r>
              </a:p>
              <a:p>
                <a:endParaRPr lang="en-US" sz="2800" spc="-1" dirty="0" smtClean="0">
                  <a:solidFill>
                    <a:srgbClr val="000000"/>
                  </a:solidFill>
                  <a:uFill>
                    <a:solidFill>
                      <a:srgbClr val="FFFFFF"/>
                    </a:solidFill>
                  </a:uFill>
                  <a:latin typeface="Calibri"/>
                </a:endParaRPr>
              </a:p>
              <a:p>
                <a:r>
                  <a:rPr lang="en-US" sz="2800" spc="-1" dirty="0">
                    <a:solidFill>
                      <a:srgbClr val="000000"/>
                    </a:solidFill>
                    <a:uFill>
                      <a:solidFill>
                        <a:srgbClr val="FFFFFF"/>
                      </a:solidFill>
                    </a:uFill>
                    <a:latin typeface="Calibri"/>
                  </a:rPr>
                  <a:t>	</a:t>
                </a:r>
                <a:r>
                  <a:rPr lang="en-US" sz="2800" spc="-1" dirty="0" smtClean="0">
                    <a:solidFill>
                      <a:srgbClr val="000000"/>
                    </a:solidFill>
                    <a:uFill>
                      <a:solidFill>
                        <a:srgbClr val="FFFFFF"/>
                      </a:solidFill>
                    </a:uFill>
                    <a:latin typeface="Calibri"/>
                  </a:rPr>
                  <a:t>	</a:t>
                </a:r>
                <a:r>
                  <a:rPr lang="el-GR" sz="2800" spc="-1" dirty="0">
                    <a:solidFill>
                      <a:srgbClr val="000000"/>
                    </a:solidFill>
                    <a:uFill>
                      <a:solidFill>
                        <a:srgbClr val="FFFFFF"/>
                      </a:solidFill>
                    </a:uFill>
                    <a:latin typeface="Calibri"/>
                  </a:rPr>
                  <a:t> </a:t>
                </a:r>
                <a14:m>
                  <m:oMath xmlns:m="http://schemas.openxmlformats.org/officeDocument/2006/math">
                    <m:d>
                      <m:dPr>
                        <m:ctrlPr>
                          <a:rPr lang="en-US" sz="2800" b="0" i="1" spc="-1" dirty="0" smtClean="0">
                            <a:solidFill>
                              <a:srgbClr val="000000"/>
                            </a:solidFill>
                            <a:uFill>
                              <a:solidFill>
                                <a:srgbClr val="FFFFFF"/>
                              </a:solidFill>
                            </a:uFill>
                            <a:latin typeface="Cambria Math" panose="02040503050406030204" pitchFamily="18" charset="0"/>
                          </a:rPr>
                        </m:ctrlPr>
                      </m:dPr>
                      <m:e>
                        <m:r>
                          <a:rPr lang="el-GR" sz="2800" i="1" spc="-1" dirty="0">
                            <a:solidFill>
                              <a:srgbClr val="000000"/>
                            </a:solidFill>
                            <a:uFill>
                              <a:solidFill>
                                <a:srgbClr val="FFFFFF"/>
                              </a:solidFill>
                            </a:uFill>
                            <a:latin typeface="Cambria Math"/>
                          </a:rPr>
                          <m:t>𝜆</m:t>
                        </m:r>
                        <m:r>
                          <a:rPr lang="en-US" sz="2800" b="0" i="1" spc="-1" dirty="0" smtClean="0">
                            <a:solidFill>
                              <a:srgbClr val="000000"/>
                            </a:solidFill>
                            <a:uFill>
                              <a:solidFill>
                                <a:srgbClr val="FFFFFF"/>
                              </a:solidFill>
                            </a:uFill>
                            <a:latin typeface="Cambria Math" panose="02040503050406030204" pitchFamily="18" charset="0"/>
                          </a:rPr>
                          <m:t>𝑦</m:t>
                        </m:r>
                        <m:r>
                          <a:rPr lang="en-US" sz="2800" b="0" i="1" spc="-1" dirty="0" smtClean="0">
                            <a:solidFill>
                              <a:srgbClr val="000000"/>
                            </a:solidFill>
                            <a:uFill>
                              <a:solidFill>
                                <a:srgbClr val="FFFFFF"/>
                              </a:solidFill>
                            </a:uFill>
                            <a:latin typeface="Cambria Math" panose="02040503050406030204" pitchFamily="18" charset="0"/>
                          </a:rPr>
                          <m:t>.</m:t>
                        </m:r>
                        <m:r>
                          <a:rPr lang="en-US" sz="2800" b="0" i="1" spc="-1" dirty="0" smtClean="0">
                            <a:solidFill>
                              <a:srgbClr val="000000"/>
                            </a:solidFill>
                            <a:uFill>
                              <a:solidFill>
                                <a:srgbClr val="FFFFFF"/>
                              </a:solidFill>
                            </a:uFill>
                            <a:latin typeface="Cambria Math" panose="02040503050406030204" pitchFamily="18" charset="0"/>
                          </a:rPr>
                          <m:t>𝑥</m:t>
                        </m:r>
                        <m:d>
                          <m:dPr>
                            <m:ctrlPr>
                              <a:rPr lang="en-US" sz="2800" b="0" i="1" spc="-1" dirty="0" smtClean="0">
                                <a:solidFill>
                                  <a:srgbClr val="000000"/>
                                </a:solidFill>
                                <a:uFill>
                                  <a:solidFill>
                                    <a:srgbClr val="FFFFFF"/>
                                  </a:solidFill>
                                </a:uFill>
                                <a:latin typeface="Cambria Math" panose="02040503050406030204" pitchFamily="18" charset="0"/>
                              </a:rPr>
                            </m:ctrlPr>
                          </m:dPr>
                          <m:e>
                            <m:r>
                              <a:rPr lang="en-US" sz="2800" b="0" i="1" spc="-1" dirty="0" smtClean="0">
                                <a:solidFill>
                                  <a:srgbClr val="000000"/>
                                </a:solidFill>
                                <a:uFill>
                                  <a:solidFill>
                                    <a:srgbClr val="FFFFFF"/>
                                  </a:solidFill>
                                </a:uFill>
                                <a:latin typeface="Cambria Math" panose="02040503050406030204" pitchFamily="18" charset="0"/>
                              </a:rPr>
                              <m:t>𝑦𝑧</m:t>
                            </m:r>
                          </m:e>
                        </m:d>
                      </m:e>
                    </m:d>
                    <m:d>
                      <m:dPr>
                        <m:ctrlPr>
                          <a:rPr lang="en-US" sz="2800" b="0" i="1" spc="-1" dirty="0" smtClean="0">
                            <a:solidFill>
                              <a:srgbClr val="000000"/>
                            </a:solidFill>
                            <a:uFill>
                              <a:solidFill>
                                <a:srgbClr val="FFFFFF"/>
                              </a:solidFill>
                            </a:uFill>
                            <a:latin typeface="Cambria Math" panose="02040503050406030204" pitchFamily="18" charset="0"/>
                          </a:rPr>
                        </m:ctrlPr>
                      </m:dPr>
                      <m:e>
                        <m:r>
                          <a:rPr lang="en-US" sz="2800" b="0" i="1" spc="-1" dirty="0" smtClean="0">
                            <a:solidFill>
                              <a:schemeClr val="tx1"/>
                            </a:solidFill>
                            <a:uFill>
                              <a:solidFill>
                                <a:srgbClr val="FFFFFF"/>
                              </a:solidFill>
                            </a:uFill>
                            <a:latin typeface="Cambria Math" panose="02040503050406030204" pitchFamily="18" charset="0"/>
                          </a:rPr>
                          <m:t>𝑎𝑏</m:t>
                        </m:r>
                      </m:e>
                    </m:d>
                  </m:oMath>
                </a14:m>
                <a:r>
                  <a:rPr lang="en-US" sz="2800" spc="-1" dirty="0" smtClean="0">
                    <a:solidFill>
                      <a:srgbClr val="000000"/>
                    </a:solidFill>
                    <a:uFill>
                      <a:solidFill>
                        <a:srgbClr val="FFFFFF"/>
                      </a:solidFill>
                    </a:uFill>
                    <a:latin typeface="Calibri"/>
                  </a:rPr>
                  <a:t> </a:t>
                </a:r>
              </a:p>
              <a:p>
                <a:endParaRPr lang="en-US" sz="2800" spc="-1" dirty="0">
                  <a:solidFill>
                    <a:srgbClr val="000000"/>
                  </a:solidFill>
                  <a:uFill>
                    <a:solidFill>
                      <a:srgbClr val="FFFFFF"/>
                    </a:solidFill>
                  </a:uFill>
                  <a:latin typeface="Calibri"/>
                </a:endParaRPr>
              </a:p>
              <a:p>
                <a:r>
                  <a:rPr lang="en-US" sz="2800" spc="-1" dirty="0" smtClean="0">
                    <a:solidFill>
                      <a:srgbClr val="000000"/>
                    </a:solidFill>
                    <a:uFill>
                      <a:solidFill>
                        <a:srgbClr val="FFFFFF"/>
                      </a:solidFill>
                    </a:uFill>
                    <a:latin typeface="Calibri"/>
                  </a:rPr>
                  <a:t>		</a:t>
                </a:r>
                <a14:m>
                  <m:oMath xmlns:m="http://schemas.openxmlformats.org/officeDocument/2006/math">
                    <m:d>
                      <m:dPr>
                        <m:ctrlPr>
                          <a:rPr lang="en-US" sz="2800" i="1" spc="-1" dirty="0">
                            <a:solidFill>
                              <a:srgbClr val="000000"/>
                            </a:solidFill>
                            <a:uFill>
                              <a:solidFill>
                                <a:srgbClr val="FFFFFF"/>
                              </a:solidFill>
                            </a:uFill>
                            <a:latin typeface="Cambria Math" panose="02040503050406030204" pitchFamily="18" charset="0"/>
                          </a:rPr>
                        </m:ctrlPr>
                      </m:dPr>
                      <m:e>
                        <m:r>
                          <a:rPr lang="el-GR" sz="2800" i="1" spc="-1" dirty="0">
                            <a:solidFill>
                              <a:srgbClr val="000000"/>
                            </a:solidFill>
                            <a:uFill>
                              <a:solidFill>
                                <a:srgbClr val="FFFFFF"/>
                              </a:solidFill>
                            </a:uFill>
                            <a:latin typeface="Cambria Math"/>
                          </a:rPr>
                          <m:t>𝜆</m:t>
                        </m:r>
                        <m:r>
                          <a:rPr lang="en-US" sz="2800" b="0" i="1" spc="-1" dirty="0" smtClean="0">
                            <a:solidFill>
                              <a:srgbClr val="FF0000"/>
                            </a:solidFill>
                            <a:uFill>
                              <a:solidFill>
                                <a:srgbClr val="FFFFFF"/>
                              </a:solidFill>
                            </a:uFill>
                            <a:latin typeface="Cambria Math" panose="02040503050406030204" pitchFamily="18" charset="0"/>
                          </a:rPr>
                          <m:t>𝑎𝑏</m:t>
                        </m:r>
                        <m:r>
                          <a:rPr lang="en-US" sz="2800" i="1" spc="-1" dirty="0">
                            <a:solidFill>
                              <a:srgbClr val="000000"/>
                            </a:solidFill>
                            <a:uFill>
                              <a:solidFill>
                                <a:srgbClr val="FFFFFF"/>
                              </a:solidFill>
                            </a:uFill>
                            <a:latin typeface="Cambria Math" panose="02040503050406030204" pitchFamily="18" charset="0"/>
                          </a:rPr>
                          <m:t>.</m:t>
                        </m:r>
                        <m:r>
                          <a:rPr lang="en-US" sz="2800" i="1" spc="-1" dirty="0">
                            <a:solidFill>
                              <a:srgbClr val="000000"/>
                            </a:solidFill>
                            <a:uFill>
                              <a:solidFill>
                                <a:srgbClr val="FFFFFF"/>
                              </a:solidFill>
                            </a:uFill>
                            <a:latin typeface="Cambria Math" panose="02040503050406030204" pitchFamily="18" charset="0"/>
                          </a:rPr>
                          <m:t>𝑥</m:t>
                        </m:r>
                        <m:d>
                          <m:dPr>
                            <m:ctrlPr>
                              <a:rPr lang="en-US" sz="2800" i="1" spc="-1" dirty="0">
                                <a:solidFill>
                                  <a:srgbClr val="000000"/>
                                </a:solidFill>
                                <a:uFill>
                                  <a:solidFill>
                                    <a:srgbClr val="FFFFFF"/>
                                  </a:solidFill>
                                </a:uFill>
                                <a:latin typeface="Cambria Math" panose="02040503050406030204" pitchFamily="18" charset="0"/>
                              </a:rPr>
                            </m:ctrlPr>
                          </m:dPr>
                          <m:e>
                            <m:d>
                              <m:dPr>
                                <m:ctrlPr>
                                  <a:rPr lang="en-US" sz="2800" b="0" i="1" spc="-1" dirty="0" smtClean="0">
                                    <a:solidFill>
                                      <a:srgbClr val="000000"/>
                                    </a:solidFill>
                                    <a:uFill>
                                      <a:solidFill>
                                        <a:srgbClr val="FFFFFF"/>
                                      </a:solidFill>
                                    </a:uFill>
                                    <a:latin typeface="Cambria Math" panose="02040503050406030204" pitchFamily="18" charset="0"/>
                                  </a:rPr>
                                </m:ctrlPr>
                              </m:dPr>
                              <m:e>
                                <m:r>
                                  <a:rPr lang="en-US" sz="2800" b="0" i="1" spc="-1" dirty="0" smtClean="0">
                                    <a:solidFill>
                                      <a:srgbClr val="FF0000"/>
                                    </a:solidFill>
                                    <a:uFill>
                                      <a:solidFill>
                                        <a:srgbClr val="FFFFFF"/>
                                      </a:solidFill>
                                    </a:uFill>
                                    <a:latin typeface="Cambria Math" panose="02040503050406030204" pitchFamily="18" charset="0"/>
                                  </a:rPr>
                                  <m:t>𝑎𝑏</m:t>
                                </m:r>
                              </m:e>
                            </m:d>
                            <m:r>
                              <a:rPr lang="en-US" sz="2800" i="1" spc="-1" dirty="0">
                                <a:solidFill>
                                  <a:srgbClr val="000000"/>
                                </a:solidFill>
                                <a:uFill>
                                  <a:solidFill>
                                    <a:srgbClr val="FFFFFF"/>
                                  </a:solidFill>
                                </a:uFill>
                                <a:latin typeface="Cambria Math" panose="02040503050406030204" pitchFamily="18" charset="0"/>
                              </a:rPr>
                              <m:t>𝑧</m:t>
                            </m:r>
                          </m:e>
                        </m:d>
                      </m:e>
                    </m:d>
                    <m:d>
                      <m:dPr>
                        <m:ctrlPr>
                          <a:rPr lang="en-US" sz="2800" i="1" spc="-1" dirty="0">
                            <a:solidFill>
                              <a:srgbClr val="000000"/>
                            </a:solidFill>
                            <a:uFill>
                              <a:solidFill>
                                <a:srgbClr val="FFFFFF"/>
                              </a:solidFill>
                            </a:uFill>
                            <a:latin typeface="Cambria Math" panose="02040503050406030204" pitchFamily="18" charset="0"/>
                          </a:rPr>
                        </m:ctrlPr>
                      </m:dPr>
                      <m:e>
                        <m:r>
                          <a:rPr lang="en-US" sz="2800" i="1" spc="-1" dirty="0">
                            <a:solidFill>
                              <a:srgbClr val="FF0000"/>
                            </a:solidFill>
                            <a:uFill>
                              <a:solidFill>
                                <a:srgbClr val="FFFFFF"/>
                              </a:solidFill>
                            </a:uFill>
                            <a:latin typeface="Cambria Math" panose="02040503050406030204" pitchFamily="18" charset="0"/>
                          </a:rPr>
                          <m:t>𝑎𝑏</m:t>
                        </m:r>
                      </m:e>
                    </m:d>
                  </m:oMath>
                </a14:m>
                <a:endParaRPr lang="en-US" sz="2800" spc="-1" dirty="0" smtClean="0">
                  <a:solidFill>
                    <a:srgbClr val="C00000"/>
                  </a:solidFill>
                  <a:uFill>
                    <a:solidFill>
                      <a:srgbClr val="FFFFFF"/>
                    </a:solidFill>
                  </a:uFill>
                  <a:latin typeface="Calibri"/>
                </a:endParaRPr>
              </a:p>
              <a:p>
                <a:endParaRPr lang="en-US" sz="2800" spc="-1" dirty="0" smtClean="0">
                  <a:solidFill>
                    <a:srgbClr val="000000"/>
                  </a:solidFill>
                  <a:uFill>
                    <a:solidFill>
                      <a:srgbClr val="FFFFFF"/>
                    </a:solidFill>
                  </a:uFill>
                  <a:latin typeface="Calibri"/>
                </a:endParaRPr>
              </a:p>
              <a:p>
                <a:r>
                  <a:rPr lang="en-US" sz="2800" spc="-1" dirty="0">
                    <a:solidFill>
                      <a:srgbClr val="000000"/>
                    </a:solidFill>
                    <a:uFill>
                      <a:solidFill>
                        <a:srgbClr val="FFFFFF"/>
                      </a:solidFill>
                    </a:uFill>
                    <a:latin typeface="Calibri"/>
                  </a:rPr>
                  <a:t>	</a:t>
                </a:r>
                <a:r>
                  <a:rPr lang="en-US" sz="2800" spc="-1" dirty="0" smtClean="0">
                    <a:solidFill>
                      <a:srgbClr val="000000"/>
                    </a:solidFill>
                    <a:uFill>
                      <a:solidFill>
                        <a:srgbClr val="FFFFFF"/>
                      </a:solidFill>
                    </a:uFill>
                    <a:latin typeface="Calibri"/>
                  </a:rPr>
                  <a:t>	</a:t>
                </a:r>
                <a14:m>
                  <m:oMath xmlns:m="http://schemas.openxmlformats.org/officeDocument/2006/math">
                    <m:r>
                      <a:rPr lang="en-US" sz="2800" i="1" spc="-1" dirty="0" smtClean="0">
                        <a:solidFill>
                          <a:srgbClr val="000000"/>
                        </a:solidFill>
                        <a:uFill>
                          <a:solidFill>
                            <a:srgbClr val="FFFFFF"/>
                          </a:solidFill>
                        </a:uFill>
                        <a:latin typeface="Cambria Math" panose="02040503050406030204" pitchFamily="18" charset="0"/>
                      </a:rPr>
                      <m:t>𝑥</m:t>
                    </m:r>
                    <m:r>
                      <a:rPr lang="en-US" sz="2800" i="1" spc="-1" dirty="0" smtClean="0">
                        <a:solidFill>
                          <a:srgbClr val="000000"/>
                        </a:solidFill>
                        <a:uFill>
                          <a:solidFill>
                            <a:srgbClr val="FFFFFF"/>
                          </a:solidFill>
                        </a:uFill>
                        <a:latin typeface="Cambria Math" panose="02040503050406030204" pitchFamily="18" charset="0"/>
                      </a:rPr>
                      <m:t>((</m:t>
                    </m:r>
                    <m:r>
                      <a:rPr lang="en-US" sz="2800" i="1" spc="-1" dirty="0" smtClean="0">
                        <a:solidFill>
                          <a:srgbClr val="FF0000"/>
                        </a:solidFill>
                        <a:uFill>
                          <a:solidFill>
                            <a:srgbClr val="FFFFFF"/>
                          </a:solidFill>
                        </a:uFill>
                        <a:latin typeface="Cambria Math" panose="02040503050406030204" pitchFamily="18" charset="0"/>
                      </a:rPr>
                      <m:t>𝑎𝑏</m:t>
                    </m:r>
                    <m:r>
                      <a:rPr lang="en-US" sz="2800" i="1" spc="-1" dirty="0" smtClean="0">
                        <a:solidFill>
                          <a:srgbClr val="000000"/>
                        </a:solidFill>
                        <a:uFill>
                          <a:solidFill>
                            <a:srgbClr val="FFFFFF"/>
                          </a:solidFill>
                        </a:uFill>
                        <a:latin typeface="Cambria Math" panose="02040503050406030204" pitchFamily="18" charset="0"/>
                      </a:rPr>
                      <m:t>)</m:t>
                    </m:r>
                    <m:r>
                      <a:rPr lang="en-US" sz="2800" i="1" spc="-1" dirty="0" smtClean="0">
                        <a:solidFill>
                          <a:srgbClr val="000000"/>
                        </a:solidFill>
                        <a:uFill>
                          <a:solidFill>
                            <a:srgbClr val="FFFFFF"/>
                          </a:solidFill>
                        </a:uFill>
                        <a:latin typeface="Cambria Math" panose="02040503050406030204" pitchFamily="18" charset="0"/>
                      </a:rPr>
                      <m:t>𝑧</m:t>
                    </m:r>
                    <m:r>
                      <a:rPr lang="en-US" sz="2800" i="1" spc="-1" dirty="0" smtClean="0">
                        <a:solidFill>
                          <a:srgbClr val="000000"/>
                        </a:solidFill>
                        <a:uFill>
                          <a:solidFill>
                            <a:srgbClr val="FFFFFF"/>
                          </a:solidFill>
                        </a:uFill>
                        <a:latin typeface="Cambria Math" panose="02040503050406030204" pitchFamily="18" charset="0"/>
                      </a:rPr>
                      <m:t>)      </m:t>
                    </m:r>
                    <m:r>
                      <m:rPr>
                        <m:sty m:val="p"/>
                      </m:rPr>
                      <a:rPr lang="en-US" sz="2800" i="0" spc="-1" dirty="0" smtClean="0">
                        <a:solidFill>
                          <a:srgbClr val="000000"/>
                        </a:solidFill>
                        <a:uFill>
                          <a:solidFill>
                            <a:srgbClr val="FFFFFF"/>
                          </a:solidFill>
                        </a:uFill>
                        <a:latin typeface="Cambria Math" panose="02040503050406030204" pitchFamily="18" charset="0"/>
                      </a:rPr>
                      <m:t>or</m:t>
                    </m:r>
                    <m:r>
                      <a:rPr lang="en-US" sz="2800" i="1" spc="-1" dirty="0" smtClean="0">
                        <a:solidFill>
                          <a:srgbClr val="000000"/>
                        </a:solidFill>
                        <a:uFill>
                          <a:solidFill>
                            <a:srgbClr val="FFFFFF"/>
                          </a:solidFill>
                        </a:uFill>
                        <a:latin typeface="Cambria Math" panose="02040503050406030204" pitchFamily="18" charset="0"/>
                      </a:rPr>
                      <m:t> </m:t>
                    </m:r>
                    <m:r>
                      <a:rPr lang="en-US" sz="2800" b="0" i="1" spc="-1" dirty="0" smtClean="0">
                        <a:solidFill>
                          <a:srgbClr val="000000"/>
                        </a:solidFill>
                        <a:uFill>
                          <a:solidFill>
                            <a:srgbClr val="FFFFFF"/>
                          </a:solidFill>
                        </a:uFill>
                        <a:latin typeface="Cambria Math" panose="02040503050406030204" pitchFamily="18" charset="0"/>
                      </a:rPr>
                      <m:t>     </m:t>
                    </m:r>
                    <m:r>
                      <a:rPr lang="en-US" sz="2800" i="1" spc="-1" dirty="0" smtClean="0">
                        <a:solidFill>
                          <a:srgbClr val="000000"/>
                        </a:solidFill>
                        <a:uFill>
                          <a:solidFill>
                            <a:srgbClr val="FFFFFF"/>
                          </a:solidFill>
                        </a:uFill>
                        <a:latin typeface="Cambria Math" panose="02040503050406030204" pitchFamily="18" charset="0"/>
                      </a:rPr>
                      <m:t>𝑥</m:t>
                    </m:r>
                    <m:r>
                      <a:rPr lang="en-US" sz="2800" i="1" spc="-1" dirty="0" smtClean="0">
                        <a:solidFill>
                          <a:srgbClr val="000000"/>
                        </a:solidFill>
                        <a:uFill>
                          <a:solidFill>
                            <a:srgbClr val="FFFFFF"/>
                          </a:solidFill>
                        </a:uFill>
                        <a:latin typeface="Cambria Math" panose="02040503050406030204" pitchFamily="18" charset="0"/>
                      </a:rPr>
                      <m:t>(</m:t>
                    </m:r>
                    <m:r>
                      <a:rPr lang="en-US" sz="2800" i="1" spc="-1" dirty="0" smtClean="0">
                        <a:solidFill>
                          <a:srgbClr val="FF0000"/>
                        </a:solidFill>
                        <a:uFill>
                          <a:solidFill>
                            <a:srgbClr val="FFFFFF"/>
                          </a:solidFill>
                        </a:uFill>
                        <a:latin typeface="Cambria Math" panose="02040503050406030204" pitchFamily="18" charset="0"/>
                      </a:rPr>
                      <m:t>𝑎𝑏</m:t>
                    </m:r>
                    <m:r>
                      <a:rPr lang="en-US" sz="2800" i="1" spc="-1" dirty="0" smtClean="0">
                        <a:solidFill>
                          <a:srgbClr val="000000"/>
                        </a:solidFill>
                        <a:uFill>
                          <a:solidFill>
                            <a:srgbClr val="FFFFFF"/>
                          </a:solidFill>
                        </a:uFill>
                        <a:latin typeface="Cambria Math" panose="02040503050406030204" pitchFamily="18" charset="0"/>
                      </a:rPr>
                      <m:t> </m:t>
                    </m:r>
                    <m:r>
                      <a:rPr lang="en-US" sz="2800" i="1" spc="-1" dirty="0" smtClean="0">
                        <a:solidFill>
                          <a:srgbClr val="000000"/>
                        </a:solidFill>
                        <a:uFill>
                          <a:solidFill>
                            <a:srgbClr val="FFFFFF"/>
                          </a:solidFill>
                        </a:uFill>
                        <a:latin typeface="Cambria Math" panose="02040503050406030204" pitchFamily="18" charset="0"/>
                      </a:rPr>
                      <m:t>𝑧</m:t>
                    </m:r>
                    <m:r>
                      <a:rPr lang="en-US" sz="2800" i="1" spc="-1" dirty="0" smtClean="0">
                        <a:solidFill>
                          <a:srgbClr val="000000"/>
                        </a:solidFill>
                        <a:uFill>
                          <a:solidFill>
                            <a:srgbClr val="FFFFFF"/>
                          </a:solidFill>
                        </a:uFill>
                        <a:latin typeface="Cambria Math" panose="02040503050406030204" pitchFamily="18" charset="0"/>
                      </a:rPr>
                      <m:t>)</m:t>
                    </m:r>
                  </m:oMath>
                </a14:m>
                <a:endParaRPr lang="en-US" sz="2800" spc="-1" dirty="0" smtClean="0">
                  <a:solidFill>
                    <a:srgbClr val="000000"/>
                  </a:solidFill>
                  <a:uFill>
                    <a:solidFill>
                      <a:srgbClr val="FFFFFF"/>
                    </a:solidFill>
                  </a:uFill>
                  <a:latin typeface="Calibri"/>
                </a:endParaRPr>
              </a:p>
              <a:p>
                <a:r>
                  <a:rPr lang="en-US" sz="2800" spc="-1" dirty="0">
                    <a:solidFill>
                      <a:srgbClr val="000000"/>
                    </a:solidFill>
                    <a:uFill>
                      <a:solidFill>
                        <a:srgbClr val="FFFFFF"/>
                      </a:solidFill>
                    </a:uFill>
                    <a:latin typeface="Calibri"/>
                  </a:rPr>
                  <a:t>	</a:t>
                </a:r>
                <a:r>
                  <a:rPr lang="en-US" sz="2800" spc="-1" dirty="0" smtClean="0">
                    <a:solidFill>
                      <a:srgbClr val="000000"/>
                    </a:solidFill>
                    <a:uFill>
                      <a:solidFill>
                        <a:srgbClr val="FFFFFF"/>
                      </a:solidFill>
                    </a:uFill>
                    <a:latin typeface="Calibri"/>
                  </a:rPr>
                  <a:t>	</a:t>
                </a:r>
                <a:endParaRPr lang="en-US" sz="2800" spc="-1" dirty="0">
                  <a:solidFill>
                    <a:srgbClr val="000000"/>
                  </a:solidFill>
                  <a:uFill>
                    <a:solidFill>
                      <a:srgbClr val="FFFFFF"/>
                    </a:solidFill>
                  </a:uFill>
                  <a:latin typeface="Calibri"/>
                </a:endParaRPr>
              </a:p>
              <a:p>
                <a:pPr marL="971550" lvl="1" indent="-514350">
                  <a:buFont typeface="+mj-lt"/>
                  <a:buAutoNum type="arabicPeriod"/>
                </a:pPr>
                <a:endParaRPr lang="en-US" sz="2800" spc="-1" dirty="0" smtClean="0">
                  <a:solidFill>
                    <a:srgbClr val="000000"/>
                  </a:solidFill>
                  <a:uFill>
                    <a:solidFill>
                      <a:srgbClr val="FFFFFF"/>
                    </a:solidFill>
                  </a:uFill>
                  <a:latin typeface="Calibri"/>
                </a:endParaRPr>
              </a:p>
              <a:p>
                <a:endParaRPr lang="en-US" sz="2800" b="0" strike="noStrike" spc="-1" dirty="0">
                  <a:solidFill>
                    <a:srgbClr val="000000"/>
                  </a:solidFill>
                  <a:uFill>
                    <a:solidFill>
                      <a:srgbClr val="FFFFFF"/>
                    </a:solidFill>
                  </a:uFill>
                  <a:latin typeface="Calibri"/>
                </a:endParaRPr>
              </a:p>
            </p:txBody>
          </p:sp>
        </mc:Choice>
        <mc:Fallback xmlns="">
          <p:sp>
            <p:nvSpPr>
              <p:cNvPr id="87" name="TextShape 2"/>
              <p:cNvSpPr txBox="1">
                <a:spLocks noRot="1" noChangeAspect="1" noMove="1" noResize="1" noEditPoints="1" noAdjustHandles="1" noChangeArrowheads="1" noChangeShapeType="1" noTextEdit="1"/>
              </p:cNvSpPr>
              <p:nvPr/>
            </p:nvSpPr>
            <p:spPr>
              <a:xfrm>
                <a:off x="828555" y="1825560"/>
                <a:ext cx="10515240" cy="4803840"/>
              </a:xfrm>
              <a:prstGeom prst="rect">
                <a:avLst/>
              </a:prstGeom>
              <a:blipFill rotWithShape="0">
                <a:blip r:embed="rId4"/>
                <a:stretch>
                  <a:fillRect l="-1217" t="-1141"/>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4713206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6"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pc="-1" dirty="0" smtClean="0">
                    <a:solidFill>
                      <a:srgbClr val="000000"/>
                    </a:solidFill>
                    <a:uFill>
                      <a:solidFill>
                        <a:srgbClr val="FFFFFF"/>
                      </a:solidFill>
                    </a:uFill>
                    <a:latin typeface="Calibri Light"/>
                  </a:rPr>
                  <a:t>Evaluation strategy: </a:t>
                </a:r>
                <a14:m>
                  <m:oMath xmlns:m="http://schemas.openxmlformats.org/officeDocument/2006/math">
                    <m:r>
                      <m:rPr>
                        <m:sty m:val="p"/>
                      </m:rPr>
                      <a:rPr lang="el-GR" sz="4400" b="1" i="1" spc="-1" dirty="0" smtClean="0">
                        <a:solidFill>
                          <a:srgbClr val="000000"/>
                        </a:solidFill>
                        <a:uFill>
                          <a:solidFill>
                            <a:srgbClr val="FFFFFF"/>
                          </a:solidFill>
                        </a:uFill>
                        <a:latin typeface="Cambria Math"/>
                      </a:rPr>
                      <m:t>α</m:t>
                    </m:r>
                  </m:oMath>
                </a14:m>
                <a:r>
                  <a:rPr lang="en-US" sz="4400" b="1" spc="-1" dirty="0" smtClean="0">
                    <a:solidFill>
                      <a:srgbClr val="000000"/>
                    </a:solidFill>
                    <a:uFill>
                      <a:solidFill>
                        <a:srgbClr val="FFFFFF"/>
                      </a:solidFill>
                    </a:uFill>
                    <a:latin typeface="Calibri Light"/>
                  </a:rPr>
                  <a:t>-conversion</a:t>
                </a:r>
                <a:endParaRPr lang="en-US" sz="4400" b="1" spc="-1" dirty="0">
                  <a:solidFill>
                    <a:srgbClr val="000000"/>
                  </a:solidFill>
                  <a:uFill>
                    <a:solidFill>
                      <a:srgbClr val="FFFFFF"/>
                    </a:solidFill>
                  </a:uFill>
                  <a:latin typeface="Calibri"/>
                </a:endParaRPr>
              </a:p>
            </p:txBody>
          </p:sp>
        </mc:Choice>
        <mc:Fallback>
          <p:sp>
            <p:nvSpPr>
              <p:cNvPr id="86" name="TextShape 1"/>
              <p:cNvSpPr txBox="1">
                <a:spLocks noRot="1" noChangeAspect="1" noMove="1" noResize="1" noEditPoints="1" noAdjustHandles="1" noChangeArrowheads="1" noChangeShapeType="1" noTextEdit="1"/>
              </p:cNvSpPr>
              <p:nvPr/>
            </p:nvSpPr>
            <p:spPr>
              <a:xfrm>
                <a:off x="838080" y="365040"/>
                <a:ext cx="10515240" cy="1325160"/>
              </a:xfrm>
              <a:prstGeom prst="rect">
                <a:avLst/>
              </a:prstGeom>
              <a:blipFill rotWithShape="0">
                <a:blip r:embed="rId3"/>
                <a:stretch>
                  <a:fillRect l="-2319"/>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7" name="TextShape 2"/>
              <p:cNvSpPr txBox="1"/>
              <p:nvPr/>
            </p:nvSpPr>
            <p:spPr>
              <a:xfrm>
                <a:off x="828555" y="1825560"/>
                <a:ext cx="10515240" cy="4803840"/>
              </a:xfrm>
              <a:prstGeom prst="rect">
                <a:avLst/>
              </a:prstGeom>
              <a:noFill/>
              <a:ln>
                <a:noFill/>
              </a:ln>
            </p:spPr>
            <p:txBody>
              <a:bodyPr/>
              <a:lstStyle/>
              <a:p>
                <a:r>
                  <a:rPr lang="en-US" sz="2800" spc="-1" dirty="0" smtClean="0">
                    <a:solidFill>
                      <a:srgbClr val="000000"/>
                    </a:solidFill>
                    <a:uFill>
                      <a:solidFill>
                        <a:srgbClr val="FFFFFF"/>
                      </a:solidFill>
                    </a:uFill>
                    <a:latin typeface="Calibri"/>
                  </a:rPr>
                  <a:t>Purpose: reassigning names to prevent incorrect or “illegal” reductions.</a:t>
                </a:r>
              </a:p>
              <a:p>
                <a:endParaRPr lang="en-US" sz="2800" spc="-1" dirty="0" smtClean="0">
                  <a:solidFill>
                    <a:srgbClr val="000000"/>
                  </a:solidFill>
                  <a:uFill>
                    <a:solidFill>
                      <a:srgbClr val="FFFFFF"/>
                    </a:solidFill>
                  </a:uFill>
                  <a:latin typeface="Calibri"/>
                </a:endParaRPr>
              </a:p>
              <a:p>
                <a:r>
                  <a:rPr lang="en-US" sz="2800" spc="-1" dirty="0">
                    <a:solidFill>
                      <a:srgbClr val="000000"/>
                    </a:solidFill>
                    <a:uFill>
                      <a:solidFill>
                        <a:srgbClr val="FFFFFF"/>
                      </a:solidFill>
                    </a:uFill>
                    <a:latin typeface="Calibri"/>
                  </a:rPr>
                  <a:t>	</a:t>
                </a:r>
                <a14:m>
                  <m:oMath xmlns:m="http://schemas.openxmlformats.org/officeDocument/2006/math">
                    <m:r>
                      <a:rPr lang="el-GR" sz="2800" i="1" spc="-1" dirty="0" smtClean="0">
                        <a:solidFill>
                          <a:srgbClr val="000000"/>
                        </a:solidFill>
                        <a:uFill>
                          <a:solidFill>
                            <a:srgbClr val="FFFFFF"/>
                          </a:solidFill>
                        </a:uFill>
                        <a:latin typeface="Cambria Math"/>
                      </a:rPr>
                      <m:t> </m:t>
                    </m:r>
                    <m:d>
                      <m:dPr>
                        <m:ctrlPr>
                          <a:rPr lang="en-US" sz="2800" i="1" spc="-1" dirty="0" smtClean="0">
                            <a:solidFill>
                              <a:srgbClr val="000000"/>
                            </a:solidFill>
                            <a:uFill>
                              <a:solidFill>
                                <a:srgbClr val="FFFFFF"/>
                              </a:solidFill>
                            </a:uFill>
                            <a:latin typeface="Cambria Math" panose="02040503050406030204" pitchFamily="18" charset="0"/>
                          </a:rPr>
                        </m:ctrlPr>
                      </m:dPr>
                      <m:e>
                        <m:r>
                          <a:rPr lang="el-GR" sz="2800" i="1" spc="-1" dirty="0" smtClean="0">
                            <a:solidFill>
                              <a:srgbClr val="000000"/>
                            </a:solidFill>
                            <a:uFill>
                              <a:solidFill>
                                <a:srgbClr val="FFFFFF"/>
                              </a:solidFill>
                            </a:uFill>
                            <a:latin typeface="Cambria Math"/>
                          </a:rPr>
                          <m:t>𝜆</m:t>
                        </m:r>
                        <m:r>
                          <a:rPr lang="en-US" sz="2800" i="1" spc="-1" dirty="0" smtClean="0">
                            <a:solidFill>
                              <a:srgbClr val="000000"/>
                            </a:solidFill>
                            <a:uFill>
                              <a:solidFill>
                                <a:srgbClr val="FFFFFF"/>
                              </a:solidFill>
                            </a:uFill>
                            <a:latin typeface="Cambria Math"/>
                          </a:rPr>
                          <m:t>𝑥</m:t>
                        </m:r>
                        <m:r>
                          <a:rPr lang="en-US" sz="2800" i="1" spc="-1" dirty="0" smtClean="0">
                            <a:solidFill>
                              <a:srgbClr val="000000"/>
                            </a:solidFill>
                            <a:uFill>
                              <a:solidFill>
                                <a:srgbClr val="FFFFFF"/>
                              </a:solidFill>
                            </a:uFill>
                            <a:latin typeface="Cambria Math"/>
                          </a:rPr>
                          <m:t>.</m:t>
                        </m:r>
                        <m:d>
                          <m:dPr>
                            <m:ctrlPr>
                              <a:rPr lang="en-US" sz="2800" i="1" spc="-1" dirty="0" smtClean="0">
                                <a:solidFill>
                                  <a:srgbClr val="000000"/>
                                </a:solidFill>
                                <a:uFill>
                                  <a:solidFill>
                                    <a:srgbClr val="FFFFFF"/>
                                  </a:solidFill>
                                </a:uFill>
                                <a:latin typeface="Cambria Math" panose="02040503050406030204" pitchFamily="18" charset="0"/>
                              </a:rPr>
                            </m:ctrlPr>
                          </m:dPr>
                          <m:e>
                            <m:r>
                              <a:rPr lang="el-GR" sz="2800" i="1" spc="-1" dirty="0" smtClean="0">
                                <a:solidFill>
                                  <a:srgbClr val="000000"/>
                                </a:solidFill>
                                <a:uFill>
                                  <a:solidFill>
                                    <a:srgbClr val="FFFFFF"/>
                                  </a:solidFill>
                                </a:uFill>
                                <a:latin typeface="Cambria Math"/>
                              </a:rPr>
                              <m:t>𝜆</m:t>
                            </m:r>
                            <m:r>
                              <a:rPr lang="en-US" sz="2800" i="1" spc="-1" dirty="0" err="1" smtClean="0">
                                <a:solidFill>
                                  <a:srgbClr val="000000"/>
                                </a:solidFill>
                                <a:uFill>
                                  <a:solidFill>
                                    <a:srgbClr val="FFFFFF"/>
                                  </a:solidFill>
                                </a:uFill>
                                <a:latin typeface="Cambria Math"/>
                              </a:rPr>
                              <m:t>𝑦</m:t>
                            </m:r>
                            <m:r>
                              <a:rPr lang="en-US" sz="2800" i="1" spc="-1" dirty="0" err="1" smtClean="0">
                                <a:solidFill>
                                  <a:srgbClr val="000000"/>
                                </a:solidFill>
                                <a:uFill>
                                  <a:solidFill>
                                    <a:srgbClr val="FFFFFF"/>
                                  </a:solidFill>
                                </a:uFill>
                                <a:latin typeface="Cambria Math"/>
                              </a:rPr>
                              <m:t>.</m:t>
                            </m:r>
                            <m:r>
                              <a:rPr lang="en-US" sz="2800" i="1" spc="-1" dirty="0" err="1" smtClean="0">
                                <a:solidFill>
                                  <a:srgbClr val="000000"/>
                                </a:solidFill>
                                <a:uFill>
                                  <a:solidFill>
                                    <a:srgbClr val="FFFFFF"/>
                                  </a:solidFill>
                                </a:uFill>
                                <a:latin typeface="Cambria Math"/>
                              </a:rPr>
                              <m:t>𝑥𝑦</m:t>
                            </m:r>
                          </m:e>
                        </m:d>
                      </m:e>
                    </m:d>
                    <m:r>
                      <a:rPr lang="en-US" sz="2800" i="1" spc="-1" dirty="0" smtClean="0">
                        <a:solidFill>
                          <a:srgbClr val="C00000"/>
                        </a:solidFill>
                        <a:uFill>
                          <a:solidFill>
                            <a:srgbClr val="FFFFFF"/>
                          </a:solidFill>
                        </a:uFill>
                        <a:latin typeface="Cambria Math"/>
                      </a:rPr>
                      <m:t>𝑦</m:t>
                    </m:r>
                  </m:oMath>
                </a14:m>
                <a:r>
                  <a:rPr lang="en-US" sz="2800" spc="-1" dirty="0" smtClean="0">
                    <a:solidFill>
                      <a:srgbClr val="C00000"/>
                    </a:solidFill>
                    <a:uFill>
                      <a:solidFill>
                        <a:srgbClr val="FFFFFF"/>
                      </a:solidFill>
                    </a:uFill>
                    <a:latin typeface="Calibri"/>
                  </a:rPr>
                  <a:t>	         </a:t>
                </a:r>
                <a14:m>
                  <m:oMath xmlns:m="http://schemas.openxmlformats.org/officeDocument/2006/math">
                    <m:d>
                      <m:dPr>
                        <m:ctrlPr>
                          <a:rPr lang="en-US" sz="2800" i="1" spc="-1" dirty="0" smtClean="0">
                            <a:solidFill>
                              <a:srgbClr val="000000"/>
                            </a:solidFill>
                            <a:uFill>
                              <a:solidFill>
                                <a:srgbClr val="FFFFFF"/>
                              </a:solidFill>
                            </a:uFill>
                            <a:latin typeface="Cambria Math" panose="02040503050406030204" pitchFamily="18" charset="0"/>
                          </a:rPr>
                        </m:ctrlPr>
                      </m:dPr>
                      <m:e>
                        <m:r>
                          <a:rPr lang="el-GR" sz="2800" i="1" spc="-1" dirty="0" smtClean="0">
                            <a:solidFill>
                              <a:srgbClr val="000000"/>
                            </a:solidFill>
                            <a:uFill>
                              <a:solidFill>
                                <a:srgbClr val="FFFFFF"/>
                              </a:solidFill>
                            </a:uFill>
                            <a:latin typeface="Cambria Math"/>
                          </a:rPr>
                          <m:t>𝜆</m:t>
                        </m:r>
                        <m:r>
                          <a:rPr lang="en-US" sz="2800" i="1" spc="-1" dirty="0" smtClean="0">
                            <a:solidFill>
                              <a:srgbClr val="000000"/>
                            </a:solidFill>
                            <a:uFill>
                              <a:solidFill>
                                <a:srgbClr val="FFFFFF"/>
                              </a:solidFill>
                            </a:uFill>
                            <a:latin typeface="Cambria Math"/>
                          </a:rPr>
                          <m:t>𝑥</m:t>
                        </m:r>
                        <m:r>
                          <a:rPr lang="en-US" sz="2800" i="1" spc="-1" dirty="0" smtClean="0">
                            <a:solidFill>
                              <a:srgbClr val="000000"/>
                            </a:solidFill>
                            <a:uFill>
                              <a:solidFill>
                                <a:srgbClr val="FFFFFF"/>
                              </a:solidFill>
                            </a:uFill>
                            <a:latin typeface="Cambria Math"/>
                          </a:rPr>
                          <m:t>.</m:t>
                        </m:r>
                        <m:d>
                          <m:dPr>
                            <m:ctrlPr>
                              <a:rPr lang="en-US" sz="2800" i="1" spc="-1" dirty="0" smtClean="0">
                                <a:solidFill>
                                  <a:srgbClr val="000000"/>
                                </a:solidFill>
                                <a:uFill>
                                  <a:solidFill>
                                    <a:srgbClr val="FFFFFF"/>
                                  </a:solidFill>
                                </a:uFill>
                                <a:latin typeface="Cambria Math" panose="02040503050406030204" pitchFamily="18" charset="0"/>
                              </a:rPr>
                            </m:ctrlPr>
                          </m:dPr>
                          <m:e>
                            <m:r>
                              <a:rPr lang="el-GR" sz="2800" i="1" spc="-1" dirty="0" smtClean="0">
                                <a:solidFill>
                                  <a:srgbClr val="000000"/>
                                </a:solidFill>
                                <a:uFill>
                                  <a:solidFill>
                                    <a:srgbClr val="FFFFFF"/>
                                  </a:solidFill>
                                </a:uFill>
                                <a:latin typeface="Cambria Math"/>
                              </a:rPr>
                              <m:t>𝜆</m:t>
                            </m:r>
                            <m:r>
                              <a:rPr lang="en-US" sz="2800" i="1" spc="-1" dirty="0" err="1" smtClean="0">
                                <a:solidFill>
                                  <a:srgbClr val="000000"/>
                                </a:solidFill>
                                <a:uFill>
                                  <a:solidFill>
                                    <a:srgbClr val="FFFFFF"/>
                                  </a:solidFill>
                                </a:uFill>
                                <a:latin typeface="Cambria Math"/>
                              </a:rPr>
                              <m:t>𝑦</m:t>
                            </m:r>
                            <m:r>
                              <a:rPr lang="en-US" sz="2800" i="1" spc="-1" dirty="0" err="1" smtClean="0">
                                <a:solidFill>
                                  <a:srgbClr val="000000"/>
                                </a:solidFill>
                                <a:uFill>
                                  <a:solidFill>
                                    <a:srgbClr val="FFFFFF"/>
                                  </a:solidFill>
                                </a:uFill>
                                <a:latin typeface="Cambria Math"/>
                              </a:rPr>
                              <m:t>.</m:t>
                            </m:r>
                            <m:r>
                              <a:rPr lang="en-US" sz="2800" i="1" spc="-1" dirty="0" err="1" smtClean="0">
                                <a:solidFill>
                                  <a:srgbClr val="000000"/>
                                </a:solidFill>
                                <a:uFill>
                                  <a:solidFill>
                                    <a:srgbClr val="FFFFFF"/>
                                  </a:solidFill>
                                </a:uFill>
                                <a:latin typeface="Cambria Math"/>
                              </a:rPr>
                              <m:t>𝑥𝑦</m:t>
                            </m:r>
                          </m:e>
                        </m:d>
                      </m:e>
                    </m:d>
                    <m:r>
                      <a:rPr lang="en-US" sz="2800" i="1" spc="-1" dirty="0" smtClean="0">
                        <a:solidFill>
                          <a:srgbClr val="000000"/>
                        </a:solidFill>
                        <a:uFill>
                          <a:solidFill>
                            <a:srgbClr val="FFFFFF"/>
                          </a:solidFill>
                        </a:uFill>
                        <a:latin typeface="Cambria Math"/>
                      </a:rPr>
                      <m:t>𝑦</m:t>
                    </m:r>
                    <m:r>
                      <a:rPr lang="en-US" sz="2800" i="1" spc="-1" dirty="0" smtClean="0">
                        <a:solidFill>
                          <a:srgbClr val="000000"/>
                        </a:solidFill>
                        <a:uFill>
                          <a:solidFill>
                            <a:srgbClr val="FFFFFF"/>
                          </a:solidFill>
                        </a:uFill>
                        <a:latin typeface="Cambria Math"/>
                      </a:rPr>
                      <m:t>      →</m:t>
                    </m:r>
                    <m:r>
                      <a:rPr lang="el-GR" sz="2800" i="1" spc="-1" baseline="-25000" dirty="0" smtClean="0">
                        <a:solidFill>
                          <a:srgbClr val="000000"/>
                        </a:solidFill>
                        <a:uFill>
                          <a:solidFill>
                            <a:srgbClr val="FFFFFF"/>
                          </a:solidFill>
                        </a:uFill>
                        <a:latin typeface="Cambria Math"/>
                        <a:sym typeface="Wingdings" panose="05000000000000000000" pitchFamily="2" charset="2"/>
                      </a:rPr>
                      <m:t>𝛼</m:t>
                    </m:r>
                    <m:r>
                      <a:rPr lang="en-US" sz="2800" i="1" spc="-1" baseline="-25000" dirty="0" smtClean="0">
                        <a:solidFill>
                          <a:srgbClr val="000000"/>
                        </a:solidFill>
                        <a:uFill>
                          <a:solidFill>
                            <a:srgbClr val="FFFFFF"/>
                          </a:solidFill>
                        </a:uFill>
                        <a:latin typeface="Cambria Math"/>
                        <a:sym typeface="Wingdings" panose="05000000000000000000" pitchFamily="2" charset="2"/>
                      </a:rPr>
                      <m:t>      </m:t>
                    </m:r>
                    <m:d>
                      <m:dPr>
                        <m:ctrlPr>
                          <a:rPr lang="en-US" sz="2800" i="1" spc="-1" dirty="0" smtClean="0">
                            <a:solidFill>
                              <a:srgbClr val="000000"/>
                            </a:solidFill>
                            <a:uFill>
                              <a:solidFill>
                                <a:srgbClr val="FFFFFF"/>
                              </a:solidFill>
                            </a:uFill>
                            <a:latin typeface="Cambria Math" panose="02040503050406030204" pitchFamily="18" charset="0"/>
                            <a:sym typeface="Wingdings" panose="05000000000000000000" pitchFamily="2" charset="2"/>
                          </a:rPr>
                        </m:ctrlPr>
                      </m:dPr>
                      <m:e>
                        <m:r>
                          <a:rPr lang="el-GR" sz="2800" i="1" spc="-1" dirty="0" smtClean="0">
                            <a:solidFill>
                              <a:srgbClr val="000000"/>
                            </a:solidFill>
                            <a:uFill>
                              <a:solidFill>
                                <a:srgbClr val="FFFFFF"/>
                              </a:solidFill>
                            </a:uFill>
                            <a:latin typeface="Cambria Math"/>
                          </a:rPr>
                          <m:t>𝜆</m:t>
                        </m:r>
                        <m:r>
                          <a:rPr lang="en-US" sz="2800" i="1" spc="-1" dirty="0" smtClean="0">
                            <a:solidFill>
                              <a:srgbClr val="000000"/>
                            </a:solidFill>
                            <a:uFill>
                              <a:solidFill>
                                <a:srgbClr val="FFFFFF"/>
                              </a:solidFill>
                            </a:uFill>
                            <a:latin typeface="Cambria Math"/>
                          </a:rPr>
                          <m:t>𝑥</m:t>
                        </m:r>
                        <m:r>
                          <a:rPr lang="en-US" sz="2800" i="1" spc="-1" dirty="0" smtClean="0">
                            <a:solidFill>
                              <a:srgbClr val="000000"/>
                            </a:solidFill>
                            <a:uFill>
                              <a:solidFill>
                                <a:srgbClr val="FFFFFF"/>
                              </a:solidFill>
                            </a:uFill>
                            <a:latin typeface="Cambria Math"/>
                          </a:rPr>
                          <m:t>.</m:t>
                        </m:r>
                        <m:d>
                          <m:dPr>
                            <m:ctrlPr>
                              <a:rPr lang="en-US" sz="2800" i="1" spc="-1" dirty="0" smtClean="0">
                                <a:solidFill>
                                  <a:srgbClr val="000000"/>
                                </a:solidFill>
                                <a:uFill>
                                  <a:solidFill>
                                    <a:srgbClr val="FFFFFF"/>
                                  </a:solidFill>
                                </a:uFill>
                                <a:latin typeface="Cambria Math" panose="02040503050406030204" pitchFamily="18" charset="0"/>
                              </a:rPr>
                            </m:ctrlPr>
                          </m:dPr>
                          <m:e>
                            <m:r>
                              <a:rPr lang="el-GR" sz="2800" i="1" spc="-1" dirty="0" smtClean="0">
                                <a:solidFill>
                                  <a:srgbClr val="000000"/>
                                </a:solidFill>
                                <a:uFill>
                                  <a:solidFill>
                                    <a:srgbClr val="FFFFFF"/>
                                  </a:solidFill>
                                </a:uFill>
                                <a:latin typeface="Cambria Math"/>
                              </a:rPr>
                              <m:t>𝜆</m:t>
                            </m:r>
                            <m:r>
                              <a:rPr lang="en-US" sz="2800" i="1" spc="-1" dirty="0" err="1" smtClean="0">
                                <a:solidFill>
                                  <a:srgbClr val="000000"/>
                                </a:solidFill>
                                <a:uFill>
                                  <a:solidFill>
                                    <a:srgbClr val="FFFFFF"/>
                                  </a:solidFill>
                                </a:uFill>
                                <a:latin typeface="Cambria Math"/>
                              </a:rPr>
                              <m:t>𝑡</m:t>
                            </m:r>
                            <m:r>
                              <a:rPr lang="en-US" sz="2800" i="1" spc="-1" dirty="0" err="1" smtClean="0">
                                <a:solidFill>
                                  <a:srgbClr val="000000"/>
                                </a:solidFill>
                                <a:uFill>
                                  <a:solidFill>
                                    <a:srgbClr val="FFFFFF"/>
                                  </a:solidFill>
                                </a:uFill>
                                <a:latin typeface="Cambria Math"/>
                              </a:rPr>
                              <m:t>.</m:t>
                            </m:r>
                            <m:r>
                              <a:rPr lang="en-US" sz="2800" i="1" spc="-1" dirty="0" err="1" smtClean="0">
                                <a:solidFill>
                                  <a:srgbClr val="000000"/>
                                </a:solidFill>
                                <a:uFill>
                                  <a:solidFill>
                                    <a:srgbClr val="FFFFFF"/>
                                  </a:solidFill>
                                </a:uFill>
                                <a:latin typeface="Cambria Math"/>
                              </a:rPr>
                              <m:t>𝑥𝑡</m:t>
                            </m:r>
                          </m:e>
                        </m:d>
                      </m:e>
                    </m:d>
                    <m:r>
                      <a:rPr lang="en-US" sz="2800" i="1" spc="-1" dirty="0" smtClean="0">
                        <a:solidFill>
                          <a:srgbClr val="C00000"/>
                        </a:solidFill>
                        <a:uFill>
                          <a:solidFill>
                            <a:srgbClr val="FFFFFF"/>
                          </a:solidFill>
                        </a:uFill>
                        <a:latin typeface="Cambria Math"/>
                      </a:rPr>
                      <m:t>𝑦</m:t>
                    </m:r>
                  </m:oMath>
                </a14:m>
                <a:endParaRPr lang="en-US" sz="2800" spc="-1" dirty="0" smtClean="0">
                  <a:solidFill>
                    <a:srgbClr val="C00000"/>
                  </a:solidFill>
                  <a:uFill>
                    <a:solidFill>
                      <a:srgbClr val="FFFFFF"/>
                    </a:solidFill>
                  </a:uFill>
                  <a:latin typeface="Calibri"/>
                </a:endParaRPr>
              </a:p>
              <a:p>
                <a:endParaRPr lang="en-US" sz="2800" spc="-1" dirty="0">
                  <a:solidFill>
                    <a:srgbClr val="000000"/>
                  </a:solidFill>
                  <a:uFill>
                    <a:solidFill>
                      <a:srgbClr val="FFFFFF"/>
                    </a:solidFill>
                  </a:uFill>
                  <a:latin typeface="Calibri"/>
                </a:endParaRPr>
              </a:p>
              <a:p>
                <a:r>
                  <a:rPr lang="en-US" sz="2800" spc="-1" dirty="0" smtClean="0">
                    <a:solidFill>
                      <a:srgbClr val="000000"/>
                    </a:solidFill>
                    <a:uFill>
                      <a:solidFill>
                        <a:srgbClr val="FFFFFF"/>
                      </a:solidFill>
                    </a:uFill>
                    <a:latin typeface="Calibri"/>
                  </a:rPr>
                  <a:t>	 </a:t>
                </a:r>
                <a14:m>
                  <m:oMath xmlns:m="http://schemas.openxmlformats.org/officeDocument/2006/math">
                    <m:d>
                      <m:dPr>
                        <m:ctrlPr>
                          <a:rPr lang="en-US" sz="2800" i="1" spc="-1" dirty="0" smtClean="0">
                            <a:solidFill>
                              <a:srgbClr val="000000"/>
                            </a:solidFill>
                            <a:uFill>
                              <a:solidFill>
                                <a:srgbClr val="FFFFFF"/>
                              </a:solidFill>
                            </a:uFill>
                            <a:latin typeface="Cambria Math" panose="02040503050406030204" pitchFamily="18" charset="0"/>
                          </a:rPr>
                        </m:ctrlPr>
                      </m:dPr>
                      <m:e>
                        <m:r>
                          <a:rPr lang="el-GR" sz="2800" i="1" spc="-1" dirty="0" smtClean="0">
                            <a:solidFill>
                              <a:srgbClr val="000000"/>
                            </a:solidFill>
                            <a:uFill>
                              <a:solidFill>
                                <a:srgbClr val="FFFFFF"/>
                              </a:solidFill>
                            </a:uFill>
                            <a:latin typeface="Cambria Math"/>
                          </a:rPr>
                          <m:t>𝜆</m:t>
                        </m:r>
                        <m:r>
                          <a:rPr lang="en-US" sz="2800" i="1" spc="-1" dirty="0" smtClean="0">
                            <a:solidFill>
                              <a:srgbClr val="C00000"/>
                            </a:solidFill>
                            <a:uFill>
                              <a:solidFill>
                                <a:srgbClr val="FFFFFF"/>
                              </a:solidFill>
                            </a:uFill>
                            <a:latin typeface="Cambria Math"/>
                          </a:rPr>
                          <m:t>𝑦</m:t>
                        </m:r>
                        <m:r>
                          <a:rPr lang="en-US" sz="2800" i="1" spc="-1" dirty="0" smtClean="0">
                            <a:solidFill>
                              <a:srgbClr val="000000"/>
                            </a:solidFill>
                            <a:uFill>
                              <a:solidFill>
                                <a:srgbClr val="FFFFFF"/>
                              </a:solidFill>
                            </a:uFill>
                            <a:latin typeface="Cambria Math"/>
                          </a:rPr>
                          <m:t>.</m:t>
                        </m:r>
                        <m:d>
                          <m:dPr>
                            <m:ctrlPr>
                              <a:rPr lang="en-US" sz="2800" i="1" spc="-1" dirty="0" smtClean="0">
                                <a:solidFill>
                                  <a:srgbClr val="000000"/>
                                </a:solidFill>
                                <a:uFill>
                                  <a:solidFill>
                                    <a:srgbClr val="FFFFFF"/>
                                  </a:solidFill>
                                </a:uFill>
                                <a:latin typeface="Cambria Math" panose="02040503050406030204" pitchFamily="18" charset="0"/>
                              </a:rPr>
                            </m:ctrlPr>
                          </m:dPr>
                          <m:e>
                            <m:r>
                              <a:rPr lang="el-GR" sz="2800" i="1" spc="-1" dirty="0" smtClean="0">
                                <a:solidFill>
                                  <a:srgbClr val="000000"/>
                                </a:solidFill>
                                <a:uFill>
                                  <a:solidFill>
                                    <a:srgbClr val="FFFFFF"/>
                                  </a:solidFill>
                                </a:uFill>
                                <a:latin typeface="Cambria Math"/>
                              </a:rPr>
                              <m:t>𝜆</m:t>
                            </m:r>
                            <m:r>
                              <a:rPr lang="en-US" sz="2800" i="1" spc="-1" dirty="0" err="1" smtClean="0">
                                <a:solidFill>
                                  <a:srgbClr val="000000"/>
                                </a:solidFill>
                                <a:uFill>
                                  <a:solidFill>
                                    <a:srgbClr val="FFFFFF"/>
                                  </a:solidFill>
                                </a:uFill>
                                <a:latin typeface="Cambria Math"/>
                              </a:rPr>
                              <m:t>𝑦</m:t>
                            </m:r>
                            <m:r>
                              <a:rPr lang="en-US" sz="2800" i="1" spc="-1" dirty="0" err="1" smtClean="0">
                                <a:solidFill>
                                  <a:srgbClr val="000000"/>
                                </a:solidFill>
                                <a:uFill>
                                  <a:solidFill>
                                    <a:srgbClr val="FFFFFF"/>
                                  </a:solidFill>
                                </a:uFill>
                                <a:latin typeface="Cambria Math"/>
                              </a:rPr>
                              <m:t>.</m:t>
                            </m:r>
                            <m:r>
                              <a:rPr lang="en-US" sz="2800" i="1" spc="-1" dirty="0" err="1" smtClean="0">
                                <a:solidFill>
                                  <a:srgbClr val="C00000"/>
                                </a:solidFill>
                                <a:uFill>
                                  <a:solidFill>
                                    <a:srgbClr val="FFFFFF"/>
                                  </a:solidFill>
                                </a:uFill>
                                <a:latin typeface="Cambria Math"/>
                              </a:rPr>
                              <m:t>𝑦</m:t>
                            </m:r>
                            <m:r>
                              <a:rPr lang="en-US" sz="2800" i="1" spc="-1" dirty="0" err="1" smtClean="0">
                                <a:solidFill>
                                  <a:srgbClr val="000000"/>
                                </a:solidFill>
                                <a:uFill>
                                  <a:solidFill>
                                    <a:srgbClr val="FFFFFF"/>
                                  </a:solidFill>
                                </a:uFill>
                                <a:latin typeface="Cambria Math"/>
                              </a:rPr>
                              <m:t>𝑦</m:t>
                            </m:r>
                          </m:e>
                        </m:d>
                      </m:e>
                    </m:d>
                    <m:r>
                      <a:rPr lang="en-US" sz="2800" i="1" spc="-1" dirty="0" smtClean="0">
                        <a:solidFill>
                          <a:srgbClr val="C00000"/>
                        </a:solidFill>
                        <a:uFill>
                          <a:solidFill>
                            <a:srgbClr val="FFFFFF"/>
                          </a:solidFill>
                        </a:uFill>
                        <a:latin typeface="Cambria Math"/>
                      </a:rPr>
                      <m:t>𝑦</m:t>
                    </m:r>
                  </m:oMath>
                </a14:m>
                <a:r>
                  <a:rPr lang="en-US" sz="2800" spc="-1" dirty="0" smtClean="0">
                    <a:solidFill>
                      <a:srgbClr val="C00000"/>
                    </a:solidFill>
                    <a:uFill>
                      <a:solidFill>
                        <a:srgbClr val="FFFFFF"/>
                      </a:solidFill>
                    </a:uFill>
                    <a:latin typeface="Calibri"/>
                  </a:rPr>
                  <a:t>					        </a:t>
                </a:r>
                <a14:m>
                  <m:oMath xmlns:m="http://schemas.openxmlformats.org/officeDocument/2006/math">
                    <m:d>
                      <m:dPr>
                        <m:ctrlPr>
                          <a:rPr lang="en-US" sz="2800" i="1" spc="-1" dirty="0">
                            <a:solidFill>
                              <a:srgbClr val="000000"/>
                            </a:solidFill>
                            <a:uFill>
                              <a:solidFill>
                                <a:srgbClr val="FFFFFF"/>
                              </a:solidFill>
                            </a:uFill>
                            <a:latin typeface="Cambria Math" panose="02040503050406030204" pitchFamily="18" charset="0"/>
                          </a:rPr>
                        </m:ctrlPr>
                      </m:dPr>
                      <m:e>
                        <m:r>
                          <a:rPr lang="el-GR" sz="2800" i="1" spc="-1" dirty="0">
                            <a:solidFill>
                              <a:srgbClr val="000000"/>
                            </a:solidFill>
                            <a:uFill>
                              <a:solidFill>
                                <a:srgbClr val="FFFFFF"/>
                              </a:solidFill>
                            </a:uFill>
                            <a:latin typeface="Cambria Math"/>
                          </a:rPr>
                          <m:t>𝜆</m:t>
                        </m:r>
                        <m:r>
                          <a:rPr lang="en-US" sz="2800" i="1" spc="-1" dirty="0">
                            <a:solidFill>
                              <a:srgbClr val="C00000"/>
                            </a:solidFill>
                            <a:uFill>
                              <a:solidFill>
                                <a:srgbClr val="FFFFFF"/>
                              </a:solidFill>
                            </a:uFill>
                            <a:latin typeface="Cambria Math"/>
                          </a:rPr>
                          <m:t>𝑦</m:t>
                        </m:r>
                        <m:r>
                          <a:rPr lang="en-US" sz="2800" i="1" spc="-1" dirty="0">
                            <a:solidFill>
                              <a:srgbClr val="000000"/>
                            </a:solidFill>
                            <a:uFill>
                              <a:solidFill>
                                <a:srgbClr val="FFFFFF"/>
                              </a:solidFill>
                            </a:uFill>
                            <a:latin typeface="Cambria Math"/>
                          </a:rPr>
                          <m:t>.</m:t>
                        </m:r>
                        <m:d>
                          <m:dPr>
                            <m:ctrlPr>
                              <a:rPr lang="en-US" sz="2800" i="1" spc="-1" dirty="0">
                                <a:solidFill>
                                  <a:srgbClr val="000000"/>
                                </a:solidFill>
                                <a:uFill>
                                  <a:solidFill>
                                    <a:srgbClr val="FFFFFF"/>
                                  </a:solidFill>
                                </a:uFill>
                                <a:latin typeface="Cambria Math" panose="02040503050406030204" pitchFamily="18" charset="0"/>
                              </a:rPr>
                            </m:ctrlPr>
                          </m:dPr>
                          <m:e>
                            <m:r>
                              <a:rPr lang="el-GR" sz="2800" i="1" spc="-1" dirty="0">
                                <a:solidFill>
                                  <a:srgbClr val="000000"/>
                                </a:solidFill>
                                <a:uFill>
                                  <a:solidFill>
                                    <a:srgbClr val="FFFFFF"/>
                                  </a:solidFill>
                                </a:uFill>
                                <a:latin typeface="Cambria Math"/>
                              </a:rPr>
                              <m:t>𝜆</m:t>
                            </m:r>
                            <m:r>
                              <a:rPr lang="en-US" sz="2800" b="0" i="1" spc="-1" dirty="0" smtClean="0">
                                <a:solidFill>
                                  <a:srgbClr val="000000"/>
                                </a:solidFill>
                                <a:uFill>
                                  <a:solidFill>
                                    <a:srgbClr val="FFFFFF"/>
                                  </a:solidFill>
                                </a:uFill>
                                <a:latin typeface="Cambria Math"/>
                              </a:rPr>
                              <m:t>𝑡</m:t>
                            </m:r>
                            <m:r>
                              <a:rPr lang="en-US" sz="2800" i="1" spc="-1" dirty="0" err="1">
                                <a:solidFill>
                                  <a:srgbClr val="000000"/>
                                </a:solidFill>
                                <a:uFill>
                                  <a:solidFill>
                                    <a:srgbClr val="FFFFFF"/>
                                  </a:solidFill>
                                </a:uFill>
                                <a:latin typeface="Cambria Math"/>
                              </a:rPr>
                              <m:t>.</m:t>
                            </m:r>
                            <m:r>
                              <a:rPr lang="en-US" sz="2800" i="1" spc="-1" dirty="0" err="1">
                                <a:solidFill>
                                  <a:srgbClr val="C00000"/>
                                </a:solidFill>
                                <a:uFill>
                                  <a:solidFill>
                                    <a:srgbClr val="FFFFFF"/>
                                  </a:solidFill>
                                </a:uFill>
                                <a:latin typeface="Cambria Math"/>
                              </a:rPr>
                              <m:t>𝑦</m:t>
                            </m:r>
                            <m:r>
                              <a:rPr lang="en-US" sz="2800" b="0" i="1" spc="-1" dirty="0" smtClean="0">
                                <a:solidFill>
                                  <a:srgbClr val="000000"/>
                                </a:solidFill>
                                <a:uFill>
                                  <a:solidFill>
                                    <a:srgbClr val="FFFFFF"/>
                                  </a:solidFill>
                                </a:uFill>
                                <a:latin typeface="Cambria Math"/>
                              </a:rPr>
                              <m:t>𝑡</m:t>
                            </m:r>
                          </m:e>
                        </m:d>
                      </m:e>
                    </m:d>
                    <m:r>
                      <a:rPr lang="en-US" sz="2800" i="1" spc="-1" dirty="0">
                        <a:solidFill>
                          <a:srgbClr val="C00000"/>
                        </a:solidFill>
                        <a:uFill>
                          <a:solidFill>
                            <a:srgbClr val="FFFFFF"/>
                          </a:solidFill>
                        </a:uFill>
                        <a:latin typeface="Cambria Math"/>
                      </a:rPr>
                      <m:t>𝑦</m:t>
                    </m:r>
                  </m:oMath>
                </a14:m>
                <a:endParaRPr lang="en-US" sz="2800" spc="-1" dirty="0" smtClean="0">
                  <a:solidFill>
                    <a:srgbClr val="C00000"/>
                  </a:solidFill>
                  <a:uFill>
                    <a:solidFill>
                      <a:srgbClr val="FFFFFF"/>
                    </a:solidFill>
                  </a:uFill>
                  <a:latin typeface="Calibri"/>
                </a:endParaRPr>
              </a:p>
              <a:p>
                <a:endParaRPr lang="en-US" sz="2800" spc="-1" dirty="0">
                  <a:solidFill>
                    <a:srgbClr val="000000"/>
                  </a:solidFill>
                  <a:uFill>
                    <a:solidFill>
                      <a:srgbClr val="FFFFFF"/>
                    </a:solidFill>
                  </a:uFill>
                  <a:latin typeface="Calibri"/>
                </a:endParaRPr>
              </a:p>
              <a:p>
                <a:r>
                  <a:rPr lang="en-US" sz="2800" spc="-1" dirty="0" smtClean="0">
                    <a:solidFill>
                      <a:srgbClr val="000000"/>
                    </a:solidFill>
                    <a:uFill>
                      <a:solidFill>
                        <a:srgbClr val="FFFFFF"/>
                      </a:solidFill>
                    </a:uFill>
                    <a:latin typeface="Calibri"/>
                  </a:rPr>
                  <a:t>	 </a:t>
                </a:r>
                <a14:m>
                  <m:oMath xmlns:m="http://schemas.openxmlformats.org/officeDocument/2006/math">
                    <m:d>
                      <m:dPr>
                        <m:ctrlPr>
                          <a:rPr lang="en-US" sz="2800" i="1" spc="-1" dirty="0" smtClean="0">
                            <a:solidFill>
                              <a:srgbClr val="000000"/>
                            </a:solidFill>
                            <a:uFill>
                              <a:solidFill>
                                <a:srgbClr val="FFFFFF"/>
                              </a:solidFill>
                            </a:uFill>
                            <a:latin typeface="Cambria Math" panose="02040503050406030204" pitchFamily="18" charset="0"/>
                          </a:rPr>
                        </m:ctrlPr>
                      </m:dPr>
                      <m:e>
                        <m:r>
                          <a:rPr lang="el-GR" sz="2800" i="1" spc="-1" dirty="0" smtClean="0">
                            <a:solidFill>
                              <a:srgbClr val="000000"/>
                            </a:solidFill>
                            <a:uFill>
                              <a:solidFill>
                                <a:srgbClr val="FFFFFF"/>
                              </a:solidFill>
                            </a:uFill>
                            <a:latin typeface="Cambria Math"/>
                          </a:rPr>
                          <m:t>𝜆</m:t>
                        </m:r>
                        <m:r>
                          <a:rPr lang="en-US" sz="2800" i="1" spc="-1" dirty="0" err="1" smtClean="0">
                            <a:solidFill>
                              <a:srgbClr val="000000"/>
                            </a:solidFill>
                            <a:uFill>
                              <a:solidFill>
                                <a:srgbClr val="FFFFFF"/>
                              </a:solidFill>
                            </a:uFill>
                            <a:latin typeface="Cambria Math"/>
                          </a:rPr>
                          <m:t>𝑦</m:t>
                        </m:r>
                        <m:r>
                          <a:rPr lang="en-US" sz="2800" i="1" spc="-1" dirty="0" err="1" smtClean="0">
                            <a:solidFill>
                              <a:srgbClr val="000000"/>
                            </a:solidFill>
                            <a:uFill>
                              <a:solidFill>
                                <a:srgbClr val="FFFFFF"/>
                              </a:solidFill>
                            </a:uFill>
                            <a:latin typeface="Cambria Math"/>
                          </a:rPr>
                          <m:t>.</m:t>
                        </m:r>
                        <m:r>
                          <a:rPr lang="en-US" sz="2800" i="1" spc="-1" dirty="0" err="1" smtClean="0">
                            <a:solidFill>
                              <a:srgbClr val="C00000"/>
                            </a:solidFill>
                            <a:uFill>
                              <a:solidFill>
                                <a:srgbClr val="FFFFFF"/>
                              </a:solidFill>
                            </a:uFill>
                            <a:latin typeface="Cambria Math"/>
                          </a:rPr>
                          <m:t>𝑦</m:t>
                        </m:r>
                        <m:r>
                          <a:rPr lang="en-US" sz="2800" i="1" spc="-1" dirty="0" err="1" smtClean="0">
                            <a:solidFill>
                              <a:srgbClr val="000000"/>
                            </a:solidFill>
                            <a:uFill>
                              <a:solidFill>
                                <a:srgbClr val="FFFFFF"/>
                              </a:solidFill>
                            </a:uFill>
                            <a:latin typeface="Cambria Math"/>
                          </a:rPr>
                          <m:t>𝑦</m:t>
                        </m:r>
                      </m:e>
                    </m:d>
                  </m:oMath>
                </a14:m>
                <a:r>
                  <a:rPr lang="en-US" sz="2800" spc="-1" dirty="0" smtClean="0">
                    <a:solidFill>
                      <a:srgbClr val="000000"/>
                    </a:solidFill>
                    <a:uFill>
                      <a:solidFill>
                        <a:srgbClr val="FFFFFF"/>
                      </a:solidFill>
                    </a:uFill>
                    <a:latin typeface="Calibri"/>
                  </a:rPr>
                  <a:t>						</a:t>
                </a:r>
                <a:r>
                  <a:rPr lang="en-US" sz="2800" spc="-1" dirty="0">
                    <a:solidFill>
                      <a:srgbClr val="000000"/>
                    </a:solidFill>
                    <a:uFill>
                      <a:solidFill>
                        <a:srgbClr val="FFFFFF"/>
                      </a:solidFill>
                    </a:uFill>
                  </a:rPr>
                  <a:t> </a:t>
                </a:r>
                <a:r>
                  <a:rPr lang="en-US" sz="2800" spc="-1" dirty="0" smtClean="0">
                    <a:solidFill>
                      <a:srgbClr val="000000"/>
                    </a:solidFill>
                    <a:uFill>
                      <a:solidFill>
                        <a:srgbClr val="FFFFFF"/>
                      </a:solidFill>
                    </a:uFill>
                  </a:rPr>
                  <a:t>      </a:t>
                </a:r>
                <a14:m>
                  <m:oMath xmlns:m="http://schemas.openxmlformats.org/officeDocument/2006/math">
                    <m:d>
                      <m:dPr>
                        <m:ctrlPr>
                          <a:rPr lang="en-US" sz="2800" i="1" spc="-1" dirty="0">
                            <a:solidFill>
                              <a:srgbClr val="000000"/>
                            </a:solidFill>
                            <a:uFill>
                              <a:solidFill>
                                <a:srgbClr val="FFFFFF"/>
                              </a:solidFill>
                            </a:uFill>
                            <a:latin typeface="Cambria Math" panose="02040503050406030204" pitchFamily="18" charset="0"/>
                          </a:rPr>
                        </m:ctrlPr>
                      </m:dPr>
                      <m:e>
                        <m:r>
                          <a:rPr lang="el-GR" sz="2800" i="1" spc="-1" dirty="0">
                            <a:solidFill>
                              <a:srgbClr val="000000"/>
                            </a:solidFill>
                            <a:uFill>
                              <a:solidFill>
                                <a:srgbClr val="FFFFFF"/>
                              </a:solidFill>
                            </a:uFill>
                            <a:latin typeface="Cambria Math"/>
                          </a:rPr>
                          <m:t>𝜆</m:t>
                        </m:r>
                        <m:r>
                          <a:rPr lang="en-US" sz="2800" b="0" i="1" spc="-1" dirty="0" smtClean="0">
                            <a:solidFill>
                              <a:srgbClr val="000000"/>
                            </a:solidFill>
                            <a:uFill>
                              <a:solidFill>
                                <a:srgbClr val="FFFFFF"/>
                              </a:solidFill>
                            </a:uFill>
                            <a:latin typeface="Cambria Math" panose="02040503050406030204" pitchFamily="18" charset="0"/>
                          </a:rPr>
                          <m:t>𝑡</m:t>
                        </m:r>
                        <m:r>
                          <a:rPr lang="en-US" sz="2800" i="1" spc="-1" dirty="0" err="1">
                            <a:solidFill>
                              <a:srgbClr val="000000"/>
                            </a:solidFill>
                            <a:uFill>
                              <a:solidFill>
                                <a:srgbClr val="FFFFFF"/>
                              </a:solidFill>
                            </a:uFill>
                            <a:latin typeface="Cambria Math"/>
                          </a:rPr>
                          <m:t>.</m:t>
                        </m:r>
                        <m:r>
                          <a:rPr lang="en-US" sz="2800" i="1" spc="-1" dirty="0" err="1">
                            <a:solidFill>
                              <a:srgbClr val="C00000"/>
                            </a:solidFill>
                            <a:uFill>
                              <a:solidFill>
                                <a:srgbClr val="FFFFFF"/>
                              </a:solidFill>
                            </a:uFill>
                            <a:latin typeface="Cambria Math"/>
                          </a:rPr>
                          <m:t>𝑦</m:t>
                        </m:r>
                        <m:r>
                          <a:rPr lang="en-US" sz="2800" b="0" i="1" spc="-1" dirty="0" smtClean="0">
                            <a:solidFill>
                              <a:schemeClr val="tx1"/>
                            </a:solidFill>
                            <a:uFill>
                              <a:solidFill>
                                <a:srgbClr val="FFFFFF"/>
                              </a:solidFill>
                            </a:uFill>
                            <a:latin typeface="Cambria Math" panose="02040503050406030204" pitchFamily="18" charset="0"/>
                          </a:rPr>
                          <m:t>𝑡</m:t>
                        </m:r>
                      </m:e>
                    </m:d>
                  </m:oMath>
                </a14:m>
                <a:endParaRPr lang="en-US" sz="2800" spc="-1" dirty="0" smtClean="0">
                  <a:solidFill>
                    <a:srgbClr val="000000"/>
                  </a:solidFill>
                  <a:uFill>
                    <a:solidFill>
                      <a:srgbClr val="FFFFFF"/>
                    </a:solidFill>
                  </a:uFill>
                  <a:latin typeface="Calibri"/>
                </a:endParaRPr>
              </a:p>
              <a:p>
                <a:endParaRPr lang="en-US" sz="2800" b="0" strike="noStrike" spc="-1" dirty="0">
                  <a:solidFill>
                    <a:srgbClr val="000000"/>
                  </a:solidFill>
                  <a:uFill>
                    <a:solidFill>
                      <a:srgbClr val="FFFFFF"/>
                    </a:solidFill>
                  </a:uFill>
                  <a:latin typeface="Calibri"/>
                </a:endParaRPr>
              </a:p>
            </p:txBody>
          </p:sp>
        </mc:Choice>
        <mc:Fallback>
          <p:sp>
            <p:nvSpPr>
              <p:cNvPr id="87" name="TextShape 2"/>
              <p:cNvSpPr txBox="1">
                <a:spLocks noRot="1" noChangeAspect="1" noMove="1" noResize="1" noEditPoints="1" noAdjustHandles="1" noChangeArrowheads="1" noChangeShapeType="1" noTextEdit="1"/>
              </p:cNvSpPr>
              <p:nvPr/>
            </p:nvSpPr>
            <p:spPr>
              <a:xfrm>
                <a:off x="828555" y="1825560"/>
                <a:ext cx="10515240" cy="4803840"/>
              </a:xfrm>
              <a:prstGeom prst="rect">
                <a:avLst/>
              </a:prstGeom>
              <a:blipFill rotWithShape="0">
                <a:blip r:embed="rId4"/>
                <a:stretch>
                  <a:fillRect l="-1217" t="-1141" r="-406"/>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3460517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pc="-1" dirty="0" smtClean="0">
                <a:solidFill>
                  <a:srgbClr val="000000"/>
                </a:solidFill>
                <a:uFill>
                  <a:solidFill>
                    <a:srgbClr val="FFFFFF"/>
                  </a:solidFill>
                </a:uFill>
                <a:latin typeface="Calibri Light"/>
              </a:rPr>
              <a:t>Church numerals</a:t>
            </a:r>
            <a:endParaRPr lang="en-US" sz="4400" b="1" spc="-1" dirty="0">
              <a:solidFill>
                <a:srgbClr val="000000"/>
              </a:solidFill>
              <a:uFill>
                <a:solidFill>
                  <a:srgbClr val="FFFFFF"/>
                </a:solidFill>
              </a:uFill>
              <a:latin typeface="Calibri"/>
            </a:endParaRPr>
          </a:p>
        </p:txBody>
      </p:sp>
      <mc:AlternateContent xmlns:mc="http://schemas.openxmlformats.org/markup-compatibility/2006" xmlns:a14="http://schemas.microsoft.com/office/drawing/2010/main">
        <mc:Choice Requires="a14">
          <p:sp>
            <p:nvSpPr>
              <p:cNvPr id="87" name="TextShape 2"/>
              <p:cNvSpPr txBox="1"/>
              <p:nvPr/>
            </p:nvSpPr>
            <p:spPr>
              <a:xfrm>
                <a:off x="828555" y="1825560"/>
                <a:ext cx="10515240" cy="4803840"/>
              </a:xfrm>
              <a:prstGeom prst="rect">
                <a:avLst/>
              </a:prstGeom>
              <a:noFill/>
              <a:ln>
                <a:noFill/>
              </a:ln>
            </p:spPr>
            <p:txBody>
              <a:bodyPr/>
              <a:lstStyle/>
              <a:p>
                <a:pPr marL="457200" indent="-457200">
                  <a:buFont typeface="Arial" panose="020B0604020202020204" pitchFamily="34" charset="0"/>
                  <a:buChar char="•"/>
                </a:pPr>
                <a:r>
                  <a:rPr lang="en-US" sz="2800" b="0" strike="noStrike" spc="-1" dirty="0" smtClean="0">
                    <a:solidFill>
                      <a:srgbClr val="000000"/>
                    </a:solidFill>
                    <a:uFill>
                      <a:solidFill>
                        <a:srgbClr val="FFFFFF"/>
                      </a:solidFill>
                    </a:uFill>
                    <a:latin typeface="Calibri"/>
                  </a:rPr>
                  <a:t>Numbers have to be encoded as functions, because </a:t>
                </a:r>
                <a:r>
                  <a:rPr lang="en-US" sz="2800" b="0" strike="noStrike" spc="-1" dirty="0" err="1" smtClean="0">
                    <a:solidFill>
                      <a:srgbClr val="000000"/>
                    </a:solidFill>
                    <a:uFill>
                      <a:solidFill>
                        <a:srgbClr val="FFFFFF"/>
                      </a:solidFill>
                    </a:uFill>
                    <a:latin typeface="Calibri"/>
                  </a:rPr>
                  <a:t>untyped</a:t>
                </a:r>
                <a:r>
                  <a:rPr lang="en-US" sz="2800" b="0" strike="noStrike" spc="-1" dirty="0" smtClean="0">
                    <a:solidFill>
                      <a:srgbClr val="000000"/>
                    </a:solidFill>
                    <a:uFill>
                      <a:solidFill>
                        <a:srgbClr val="FFFFFF"/>
                      </a:solidFill>
                    </a:uFill>
                    <a:latin typeface="Calibri"/>
                  </a:rPr>
                  <a:t> </a:t>
                </a:r>
                <a:r>
                  <a:rPr lang="el-GR" sz="2800" spc="-1" dirty="0">
                    <a:solidFill>
                      <a:srgbClr val="000000"/>
                    </a:solidFill>
                    <a:uFill>
                      <a:solidFill>
                        <a:srgbClr val="FFFFFF"/>
                      </a:solidFill>
                    </a:uFill>
                    <a:latin typeface="Calibri"/>
                  </a:rPr>
                  <a:t>λ</a:t>
                </a:r>
                <a:r>
                  <a:rPr lang="en-US" sz="2800" spc="-1" dirty="0" smtClean="0">
                    <a:solidFill>
                      <a:srgbClr val="000000"/>
                    </a:solidFill>
                    <a:uFill>
                      <a:solidFill>
                        <a:srgbClr val="FFFFFF"/>
                      </a:solidFill>
                    </a:uFill>
                    <a:latin typeface="Calibri"/>
                  </a:rPr>
                  <a:t>-calculus doesn’t provide any vocabulary for talking about numbers.</a:t>
                </a:r>
              </a:p>
              <a:p>
                <a:pPr marL="457200" indent="-457200">
                  <a:buFont typeface="Arial" panose="020B0604020202020204" pitchFamily="34" charset="0"/>
                  <a:buChar char="•"/>
                </a:pPr>
                <a:endParaRPr lang="en-US" sz="2800" b="0" strike="noStrike" spc="-1" dirty="0">
                  <a:solidFill>
                    <a:srgbClr val="000000"/>
                  </a:solidFill>
                  <a:uFill>
                    <a:solidFill>
                      <a:srgbClr val="FFFFFF"/>
                    </a:solidFill>
                  </a:uFill>
                  <a:latin typeface="Calibri"/>
                </a:endParaRPr>
              </a:p>
              <a:p>
                <a:pPr marL="457200" indent="-457200">
                  <a:buFont typeface="Arial" panose="020B0604020202020204" pitchFamily="34" charset="0"/>
                  <a:buChar char="•"/>
                </a:pPr>
                <a:r>
                  <a:rPr lang="en-US" sz="2800" spc="-1" dirty="0" smtClean="0">
                    <a:solidFill>
                      <a:srgbClr val="000000"/>
                    </a:solidFill>
                    <a:uFill>
                      <a:solidFill>
                        <a:srgbClr val="FFFFFF"/>
                      </a:solidFill>
                    </a:uFill>
                    <a:latin typeface="Calibri"/>
                  </a:rPr>
                  <a:t>Critical to Church numerals: the </a:t>
                </a:r>
                <a:r>
                  <a:rPr lang="en-US" sz="2800" i="1" u="sng" spc="-1" dirty="0" smtClean="0">
                    <a:solidFill>
                      <a:srgbClr val="000000"/>
                    </a:solidFill>
                    <a:uFill>
                      <a:solidFill>
                        <a:srgbClr val="FFFFFF"/>
                      </a:solidFill>
                    </a:uFill>
                    <a:latin typeface="Calibri" panose="020F0502020204030204" pitchFamily="34" charset="0"/>
                    <a:cs typeface="Calibri" panose="020F0502020204030204" pitchFamily="34" charset="0"/>
                  </a:rPr>
                  <a:t>successor</a:t>
                </a:r>
                <a:r>
                  <a:rPr lang="en-US" sz="2800" spc="-1" dirty="0" smtClean="0">
                    <a:solidFill>
                      <a:srgbClr val="000000"/>
                    </a:solidFill>
                    <a:uFill>
                      <a:solidFill>
                        <a:srgbClr val="FFFFFF"/>
                      </a:solidFill>
                    </a:uFill>
                    <a:latin typeface="Calibri"/>
                  </a:rPr>
                  <a:t> function, which adds 1 to any existing function:</a:t>
                </a:r>
              </a:p>
              <a:p>
                <a:pPr marL="457200" indent="-457200">
                  <a:buFont typeface="Arial" panose="020B0604020202020204" pitchFamily="34" charset="0"/>
                  <a:buChar char="•"/>
                </a:pPr>
                <a:endParaRPr lang="en-US" sz="2800" b="0" strike="noStrike" spc="-1" dirty="0">
                  <a:solidFill>
                    <a:srgbClr val="000000"/>
                  </a:solidFill>
                  <a:uFill>
                    <a:solidFill>
                      <a:srgbClr val="FFFFFF"/>
                    </a:solidFill>
                  </a:uFill>
                  <a:latin typeface="Calibri"/>
                </a:endParaRPr>
              </a:p>
              <a:p>
                <a:r>
                  <a:rPr lang="en-US" sz="2800" spc="-1" dirty="0" smtClean="0">
                    <a:solidFill>
                      <a:srgbClr val="000000"/>
                    </a:solidFill>
                    <a:uFill>
                      <a:solidFill>
                        <a:srgbClr val="FFFFFF"/>
                      </a:solidFill>
                    </a:uFill>
                    <a:latin typeface="Calibri"/>
                  </a:rPr>
                  <a:t>	0 = </a:t>
                </a:r>
                <a14:m>
                  <m:oMath xmlns:m="http://schemas.openxmlformats.org/officeDocument/2006/math">
                    <m:r>
                      <a:rPr lang="el-GR" sz="2800" i="1" spc="-1" dirty="0" smtClean="0">
                        <a:solidFill>
                          <a:srgbClr val="000000"/>
                        </a:solidFill>
                        <a:uFill>
                          <a:solidFill>
                            <a:srgbClr val="FFFFFF"/>
                          </a:solidFill>
                        </a:uFill>
                        <a:latin typeface="Cambria Math"/>
                      </a:rPr>
                      <m:t>𝜆</m:t>
                    </m:r>
                    <m:r>
                      <a:rPr lang="en-US" sz="2800" b="0" i="1" spc="-1" dirty="0" smtClean="0">
                        <a:solidFill>
                          <a:srgbClr val="000000"/>
                        </a:solidFill>
                        <a:uFill>
                          <a:solidFill>
                            <a:srgbClr val="FFFFFF"/>
                          </a:solidFill>
                        </a:uFill>
                        <a:latin typeface="Cambria Math"/>
                      </a:rPr>
                      <m:t>𝑠𝑧</m:t>
                    </m:r>
                    <m:r>
                      <a:rPr lang="en-US" sz="2800" b="0" i="1" spc="-1" dirty="0" smtClean="0">
                        <a:solidFill>
                          <a:srgbClr val="000000"/>
                        </a:solidFill>
                        <a:uFill>
                          <a:solidFill>
                            <a:srgbClr val="FFFFFF"/>
                          </a:solidFill>
                        </a:uFill>
                        <a:latin typeface="Cambria Math"/>
                      </a:rPr>
                      <m:t>.</m:t>
                    </m:r>
                    <m:r>
                      <a:rPr lang="en-US" sz="2800" b="0" i="1" spc="-1" dirty="0" smtClean="0">
                        <a:solidFill>
                          <a:srgbClr val="000000"/>
                        </a:solidFill>
                        <a:uFill>
                          <a:solidFill>
                            <a:srgbClr val="FFFFFF"/>
                          </a:solidFill>
                        </a:uFill>
                        <a:latin typeface="Cambria Math"/>
                      </a:rPr>
                      <m:t>𝑧</m:t>
                    </m:r>
                  </m:oMath>
                </a14:m>
                <a:endParaRPr lang="en-US" sz="2800" b="0" spc="-1" dirty="0" smtClean="0">
                  <a:solidFill>
                    <a:srgbClr val="000000"/>
                  </a:solidFill>
                  <a:uFill>
                    <a:solidFill>
                      <a:srgbClr val="FFFFFF"/>
                    </a:solidFill>
                  </a:uFill>
                  <a:latin typeface="Calibri"/>
                </a:endParaRPr>
              </a:p>
              <a:p>
                <a:r>
                  <a:rPr lang="en-US" sz="2800" b="0" strike="noStrike" spc="-1" dirty="0" smtClean="0">
                    <a:solidFill>
                      <a:srgbClr val="000000"/>
                    </a:solidFill>
                    <a:uFill>
                      <a:solidFill>
                        <a:srgbClr val="FFFFFF"/>
                      </a:solidFill>
                    </a:uFill>
                    <a:latin typeface="Calibri"/>
                  </a:rPr>
                  <a:t>	1 = </a:t>
                </a:r>
                <a14:m>
                  <m:oMath xmlns:m="http://schemas.openxmlformats.org/officeDocument/2006/math">
                    <m:r>
                      <a:rPr lang="el-GR" sz="2800" i="1" spc="-1" dirty="0" smtClean="0">
                        <a:solidFill>
                          <a:srgbClr val="000000"/>
                        </a:solidFill>
                        <a:uFill>
                          <a:solidFill>
                            <a:srgbClr val="FFFFFF"/>
                          </a:solidFill>
                        </a:uFill>
                        <a:latin typeface="Cambria Math"/>
                      </a:rPr>
                      <m:t>𝜆</m:t>
                    </m:r>
                    <m:r>
                      <a:rPr lang="en-US" sz="2800" b="0" i="1" spc="-1" dirty="0" smtClean="0">
                        <a:solidFill>
                          <a:srgbClr val="000000"/>
                        </a:solidFill>
                        <a:uFill>
                          <a:solidFill>
                            <a:srgbClr val="FFFFFF"/>
                          </a:solidFill>
                        </a:uFill>
                        <a:latin typeface="Cambria Math"/>
                      </a:rPr>
                      <m:t>𝑠𝑧</m:t>
                    </m:r>
                    <m:r>
                      <a:rPr lang="en-US" sz="2800" b="0" i="1" spc="-1" dirty="0" smtClean="0">
                        <a:solidFill>
                          <a:srgbClr val="000000"/>
                        </a:solidFill>
                        <a:uFill>
                          <a:solidFill>
                            <a:srgbClr val="FFFFFF"/>
                          </a:solidFill>
                        </a:uFill>
                        <a:latin typeface="Cambria Math"/>
                      </a:rPr>
                      <m:t>.</m:t>
                    </m:r>
                    <m:r>
                      <a:rPr lang="en-US" sz="2800" b="0" i="1" spc="-1" dirty="0" smtClean="0">
                        <a:solidFill>
                          <a:srgbClr val="000000"/>
                        </a:solidFill>
                        <a:uFill>
                          <a:solidFill>
                            <a:srgbClr val="FFFFFF"/>
                          </a:solidFill>
                        </a:uFill>
                        <a:latin typeface="Cambria Math"/>
                      </a:rPr>
                      <m:t>𝑠</m:t>
                    </m:r>
                    <m:r>
                      <a:rPr lang="en-US" sz="2800" b="0" i="1" spc="-1" dirty="0" smtClean="0">
                        <a:solidFill>
                          <a:srgbClr val="000000"/>
                        </a:solidFill>
                        <a:uFill>
                          <a:solidFill>
                            <a:srgbClr val="FFFFFF"/>
                          </a:solidFill>
                        </a:uFill>
                        <a:latin typeface="Cambria Math"/>
                      </a:rPr>
                      <m:t>(</m:t>
                    </m:r>
                    <m:r>
                      <a:rPr lang="en-US" sz="2800" b="0" i="1" spc="-1" dirty="0" smtClean="0">
                        <a:solidFill>
                          <a:srgbClr val="000000"/>
                        </a:solidFill>
                        <a:uFill>
                          <a:solidFill>
                            <a:srgbClr val="FFFFFF"/>
                          </a:solidFill>
                        </a:uFill>
                        <a:latin typeface="Cambria Math"/>
                      </a:rPr>
                      <m:t>𝑧</m:t>
                    </m:r>
                    <m:r>
                      <a:rPr lang="en-US" sz="2800" b="0" i="1" spc="-1" dirty="0" smtClean="0">
                        <a:solidFill>
                          <a:srgbClr val="000000"/>
                        </a:solidFill>
                        <a:uFill>
                          <a:solidFill>
                            <a:srgbClr val="FFFFFF"/>
                          </a:solidFill>
                        </a:uFill>
                        <a:latin typeface="Cambria Math"/>
                      </a:rPr>
                      <m:t>)</m:t>
                    </m:r>
                  </m:oMath>
                </a14:m>
                <a:r>
                  <a:rPr lang="en-US" sz="2800" spc="-1" dirty="0" smtClean="0">
                    <a:solidFill>
                      <a:srgbClr val="000000"/>
                    </a:solidFill>
                    <a:uFill>
                      <a:solidFill>
                        <a:srgbClr val="FFFFFF"/>
                      </a:solidFill>
                    </a:uFill>
                    <a:latin typeface="Calibri"/>
                  </a:rPr>
                  <a:t> </a:t>
                </a:r>
              </a:p>
              <a:p>
                <a:r>
                  <a:rPr lang="en-US" sz="2800" b="0" strike="noStrike" spc="-1" dirty="0" smtClean="0">
                    <a:solidFill>
                      <a:srgbClr val="000000"/>
                    </a:solidFill>
                    <a:uFill>
                      <a:solidFill>
                        <a:srgbClr val="FFFFFF"/>
                      </a:solidFill>
                    </a:uFill>
                    <a:latin typeface="Calibri"/>
                  </a:rPr>
                  <a:t>	2 = </a:t>
                </a:r>
                <a14:m>
                  <m:oMath xmlns:m="http://schemas.openxmlformats.org/officeDocument/2006/math">
                    <m:r>
                      <a:rPr lang="el-GR" sz="2800" i="1" spc="-1" dirty="0" smtClean="0">
                        <a:solidFill>
                          <a:srgbClr val="000000"/>
                        </a:solidFill>
                        <a:uFill>
                          <a:solidFill>
                            <a:srgbClr val="FFFFFF"/>
                          </a:solidFill>
                        </a:uFill>
                        <a:latin typeface="Cambria Math"/>
                      </a:rPr>
                      <m:t>𝜆</m:t>
                    </m:r>
                    <m:r>
                      <a:rPr lang="en-US" sz="2800" b="0" i="1" spc="-1" dirty="0" smtClean="0">
                        <a:solidFill>
                          <a:srgbClr val="000000"/>
                        </a:solidFill>
                        <a:uFill>
                          <a:solidFill>
                            <a:srgbClr val="FFFFFF"/>
                          </a:solidFill>
                        </a:uFill>
                        <a:latin typeface="Cambria Math"/>
                      </a:rPr>
                      <m:t>𝑠𝑧</m:t>
                    </m:r>
                    <m:r>
                      <a:rPr lang="en-US" sz="2800" b="0" i="1" spc="-1" dirty="0" smtClean="0">
                        <a:solidFill>
                          <a:srgbClr val="000000"/>
                        </a:solidFill>
                        <a:uFill>
                          <a:solidFill>
                            <a:srgbClr val="FFFFFF"/>
                          </a:solidFill>
                        </a:uFill>
                        <a:latin typeface="Cambria Math"/>
                      </a:rPr>
                      <m:t>.</m:t>
                    </m:r>
                    <m:r>
                      <a:rPr lang="en-US" sz="2800" b="0" i="1" spc="-1" dirty="0" smtClean="0">
                        <a:solidFill>
                          <a:srgbClr val="000000"/>
                        </a:solidFill>
                        <a:uFill>
                          <a:solidFill>
                            <a:srgbClr val="FFFFFF"/>
                          </a:solidFill>
                        </a:uFill>
                        <a:latin typeface="Cambria Math"/>
                      </a:rPr>
                      <m:t>𝑠</m:t>
                    </m:r>
                    <m:d>
                      <m:dPr>
                        <m:ctrlPr>
                          <a:rPr lang="en-US" sz="2800" b="0" i="1" spc="-1" dirty="0" smtClean="0">
                            <a:solidFill>
                              <a:srgbClr val="000000"/>
                            </a:solidFill>
                            <a:uFill>
                              <a:solidFill>
                                <a:srgbClr val="FFFFFF"/>
                              </a:solidFill>
                            </a:uFill>
                            <a:latin typeface="Cambria Math" panose="02040503050406030204" pitchFamily="18" charset="0"/>
                          </a:rPr>
                        </m:ctrlPr>
                      </m:dPr>
                      <m:e>
                        <m:r>
                          <a:rPr lang="en-US" sz="2800" b="0" i="1" spc="-1" dirty="0" smtClean="0">
                            <a:solidFill>
                              <a:srgbClr val="000000"/>
                            </a:solidFill>
                            <a:uFill>
                              <a:solidFill>
                                <a:srgbClr val="FFFFFF"/>
                              </a:solidFill>
                            </a:uFill>
                            <a:latin typeface="Cambria Math"/>
                          </a:rPr>
                          <m:t>𝑠</m:t>
                        </m:r>
                        <m:d>
                          <m:dPr>
                            <m:ctrlPr>
                              <a:rPr lang="en-US" sz="2800" b="0" i="1" spc="-1" dirty="0" smtClean="0">
                                <a:solidFill>
                                  <a:srgbClr val="000000"/>
                                </a:solidFill>
                                <a:uFill>
                                  <a:solidFill>
                                    <a:srgbClr val="FFFFFF"/>
                                  </a:solidFill>
                                </a:uFill>
                                <a:latin typeface="Cambria Math" panose="02040503050406030204" pitchFamily="18" charset="0"/>
                              </a:rPr>
                            </m:ctrlPr>
                          </m:dPr>
                          <m:e>
                            <m:r>
                              <a:rPr lang="en-US" sz="2800" b="0" i="1" spc="-1" dirty="0" smtClean="0">
                                <a:solidFill>
                                  <a:srgbClr val="000000"/>
                                </a:solidFill>
                                <a:uFill>
                                  <a:solidFill>
                                    <a:srgbClr val="FFFFFF"/>
                                  </a:solidFill>
                                </a:uFill>
                                <a:latin typeface="Cambria Math"/>
                              </a:rPr>
                              <m:t>𝑧</m:t>
                            </m:r>
                          </m:e>
                        </m:d>
                      </m:e>
                    </m:d>
                    <m:r>
                      <a:rPr lang="en-US" sz="2800" b="0" i="1" spc="-1" dirty="0" smtClean="0">
                        <a:solidFill>
                          <a:srgbClr val="000000"/>
                        </a:solidFill>
                        <a:uFill>
                          <a:solidFill>
                            <a:srgbClr val="FFFFFF"/>
                          </a:solidFill>
                        </a:uFill>
                        <a:latin typeface="Cambria Math"/>
                      </a:rPr>
                      <m:t> </m:t>
                    </m:r>
                  </m:oMath>
                </a14:m>
                <a:endParaRPr lang="en-US" sz="2800" spc="-1" dirty="0" smtClean="0">
                  <a:solidFill>
                    <a:srgbClr val="000000"/>
                  </a:solidFill>
                  <a:uFill>
                    <a:solidFill>
                      <a:srgbClr val="FFFFFF"/>
                    </a:solidFill>
                  </a:uFill>
                  <a:latin typeface="Calibri"/>
                </a:endParaRPr>
              </a:p>
              <a:p>
                <a:r>
                  <a:rPr lang="en-US" sz="2800" b="0" strike="noStrike" spc="-1" dirty="0" smtClean="0">
                    <a:solidFill>
                      <a:srgbClr val="000000"/>
                    </a:solidFill>
                    <a:uFill>
                      <a:solidFill>
                        <a:srgbClr val="FFFFFF"/>
                      </a:solidFill>
                    </a:uFill>
                    <a:latin typeface="Calibri"/>
                  </a:rPr>
                  <a:t>	3 = </a:t>
                </a:r>
                <a14:m>
                  <m:oMath xmlns:m="http://schemas.openxmlformats.org/officeDocument/2006/math">
                    <m:r>
                      <a:rPr lang="el-GR" sz="2800" i="1" spc="-1" dirty="0" smtClean="0">
                        <a:solidFill>
                          <a:srgbClr val="000000"/>
                        </a:solidFill>
                        <a:uFill>
                          <a:solidFill>
                            <a:srgbClr val="FFFFFF"/>
                          </a:solidFill>
                        </a:uFill>
                        <a:latin typeface="Cambria Math"/>
                      </a:rPr>
                      <m:t>𝜆</m:t>
                    </m:r>
                    <m:r>
                      <a:rPr lang="en-US" sz="2800" b="0" i="1" spc="-1" dirty="0" smtClean="0">
                        <a:solidFill>
                          <a:srgbClr val="000000"/>
                        </a:solidFill>
                        <a:uFill>
                          <a:solidFill>
                            <a:srgbClr val="FFFFFF"/>
                          </a:solidFill>
                        </a:uFill>
                        <a:latin typeface="Cambria Math"/>
                      </a:rPr>
                      <m:t>𝑠𝑧</m:t>
                    </m:r>
                    <m:r>
                      <a:rPr lang="en-US" sz="2800" b="0" i="1" spc="-1" dirty="0" smtClean="0">
                        <a:solidFill>
                          <a:srgbClr val="000000"/>
                        </a:solidFill>
                        <a:uFill>
                          <a:solidFill>
                            <a:srgbClr val="FFFFFF"/>
                          </a:solidFill>
                        </a:uFill>
                        <a:latin typeface="Cambria Math"/>
                      </a:rPr>
                      <m:t>.</m:t>
                    </m:r>
                    <m:r>
                      <a:rPr lang="en-US" sz="2800" b="0" i="1" spc="-1" dirty="0" smtClean="0">
                        <a:solidFill>
                          <a:srgbClr val="000000"/>
                        </a:solidFill>
                        <a:uFill>
                          <a:solidFill>
                            <a:srgbClr val="FFFFFF"/>
                          </a:solidFill>
                        </a:uFill>
                        <a:latin typeface="Cambria Math"/>
                      </a:rPr>
                      <m:t>𝑠</m:t>
                    </m:r>
                    <m:d>
                      <m:dPr>
                        <m:ctrlPr>
                          <a:rPr lang="en-US" sz="2800" b="0" i="1" spc="-1" dirty="0" smtClean="0">
                            <a:solidFill>
                              <a:srgbClr val="000000"/>
                            </a:solidFill>
                            <a:uFill>
                              <a:solidFill>
                                <a:srgbClr val="FFFFFF"/>
                              </a:solidFill>
                            </a:uFill>
                            <a:latin typeface="Cambria Math" panose="02040503050406030204" pitchFamily="18" charset="0"/>
                          </a:rPr>
                        </m:ctrlPr>
                      </m:dPr>
                      <m:e>
                        <m:r>
                          <a:rPr lang="en-US" sz="2800" b="0" i="1" spc="-1" dirty="0" smtClean="0">
                            <a:solidFill>
                              <a:srgbClr val="000000"/>
                            </a:solidFill>
                            <a:uFill>
                              <a:solidFill>
                                <a:srgbClr val="FFFFFF"/>
                              </a:solidFill>
                            </a:uFill>
                            <a:latin typeface="Cambria Math"/>
                          </a:rPr>
                          <m:t>𝑠</m:t>
                        </m:r>
                        <m:d>
                          <m:dPr>
                            <m:ctrlPr>
                              <a:rPr lang="en-US" sz="2800" b="0" i="1" spc="-1" dirty="0" smtClean="0">
                                <a:solidFill>
                                  <a:srgbClr val="000000"/>
                                </a:solidFill>
                                <a:uFill>
                                  <a:solidFill>
                                    <a:srgbClr val="FFFFFF"/>
                                  </a:solidFill>
                                </a:uFill>
                                <a:latin typeface="Cambria Math" panose="02040503050406030204" pitchFamily="18" charset="0"/>
                              </a:rPr>
                            </m:ctrlPr>
                          </m:dPr>
                          <m:e>
                            <m:r>
                              <a:rPr lang="en-US" sz="2800" b="0" i="1" spc="-1" dirty="0" smtClean="0">
                                <a:solidFill>
                                  <a:srgbClr val="000000"/>
                                </a:solidFill>
                                <a:uFill>
                                  <a:solidFill>
                                    <a:srgbClr val="FFFFFF"/>
                                  </a:solidFill>
                                </a:uFill>
                                <a:latin typeface="Cambria Math"/>
                              </a:rPr>
                              <m:t>𝑠</m:t>
                            </m:r>
                            <m:d>
                              <m:dPr>
                                <m:ctrlPr>
                                  <a:rPr lang="en-US" sz="2800" b="0" i="1" spc="-1" dirty="0" smtClean="0">
                                    <a:solidFill>
                                      <a:srgbClr val="000000"/>
                                    </a:solidFill>
                                    <a:uFill>
                                      <a:solidFill>
                                        <a:srgbClr val="FFFFFF"/>
                                      </a:solidFill>
                                    </a:uFill>
                                    <a:latin typeface="Cambria Math" panose="02040503050406030204" pitchFamily="18" charset="0"/>
                                  </a:rPr>
                                </m:ctrlPr>
                              </m:dPr>
                              <m:e>
                                <m:r>
                                  <a:rPr lang="en-US" sz="2800" b="0" i="1" spc="-1" dirty="0" smtClean="0">
                                    <a:solidFill>
                                      <a:srgbClr val="000000"/>
                                    </a:solidFill>
                                    <a:uFill>
                                      <a:solidFill>
                                        <a:srgbClr val="FFFFFF"/>
                                      </a:solidFill>
                                    </a:uFill>
                                    <a:latin typeface="Cambria Math"/>
                                  </a:rPr>
                                  <m:t>𝑧</m:t>
                                </m:r>
                              </m:e>
                            </m:d>
                          </m:e>
                        </m:d>
                      </m:e>
                    </m:d>
                  </m:oMath>
                </a14:m>
                <a:endParaRPr lang="en-US" sz="2800" spc="-1" dirty="0" smtClean="0">
                  <a:solidFill>
                    <a:srgbClr val="000000"/>
                  </a:solidFill>
                  <a:uFill>
                    <a:solidFill>
                      <a:srgbClr val="FFFFFF"/>
                    </a:solidFill>
                  </a:uFill>
                  <a:latin typeface="Calibri"/>
                </a:endParaRPr>
              </a:p>
            </p:txBody>
          </p:sp>
        </mc:Choice>
        <mc:Fallback xmlns="">
          <p:sp>
            <p:nvSpPr>
              <p:cNvPr id="87" name="TextShape 2"/>
              <p:cNvSpPr txBox="1">
                <a:spLocks noRot="1" noChangeAspect="1" noMove="1" noResize="1" noEditPoints="1" noAdjustHandles="1" noChangeArrowheads="1" noChangeShapeType="1" noTextEdit="1"/>
              </p:cNvSpPr>
              <p:nvPr/>
            </p:nvSpPr>
            <p:spPr>
              <a:xfrm>
                <a:off x="828555" y="1825560"/>
                <a:ext cx="10515240" cy="4803840"/>
              </a:xfrm>
              <a:prstGeom prst="rect">
                <a:avLst/>
              </a:prstGeom>
              <a:blipFill rotWithShape="1">
                <a:blip r:embed="rId3"/>
                <a:stretch>
                  <a:fillRect l="-1043" t="-1141" r="-464"/>
                </a:stretch>
              </a:blipFill>
              <a:ln>
                <a:noFill/>
              </a:ln>
            </p:spPr>
            <p:txBody>
              <a:bodyPr/>
              <a:lstStyle/>
              <a:p>
                <a:r>
                  <a:rPr lang="en-US">
                    <a:noFill/>
                  </a:rPr>
                  <a:t> </a:t>
                </a:r>
              </a:p>
            </p:txBody>
          </p:sp>
        </mc:Fallback>
      </mc:AlternateContent>
      <p:sp>
        <p:nvSpPr>
          <p:cNvPr id="3" name="Explosion 1 2"/>
          <p:cNvSpPr/>
          <p:nvPr/>
        </p:nvSpPr>
        <p:spPr>
          <a:xfrm>
            <a:off x="6172200" y="3581400"/>
            <a:ext cx="4572000" cy="2743200"/>
          </a:xfrm>
          <a:prstGeom prst="irregularSeal1">
            <a:avLst/>
          </a:prstGeom>
          <a:scene3d>
            <a:camera prst="orthographicFront">
              <a:rot lat="0" lon="0" rev="96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7010400" y="4800599"/>
            <a:ext cx="3276600" cy="646331"/>
          </a:xfrm>
          <a:prstGeom prst="rect">
            <a:avLst/>
          </a:prstGeom>
          <a:noFill/>
          <a:scene3d>
            <a:camera prst="orthographicFront">
              <a:rot lat="0" lon="0" rev="19800000"/>
            </a:camera>
            <a:lightRig rig="threePt" dir="t"/>
          </a:scene3d>
        </p:spPr>
        <p:txBody>
          <a:bodyPr wrap="square" rtlCol="0">
            <a:spAutoFit/>
          </a:bodyPr>
          <a:lstStyle/>
          <a:p>
            <a:pPr algn="ctr"/>
            <a:r>
              <a:rPr lang="en-US" dirty="0" smtClean="0">
                <a:solidFill>
                  <a:schemeClr val="bg1"/>
                </a:solidFill>
              </a:rPr>
              <a:t>See the bonus slides for the successor function!</a:t>
            </a:r>
            <a:endParaRPr lang="en-US" dirty="0">
              <a:solidFill>
                <a:schemeClr val="bg1"/>
              </a:solidFill>
            </a:endParaRPr>
          </a:p>
        </p:txBody>
      </p:sp>
    </p:spTree>
    <p:extLst>
      <p:ext uri="{BB962C8B-B14F-4D97-AF65-F5344CB8AC3E}">
        <p14:creationId xmlns:p14="http://schemas.microsoft.com/office/powerpoint/2010/main" val="413911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dirty="0">
                <a:solidFill>
                  <a:srgbClr val="000000"/>
                </a:solidFill>
                <a:uFill>
                  <a:solidFill>
                    <a:srgbClr val="FFFFFF"/>
                  </a:solidFill>
                </a:uFill>
                <a:latin typeface="Calibri Light"/>
              </a:rPr>
              <a:t>Additional </a:t>
            </a:r>
            <a:r>
              <a:rPr lang="en-US" sz="4400" b="1" strike="noStrike" spc="-1" dirty="0" smtClean="0">
                <a:solidFill>
                  <a:srgbClr val="000000"/>
                </a:solidFill>
                <a:uFill>
                  <a:solidFill>
                    <a:srgbClr val="FFFFFF"/>
                  </a:solidFill>
                </a:uFill>
                <a:latin typeface="Calibri Light"/>
              </a:rPr>
              <a:t>capabilities</a:t>
            </a:r>
            <a:endParaRPr lang="en-US" sz="1800" b="1" strike="noStrike" spc="-1" dirty="0">
              <a:solidFill>
                <a:srgbClr val="000000"/>
              </a:solidFill>
              <a:uFill>
                <a:solidFill>
                  <a:srgbClr val="FFFFFF"/>
                </a:solidFill>
              </a:uFill>
              <a:latin typeface="Calibri"/>
            </a:endParaRPr>
          </a:p>
        </p:txBody>
      </p:sp>
      <mc:AlternateContent xmlns:mc="http://schemas.openxmlformats.org/markup-compatibility/2006" xmlns:a14="http://schemas.microsoft.com/office/drawing/2010/main">
        <mc:Choice Requires="a14">
          <p:sp>
            <p:nvSpPr>
              <p:cNvPr id="107" name="TextShape 2"/>
              <p:cNvSpPr txBox="1"/>
              <p:nvPr/>
            </p:nvSpPr>
            <p:spPr>
              <a:xfrm>
                <a:off x="838080" y="1825560"/>
                <a:ext cx="10515240" cy="4350960"/>
              </a:xfrm>
              <a:prstGeom prst="rect">
                <a:avLst/>
              </a:prstGeom>
              <a:noFill/>
              <a:ln>
                <a:noFill/>
              </a:ln>
            </p:spPr>
            <p:txBody>
              <a:bodyPr/>
              <a:lstStyle/>
              <a:p>
                <a:pPr marL="360">
                  <a:lnSpc>
                    <a:spcPct val="90000"/>
                  </a:lnSpc>
                  <a:buClr>
                    <a:srgbClr val="000000"/>
                  </a:buClr>
                </a:pPr>
                <a:r>
                  <a:rPr lang="en-US" sz="2800" b="0" strike="noStrike" spc="-1" dirty="0" smtClean="0">
                    <a:solidFill>
                      <a:srgbClr val="000000"/>
                    </a:solidFill>
                    <a:uFill>
                      <a:solidFill>
                        <a:srgbClr val="FFFFFF"/>
                      </a:solidFill>
                    </a:uFill>
                    <a:latin typeface="Calibri"/>
                  </a:rPr>
                  <a:t>Arithmetic operations: 2 + 3</a:t>
                </a:r>
                <a:endParaRPr lang="en-US" sz="2800" b="0" strike="noStrike" spc="-1" dirty="0">
                  <a:solidFill>
                    <a:srgbClr val="000000"/>
                  </a:solidFill>
                  <a:uFill>
                    <a:solidFill>
                      <a:srgbClr val="FFFFFF"/>
                    </a:solidFill>
                  </a:uFill>
                  <a:latin typeface="Calibri"/>
                </a:endParaRPr>
              </a:p>
              <a:p>
                <a:pPr>
                  <a:lnSpc>
                    <a:spcPct val="90000"/>
                  </a:lnSpc>
                </a:pPr>
                <a:r>
                  <a:rPr lang="en-US" sz="2800" b="0" strike="noStrike" spc="-1" dirty="0" smtClean="0">
                    <a:solidFill>
                      <a:srgbClr val="000000"/>
                    </a:solidFill>
                    <a:uFill>
                      <a:solidFill>
                        <a:srgbClr val="FFFFFF"/>
                      </a:solidFill>
                    </a:uFill>
                    <a:latin typeface="Calibri"/>
                  </a:rPr>
                  <a:t>	</a:t>
                </a:r>
                <a:r>
                  <a:rPr lang="el-GR" sz="2800" spc="-1" dirty="0">
                    <a:solidFill>
                      <a:srgbClr val="000000"/>
                    </a:solidFill>
                    <a:uFill>
                      <a:solidFill>
                        <a:srgbClr val="FFFFFF"/>
                      </a:solidFill>
                    </a:uFill>
                  </a:rPr>
                  <a:t> </a:t>
                </a:r>
                <a14:m>
                  <m:oMath xmlns:m="http://schemas.openxmlformats.org/officeDocument/2006/math">
                    <m:d>
                      <m:dPr>
                        <m:ctrlPr>
                          <a:rPr lang="en-US" sz="2800" b="0" i="1" spc="-1" dirty="0" smtClean="0">
                            <a:solidFill>
                              <a:srgbClr val="000000"/>
                            </a:solidFill>
                            <a:uFill>
                              <a:solidFill>
                                <a:srgbClr val="FFFFFF"/>
                              </a:solidFill>
                            </a:uFill>
                            <a:latin typeface="Cambria Math" panose="02040503050406030204" pitchFamily="18" charset="0"/>
                          </a:rPr>
                        </m:ctrlPr>
                      </m:dPr>
                      <m:e>
                        <m:r>
                          <a:rPr lang="el-GR" sz="2800" i="1" spc="-1" dirty="0">
                            <a:solidFill>
                              <a:srgbClr val="000000"/>
                            </a:solidFill>
                            <a:uFill>
                              <a:solidFill>
                                <a:srgbClr val="FFFFFF"/>
                              </a:solidFill>
                            </a:uFill>
                            <a:latin typeface="Cambria Math"/>
                          </a:rPr>
                          <m:t>𝜆</m:t>
                        </m:r>
                        <m:r>
                          <a:rPr lang="en-US" sz="2800" i="1" spc="-1" dirty="0">
                            <a:solidFill>
                              <a:srgbClr val="000000"/>
                            </a:solidFill>
                            <a:uFill>
                              <a:solidFill>
                                <a:srgbClr val="FFFFFF"/>
                              </a:solidFill>
                            </a:uFill>
                            <a:latin typeface="Cambria Math"/>
                          </a:rPr>
                          <m:t>𝑠𝑧</m:t>
                        </m:r>
                        <m:r>
                          <a:rPr lang="en-US" sz="2800" i="1" spc="-1" dirty="0">
                            <a:solidFill>
                              <a:srgbClr val="000000"/>
                            </a:solidFill>
                            <a:uFill>
                              <a:solidFill>
                                <a:srgbClr val="FFFFFF"/>
                              </a:solidFill>
                            </a:uFill>
                            <a:latin typeface="Cambria Math"/>
                          </a:rPr>
                          <m:t>.</m:t>
                        </m:r>
                        <m:r>
                          <a:rPr lang="en-US" sz="2800" i="1" spc="-1" dirty="0">
                            <a:solidFill>
                              <a:srgbClr val="000000"/>
                            </a:solidFill>
                            <a:uFill>
                              <a:solidFill>
                                <a:srgbClr val="FFFFFF"/>
                              </a:solidFill>
                            </a:uFill>
                            <a:latin typeface="Cambria Math"/>
                          </a:rPr>
                          <m:t>𝑠</m:t>
                        </m:r>
                        <m:d>
                          <m:dPr>
                            <m:ctrlPr>
                              <a:rPr lang="en-US" sz="2800" i="1" spc="-1" dirty="0">
                                <a:solidFill>
                                  <a:srgbClr val="000000"/>
                                </a:solidFill>
                                <a:uFill>
                                  <a:solidFill>
                                    <a:srgbClr val="FFFFFF"/>
                                  </a:solidFill>
                                </a:uFill>
                                <a:latin typeface="Cambria Math" panose="02040503050406030204" pitchFamily="18" charset="0"/>
                              </a:rPr>
                            </m:ctrlPr>
                          </m:dPr>
                          <m:e>
                            <m:r>
                              <a:rPr lang="en-US" sz="2800" i="1" spc="-1" dirty="0">
                                <a:solidFill>
                                  <a:srgbClr val="000000"/>
                                </a:solidFill>
                                <a:uFill>
                                  <a:solidFill>
                                    <a:srgbClr val="FFFFFF"/>
                                  </a:solidFill>
                                </a:uFill>
                                <a:latin typeface="Cambria Math"/>
                              </a:rPr>
                              <m:t>𝑠</m:t>
                            </m:r>
                            <m:d>
                              <m:dPr>
                                <m:ctrlPr>
                                  <a:rPr lang="en-US" sz="2800" i="1" spc="-1" dirty="0">
                                    <a:solidFill>
                                      <a:srgbClr val="000000"/>
                                    </a:solidFill>
                                    <a:uFill>
                                      <a:solidFill>
                                        <a:srgbClr val="FFFFFF"/>
                                      </a:solidFill>
                                    </a:uFill>
                                    <a:latin typeface="Cambria Math" panose="02040503050406030204" pitchFamily="18" charset="0"/>
                                  </a:rPr>
                                </m:ctrlPr>
                              </m:dPr>
                              <m:e>
                                <m:r>
                                  <a:rPr lang="en-US" sz="2800" i="1" spc="-1" dirty="0">
                                    <a:solidFill>
                                      <a:srgbClr val="000000"/>
                                    </a:solidFill>
                                    <a:uFill>
                                      <a:solidFill>
                                        <a:srgbClr val="FFFFFF"/>
                                      </a:solidFill>
                                    </a:uFill>
                                    <a:latin typeface="Cambria Math"/>
                                  </a:rPr>
                                  <m:t>𝑧</m:t>
                                </m:r>
                              </m:e>
                            </m:d>
                          </m:e>
                        </m:d>
                      </m:e>
                    </m:d>
                    <m:d>
                      <m:dPr>
                        <m:ctrlPr>
                          <a:rPr lang="en-US" sz="2800" b="0" i="1" strike="noStrike" spc="-1" dirty="0" smtClean="0">
                            <a:solidFill>
                              <a:srgbClr val="000000"/>
                            </a:solidFill>
                            <a:uFill>
                              <a:solidFill>
                                <a:srgbClr val="FFFFFF"/>
                              </a:solidFill>
                            </a:uFill>
                            <a:latin typeface="Cambria Math" panose="02040503050406030204" pitchFamily="18" charset="0"/>
                          </a:rPr>
                        </m:ctrlPr>
                      </m:dPr>
                      <m:e>
                        <m:r>
                          <a:rPr lang="el-GR" sz="2800" i="1" spc="-1" dirty="0">
                            <a:solidFill>
                              <a:srgbClr val="000000"/>
                            </a:solidFill>
                            <a:uFill>
                              <a:solidFill>
                                <a:srgbClr val="FFFFFF"/>
                              </a:solidFill>
                            </a:uFill>
                            <a:latin typeface="Cambria Math"/>
                          </a:rPr>
                          <m:t>𝜆</m:t>
                        </m:r>
                        <m:r>
                          <a:rPr lang="en-US" sz="2800" b="0" i="1" spc="-1" dirty="0" smtClean="0">
                            <a:solidFill>
                              <a:srgbClr val="000000"/>
                            </a:solidFill>
                            <a:uFill>
                              <a:solidFill>
                                <a:srgbClr val="FFFFFF"/>
                              </a:solidFill>
                            </a:uFill>
                            <a:latin typeface="Cambria Math"/>
                          </a:rPr>
                          <m:t>𝑤𝑦𝑥</m:t>
                        </m:r>
                        <m:r>
                          <a:rPr lang="en-US" sz="2800" b="0" i="1" spc="-1" dirty="0" smtClean="0">
                            <a:solidFill>
                              <a:srgbClr val="000000"/>
                            </a:solidFill>
                            <a:uFill>
                              <a:solidFill>
                                <a:srgbClr val="FFFFFF"/>
                              </a:solidFill>
                            </a:uFill>
                            <a:latin typeface="Cambria Math"/>
                          </a:rPr>
                          <m:t>.</m:t>
                        </m:r>
                        <m:r>
                          <a:rPr lang="en-US" sz="2800" b="0" i="1" spc="-1" dirty="0" smtClean="0">
                            <a:solidFill>
                              <a:srgbClr val="000000"/>
                            </a:solidFill>
                            <a:uFill>
                              <a:solidFill>
                                <a:srgbClr val="FFFFFF"/>
                              </a:solidFill>
                            </a:uFill>
                            <a:latin typeface="Cambria Math"/>
                          </a:rPr>
                          <m:t>𝑦</m:t>
                        </m:r>
                        <m:d>
                          <m:dPr>
                            <m:ctrlPr>
                              <a:rPr lang="en-US" sz="2800" i="1" spc="-1" dirty="0">
                                <a:solidFill>
                                  <a:srgbClr val="000000"/>
                                </a:solidFill>
                                <a:uFill>
                                  <a:solidFill>
                                    <a:srgbClr val="FFFFFF"/>
                                  </a:solidFill>
                                </a:uFill>
                                <a:latin typeface="Cambria Math" panose="02040503050406030204" pitchFamily="18" charset="0"/>
                              </a:rPr>
                            </m:ctrlPr>
                          </m:dPr>
                          <m:e>
                            <m:r>
                              <a:rPr lang="en-US" sz="2800" b="0" i="1" spc="-1" dirty="0" smtClean="0">
                                <a:solidFill>
                                  <a:srgbClr val="000000"/>
                                </a:solidFill>
                                <a:uFill>
                                  <a:solidFill>
                                    <a:srgbClr val="FFFFFF"/>
                                  </a:solidFill>
                                </a:uFill>
                                <a:latin typeface="Cambria Math"/>
                              </a:rPr>
                              <m:t>𝑤𝑦𝑥</m:t>
                            </m:r>
                          </m:e>
                        </m:d>
                      </m:e>
                    </m:d>
                    <m:d>
                      <m:dPr>
                        <m:ctrlPr>
                          <a:rPr lang="en-US" sz="2800" b="0" i="1" spc="-1" dirty="0" smtClean="0">
                            <a:solidFill>
                              <a:srgbClr val="000000"/>
                            </a:solidFill>
                            <a:uFill>
                              <a:solidFill>
                                <a:srgbClr val="FFFFFF"/>
                              </a:solidFill>
                            </a:uFill>
                            <a:latin typeface="Cambria Math" panose="02040503050406030204" pitchFamily="18" charset="0"/>
                          </a:rPr>
                        </m:ctrlPr>
                      </m:dPr>
                      <m:e>
                        <m:r>
                          <a:rPr lang="el-GR" sz="2800" i="1" spc="-1" dirty="0">
                            <a:solidFill>
                              <a:srgbClr val="000000"/>
                            </a:solidFill>
                            <a:uFill>
                              <a:solidFill>
                                <a:srgbClr val="FFFFFF"/>
                              </a:solidFill>
                            </a:uFill>
                            <a:latin typeface="Cambria Math"/>
                          </a:rPr>
                          <m:t>𝜆</m:t>
                        </m:r>
                        <m:r>
                          <a:rPr lang="en-US" sz="2800" b="0" i="1" spc="-1" dirty="0" smtClean="0">
                            <a:solidFill>
                              <a:srgbClr val="000000"/>
                            </a:solidFill>
                            <a:uFill>
                              <a:solidFill>
                                <a:srgbClr val="FFFFFF"/>
                              </a:solidFill>
                            </a:uFill>
                            <a:latin typeface="Cambria Math"/>
                          </a:rPr>
                          <m:t>𝑡𝑢</m:t>
                        </m:r>
                        <m:r>
                          <a:rPr lang="en-US" sz="2800" i="1" spc="-1" dirty="0">
                            <a:solidFill>
                              <a:srgbClr val="000000"/>
                            </a:solidFill>
                            <a:uFill>
                              <a:solidFill>
                                <a:srgbClr val="FFFFFF"/>
                              </a:solidFill>
                            </a:uFill>
                            <a:latin typeface="Cambria Math"/>
                          </a:rPr>
                          <m:t>.</m:t>
                        </m:r>
                        <m:r>
                          <a:rPr lang="en-US" sz="2800" b="0" i="1" spc="-1" dirty="0" smtClean="0">
                            <a:solidFill>
                              <a:srgbClr val="000000"/>
                            </a:solidFill>
                            <a:uFill>
                              <a:solidFill>
                                <a:srgbClr val="FFFFFF"/>
                              </a:solidFill>
                            </a:uFill>
                            <a:latin typeface="Cambria Math"/>
                          </a:rPr>
                          <m:t>𝑡</m:t>
                        </m:r>
                        <m:d>
                          <m:dPr>
                            <m:ctrlPr>
                              <a:rPr lang="en-US" sz="2800" i="1" spc="-1" dirty="0">
                                <a:solidFill>
                                  <a:srgbClr val="000000"/>
                                </a:solidFill>
                                <a:uFill>
                                  <a:solidFill>
                                    <a:srgbClr val="FFFFFF"/>
                                  </a:solidFill>
                                </a:uFill>
                                <a:latin typeface="Cambria Math" panose="02040503050406030204" pitchFamily="18" charset="0"/>
                              </a:rPr>
                            </m:ctrlPr>
                          </m:dPr>
                          <m:e>
                            <m:r>
                              <a:rPr lang="en-US" sz="2800" b="0" i="1" spc="-1" dirty="0" smtClean="0">
                                <a:solidFill>
                                  <a:srgbClr val="000000"/>
                                </a:solidFill>
                                <a:uFill>
                                  <a:solidFill>
                                    <a:srgbClr val="FFFFFF"/>
                                  </a:solidFill>
                                </a:uFill>
                                <a:latin typeface="Cambria Math"/>
                              </a:rPr>
                              <m:t>𝑡</m:t>
                            </m:r>
                            <m:d>
                              <m:dPr>
                                <m:ctrlPr>
                                  <a:rPr lang="en-US" sz="2800" i="1" spc="-1" dirty="0">
                                    <a:solidFill>
                                      <a:srgbClr val="000000"/>
                                    </a:solidFill>
                                    <a:uFill>
                                      <a:solidFill>
                                        <a:srgbClr val="FFFFFF"/>
                                      </a:solidFill>
                                    </a:uFill>
                                    <a:latin typeface="Cambria Math" panose="02040503050406030204" pitchFamily="18" charset="0"/>
                                  </a:rPr>
                                </m:ctrlPr>
                              </m:dPr>
                              <m:e>
                                <m:r>
                                  <a:rPr lang="en-US" sz="2800" b="0" i="1" spc="-1" dirty="0" smtClean="0">
                                    <a:solidFill>
                                      <a:srgbClr val="000000"/>
                                    </a:solidFill>
                                    <a:uFill>
                                      <a:solidFill>
                                        <a:srgbClr val="FFFFFF"/>
                                      </a:solidFill>
                                    </a:uFill>
                                    <a:latin typeface="Cambria Math"/>
                                  </a:rPr>
                                  <m:t>𝑡</m:t>
                                </m:r>
                                <m:r>
                                  <a:rPr lang="en-US" sz="2800" b="0" i="1" spc="-1" dirty="0" smtClean="0">
                                    <a:solidFill>
                                      <a:srgbClr val="000000"/>
                                    </a:solidFill>
                                    <a:uFill>
                                      <a:solidFill>
                                        <a:srgbClr val="FFFFFF"/>
                                      </a:solidFill>
                                    </a:uFill>
                                    <a:latin typeface="Cambria Math"/>
                                  </a:rPr>
                                  <m:t>(</m:t>
                                </m:r>
                                <m:r>
                                  <a:rPr lang="en-US" sz="2800" b="0" i="1" spc="-1" dirty="0" smtClean="0">
                                    <a:solidFill>
                                      <a:srgbClr val="000000"/>
                                    </a:solidFill>
                                    <a:uFill>
                                      <a:solidFill>
                                        <a:srgbClr val="FFFFFF"/>
                                      </a:solidFill>
                                    </a:uFill>
                                    <a:latin typeface="Cambria Math"/>
                                  </a:rPr>
                                  <m:t>𝑢</m:t>
                                </m:r>
                              </m:e>
                            </m:d>
                          </m:e>
                        </m:d>
                      </m:e>
                    </m:d>
                  </m:oMath>
                </a14:m>
                <a:endParaRPr lang="en-US" sz="2800" b="0" strike="noStrike" spc="-1" dirty="0" smtClean="0">
                  <a:solidFill>
                    <a:srgbClr val="000000"/>
                  </a:solidFill>
                  <a:uFill>
                    <a:solidFill>
                      <a:srgbClr val="FFFFFF"/>
                    </a:solidFill>
                  </a:uFill>
                  <a:latin typeface="Calibri"/>
                </a:endParaRPr>
              </a:p>
              <a:p>
                <a:pPr>
                  <a:lnSpc>
                    <a:spcPct val="90000"/>
                  </a:lnSpc>
                </a:pPr>
                <a:endParaRPr lang="en-US" sz="2800" b="0" strike="noStrike" spc="-1" dirty="0">
                  <a:solidFill>
                    <a:srgbClr val="000000"/>
                  </a:solidFill>
                  <a:uFill>
                    <a:solidFill>
                      <a:srgbClr val="FFFFFF"/>
                    </a:solidFill>
                  </a:uFill>
                  <a:latin typeface="Calibri"/>
                </a:endParaRPr>
              </a:p>
              <a:p>
                <a:pPr marL="360">
                  <a:lnSpc>
                    <a:spcPct val="90000"/>
                  </a:lnSpc>
                  <a:buClr>
                    <a:srgbClr val="000000"/>
                  </a:buClr>
                </a:pPr>
                <a:r>
                  <a:rPr lang="en-US" sz="2800" b="0" strike="noStrike" spc="-1" dirty="0">
                    <a:solidFill>
                      <a:srgbClr val="000000"/>
                    </a:solidFill>
                    <a:uFill>
                      <a:solidFill>
                        <a:srgbClr val="FFFFFF"/>
                      </a:solidFill>
                    </a:uFill>
                    <a:latin typeface="Calibri"/>
                  </a:rPr>
                  <a:t>Booleans</a:t>
                </a:r>
              </a:p>
              <a:p>
                <a:pPr marL="685800" lvl="1" indent="-228240">
                  <a:lnSpc>
                    <a:spcPct val="100000"/>
                  </a:lnSpc>
                  <a:buClr>
                    <a:srgbClr val="000000"/>
                  </a:buClr>
                  <a:buFont typeface="Arial"/>
                  <a:buChar char="•"/>
                </a:pPr>
                <a14:m>
                  <m:oMath xmlns:m="http://schemas.openxmlformats.org/officeDocument/2006/math">
                    <m:r>
                      <a:rPr lang="en-US" sz="2400" b="0" i="1" strike="noStrike" spc="-1" dirty="0" smtClean="0">
                        <a:solidFill>
                          <a:srgbClr val="000000"/>
                        </a:solidFill>
                        <a:uFill>
                          <a:solidFill>
                            <a:srgbClr val="FFFFFF"/>
                          </a:solidFill>
                        </a:uFill>
                        <a:latin typeface="Cambria Math"/>
                      </a:rPr>
                      <m:t>𝑇</m:t>
                    </m:r>
                    <m:r>
                      <a:rPr lang="en-US" sz="2400" b="0" i="1" strike="noStrike" spc="-1" dirty="0" smtClean="0">
                        <a:solidFill>
                          <a:srgbClr val="000000"/>
                        </a:solidFill>
                        <a:uFill>
                          <a:solidFill>
                            <a:srgbClr val="FFFFFF"/>
                          </a:solidFill>
                        </a:uFill>
                        <a:latin typeface="Cambria Math"/>
                      </a:rPr>
                      <m:t> ≡ </m:t>
                    </m:r>
                    <m:r>
                      <a:rPr lang="en-US" sz="2400" b="0" i="1" strike="noStrike" spc="-1" dirty="0" err="1">
                        <a:solidFill>
                          <a:srgbClr val="000000"/>
                        </a:solidFill>
                        <a:uFill>
                          <a:solidFill>
                            <a:srgbClr val="FFFFFF"/>
                          </a:solidFill>
                        </a:uFill>
                        <a:latin typeface="Cambria Math"/>
                      </a:rPr>
                      <m:t>𝜆</m:t>
                    </m:r>
                    <m:r>
                      <a:rPr lang="en-US" sz="2400" b="0" i="1" strike="noStrike" spc="-1" dirty="0" err="1">
                        <a:solidFill>
                          <a:srgbClr val="000000"/>
                        </a:solidFill>
                        <a:uFill>
                          <a:solidFill>
                            <a:srgbClr val="FFFFFF"/>
                          </a:solidFill>
                        </a:uFill>
                        <a:latin typeface="Cambria Math"/>
                      </a:rPr>
                      <m:t>𝑥𝑦</m:t>
                    </m:r>
                    <m:r>
                      <a:rPr lang="en-US" sz="2400" b="0" i="1" strike="noStrike" spc="-1" dirty="0" err="1">
                        <a:solidFill>
                          <a:srgbClr val="000000"/>
                        </a:solidFill>
                        <a:uFill>
                          <a:solidFill>
                            <a:srgbClr val="FFFFFF"/>
                          </a:solidFill>
                        </a:uFill>
                        <a:latin typeface="Cambria Math"/>
                      </a:rPr>
                      <m:t>.</m:t>
                    </m:r>
                    <m:r>
                      <a:rPr lang="en-US" sz="2400" b="0" i="1" strike="noStrike" spc="-1" dirty="0" err="1">
                        <a:solidFill>
                          <a:srgbClr val="000000"/>
                        </a:solidFill>
                        <a:uFill>
                          <a:solidFill>
                            <a:srgbClr val="FFFFFF"/>
                          </a:solidFill>
                        </a:uFill>
                        <a:latin typeface="Cambria Math"/>
                      </a:rPr>
                      <m:t>𝑥</m:t>
                    </m:r>
                  </m:oMath>
                </a14:m>
                <a:endParaRPr lang="en-US" sz="2000" b="0" strike="noStrike" spc="-1" dirty="0">
                  <a:solidFill>
                    <a:srgbClr val="000000"/>
                  </a:solidFill>
                  <a:uFill>
                    <a:solidFill>
                      <a:srgbClr val="FFFFFF"/>
                    </a:solidFill>
                  </a:uFill>
                  <a:latin typeface="Calibri"/>
                </a:endParaRPr>
              </a:p>
              <a:p>
                <a:pPr marL="685800" lvl="1" indent="-228240">
                  <a:lnSpc>
                    <a:spcPct val="100000"/>
                  </a:lnSpc>
                  <a:buClr>
                    <a:srgbClr val="000000"/>
                  </a:buClr>
                  <a:buFont typeface="Arial"/>
                  <a:buChar char="•"/>
                </a:pPr>
                <a14:m>
                  <m:oMath xmlns:m="http://schemas.openxmlformats.org/officeDocument/2006/math">
                    <m:r>
                      <a:rPr lang="en-US" sz="2400" b="0" i="1" strike="noStrike" spc="-1" dirty="0" smtClean="0">
                        <a:solidFill>
                          <a:srgbClr val="000000"/>
                        </a:solidFill>
                        <a:uFill>
                          <a:solidFill>
                            <a:srgbClr val="FFFFFF"/>
                          </a:solidFill>
                        </a:uFill>
                        <a:latin typeface="Cambria Math"/>
                      </a:rPr>
                      <m:t>𝐹</m:t>
                    </m:r>
                    <m:r>
                      <a:rPr lang="en-US" sz="2400" b="0" i="1" strike="noStrike" spc="-1" dirty="0" smtClean="0">
                        <a:solidFill>
                          <a:srgbClr val="000000"/>
                        </a:solidFill>
                        <a:uFill>
                          <a:solidFill>
                            <a:srgbClr val="FFFFFF"/>
                          </a:solidFill>
                        </a:uFill>
                        <a:latin typeface="Cambria Math"/>
                      </a:rPr>
                      <m:t> ≡ </m:t>
                    </m:r>
                    <m:r>
                      <a:rPr lang="en-US" sz="2400" b="0" i="1" strike="noStrike" spc="-1" dirty="0" err="1">
                        <a:solidFill>
                          <a:srgbClr val="000000"/>
                        </a:solidFill>
                        <a:uFill>
                          <a:solidFill>
                            <a:srgbClr val="FFFFFF"/>
                          </a:solidFill>
                        </a:uFill>
                        <a:latin typeface="Cambria Math"/>
                      </a:rPr>
                      <m:t>𝜆</m:t>
                    </m:r>
                    <m:r>
                      <a:rPr lang="en-US" sz="2400" b="0" i="1" strike="noStrike" spc="-1" dirty="0" err="1">
                        <a:solidFill>
                          <a:srgbClr val="000000"/>
                        </a:solidFill>
                        <a:uFill>
                          <a:solidFill>
                            <a:srgbClr val="FFFFFF"/>
                          </a:solidFill>
                        </a:uFill>
                        <a:latin typeface="Cambria Math"/>
                      </a:rPr>
                      <m:t>𝑥𝑦</m:t>
                    </m:r>
                    <m:r>
                      <a:rPr lang="en-US" sz="2400" b="0" i="1" strike="noStrike" spc="-1" dirty="0" err="1">
                        <a:solidFill>
                          <a:srgbClr val="000000"/>
                        </a:solidFill>
                        <a:uFill>
                          <a:solidFill>
                            <a:srgbClr val="FFFFFF"/>
                          </a:solidFill>
                        </a:uFill>
                        <a:latin typeface="Cambria Math"/>
                      </a:rPr>
                      <m:t>.</m:t>
                    </m:r>
                    <m:r>
                      <a:rPr lang="en-US" sz="2400" b="0" i="1" strike="noStrike" spc="-1" dirty="0" err="1">
                        <a:solidFill>
                          <a:srgbClr val="000000"/>
                        </a:solidFill>
                        <a:uFill>
                          <a:solidFill>
                            <a:srgbClr val="FFFFFF"/>
                          </a:solidFill>
                        </a:uFill>
                        <a:latin typeface="Cambria Math"/>
                      </a:rPr>
                      <m:t>𝑦</m:t>
                    </m:r>
                  </m:oMath>
                </a14:m>
                <a:endParaRPr lang="en-US" sz="2000" b="0" strike="noStrike" spc="-1" dirty="0">
                  <a:solidFill>
                    <a:srgbClr val="000000"/>
                  </a:solidFill>
                  <a:uFill>
                    <a:solidFill>
                      <a:srgbClr val="FFFFFF"/>
                    </a:solidFill>
                  </a:uFill>
                  <a:latin typeface="Calibri"/>
                </a:endParaRPr>
              </a:p>
              <a:p>
                <a:pPr>
                  <a:lnSpc>
                    <a:spcPct val="90000"/>
                  </a:lnSpc>
                </a:pPr>
                <a:endParaRPr lang="en-US" sz="2800" b="0" strike="noStrike" spc="-1" dirty="0">
                  <a:solidFill>
                    <a:srgbClr val="000000"/>
                  </a:solidFill>
                  <a:uFill>
                    <a:solidFill>
                      <a:srgbClr val="FFFFFF"/>
                    </a:solidFill>
                  </a:uFill>
                  <a:latin typeface="Calibri"/>
                </a:endParaRPr>
              </a:p>
              <a:p>
                <a:pPr marL="360">
                  <a:lnSpc>
                    <a:spcPct val="90000"/>
                  </a:lnSpc>
                  <a:buClr>
                    <a:srgbClr val="000000"/>
                  </a:buClr>
                </a:pPr>
                <a:r>
                  <a:rPr lang="en-US" sz="2800" b="0" strike="noStrike" spc="-1" dirty="0">
                    <a:solidFill>
                      <a:srgbClr val="000000"/>
                    </a:solidFill>
                    <a:uFill>
                      <a:solidFill>
                        <a:srgbClr val="FFFFFF"/>
                      </a:solidFill>
                    </a:uFill>
                    <a:latin typeface="Calibri"/>
                  </a:rPr>
                  <a:t>Logical </a:t>
                </a:r>
                <a:r>
                  <a:rPr lang="en-US" sz="2800" b="0" strike="noStrike" spc="-1" dirty="0" smtClean="0">
                    <a:solidFill>
                      <a:srgbClr val="000000"/>
                    </a:solidFill>
                    <a:uFill>
                      <a:solidFill>
                        <a:srgbClr val="FFFFFF"/>
                      </a:solidFill>
                    </a:uFill>
                    <a:latin typeface="Calibri"/>
                  </a:rPr>
                  <a:t>operations and conditionals</a:t>
                </a:r>
                <a:endParaRPr lang="en-US" sz="2800" b="0" strike="noStrike" spc="-1" dirty="0">
                  <a:solidFill>
                    <a:srgbClr val="000000"/>
                  </a:solidFill>
                  <a:uFill>
                    <a:solidFill>
                      <a:srgbClr val="FFFFFF"/>
                    </a:solidFill>
                  </a:uFill>
                  <a:latin typeface="Calibri"/>
                </a:endParaRPr>
              </a:p>
              <a:p>
                <a:pPr marL="685800" lvl="1" indent="-228240">
                  <a:lnSpc>
                    <a:spcPct val="100000"/>
                  </a:lnSpc>
                  <a:buClr>
                    <a:srgbClr val="000000"/>
                  </a:buClr>
                  <a:buFont typeface="Arial"/>
                  <a:buChar char="•"/>
                </a:pPr>
                <a:r>
                  <a:rPr lang="en-US" sz="2400" b="0" strike="noStrike" spc="-1" dirty="0">
                    <a:solidFill>
                      <a:srgbClr val="000000"/>
                    </a:solidFill>
                    <a:uFill>
                      <a:solidFill>
                        <a:srgbClr val="FFFFFF"/>
                      </a:solidFill>
                    </a:uFill>
                    <a:latin typeface="Calibri"/>
                  </a:rPr>
                  <a:t>AND, OR, </a:t>
                </a:r>
                <a:r>
                  <a:rPr lang="en-US" sz="2400" b="0" strike="noStrike" spc="-1" dirty="0" smtClean="0">
                    <a:solidFill>
                      <a:srgbClr val="000000"/>
                    </a:solidFill>
                    <a:uFill>
                      <a:solidFill>
                        <a:srgbClr val="FFFFFF"/>
                      </a:solidFill>
                    </a:uFill>
                    <a:latin typeface="Calibri"/>
                  </a:rPr>
                  <a:t>NOT.</a:t>
                </a:r>
                <a:endParaRPr lang="en-US" sz="2800" spc="-1" dirty="0">
                  <a:solidFill>
                    <a:srgbClr val="000000"/>
                  </a:solidFill>
                  <a:uFill>
                    <a:solidFill>
                      <a:srgbClr val="FFFFFF"/>
                    </a:solidFill>
                  </a:uFill>
                  <a:latin typeface="Calibri"/>
                </a:endParaRPr>
              </a:p>
              <a:p>
                <a:pPr marL="685800" lvl="1" indent="-228240">
                  <a:lnSpc>
                    <a:spcPct val="100000"/>
                  </a:lnSpc>
                  <a:buClr>
                    <a:srgbClr val="000000"/>
                  </a:buClr>
                  <a:buFont typeface="Arial"/>
                  <a:buChar char="•"/>
                </a:pPr>
                <a:r>
                  <a:rPr lang="en-US" sz="2800" b="0" strike="noStrike" spc="-1" dirty="0" smtClean="0">
                    <a:solidFill>
                      <a:srgbClr val="000000"/>
                    </a:solidFill>
                    <a:uFill>
                      <a:solidFill>
                        <a:srgbClr val="FFFFFF"/>
                      </a:solidFill>
                    </a:uFill>
                    <a:latin typeface="Calibri"/>
                  </a:rPr>
                  <a:t>If &gt; then &gt; else.</a:t>
                </a:r>
                <a:endParaRPr lang="en-US" sz="2800" b="0" strike="noStrike" spc="-1" dirty="0">
                  <a:solidFill>
                    <a:srgbClr val="000000"/>
                  </a:solidFill>
                  <a:uFill>
                    <a:solidFill>
                      <a:srgbClr val="FFFFFF"/>
                    </a:solidFill>
                  </a:uFill>
                  <a:latin typeface="Calibri"/>
                </a:endParaRPr>
              </a:p>
            </p:txBody>
          </p:sp>
        </mc:Choice>
        <mc:Fallback xmlns="">
          <p:sp>
            <p:nvSpPr>
              <p:cNvPr id="107" name="TextShape 2"/>
              <p:cNvSpPr txBox="1">
                <a:spLocks noRot="1" noChangeAspect="1" noMove="1" noResize="1" noEditPoints="1" noAdjustHandles="1" noChangeArrowheads="1" noChangeShapeType="1" noTextEdit="1"/>
              </p:cNvSpPr>
              <p:nvPr/>
            </p:nvSpPr>
            <p:spPr>
              <a:xfrm>
                <a:off x="838080" y="1825560"/>
                <a:ext cx="10515240" cy="4350960"/>
              </a:xfrm>
              <a:prstGeom prst="rect">
                <a:avLst/>
              </a:prstGeom>
              <a:blipFill rotWithShape="1">
                <a:blip r:embed="rId2"/>
                <a:stretch>
                  <a:fillRect l="-1159" t="-2241"/>
                </a:stretch>
              </a:blipFill>
              <a:ln>
                <a:noFill/>
              </a:ln>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dirty="0" smtClean="0">
                <a:solidFill>
                  <a:srgbClr val="000000"/>
                </a:solidFill>
                <a:uFill>
                  <a:solidFill>
                    <a:srgbClr val="FFFFFF"/>
                  </a:solidFill>
                </a:uFill>
                <a:latin typeface="Calibri Light"/>
              </a:rPr>
              <a:t>Implementation</a:t>
            </a:r>
            <a:endParaRPr lang="en-US" sz="1800" b="1" strike="noStrike" spc="-1" dirty="0">
              <a:solidFill>
                <a:srgbClr val="000000"/>
              </a:solidFill>
              <a:uFill>
                <a:solidFill>
                  <a:srgbClr val="FFFFFF"/>
                </a:solidFill>
              </a:uFill>
              <a:latin typeface="Calibri"/>
            </a:endParaRPr>
          </a:p>
        </p:txBody>
      </p:sp>
      <p:sp>
        <p:nvSpPr>
          <p:cNvPr id="81" name="TextShape 2"/>
          <p:cNvSpPr txBox="1"/>
          <p:nvPr/>
        </p:nvSpPr>
        <p:spPr>
          <a:xfrm>
            <a:off x="838080" y="1524000"/>
            <a:ext cx="10515240" cy="4800600"/>
          </a:xfrm>
          <a:prstGeom prst="rect">
            <a:avLst/>
          </a:prstGeom>
          <a:noFill/>
          <a:ln>
            <a:noFill/>
          </a:ln>
        </p:spPr>
        <p:txBody>
          <a:bodyPr/>
          <a:lstStyle/>
          <a:p>
            <a:pPr>
              <a:lnSpc>
                <a:spcPct val="100000"/>
              </a:lnSpc>
            </a:pPr>
            <a:r>
              <a:rPr lang="en-US" sz="2400" spc="-1" dirty="0" smtClean="0">
                <a:solidFill>
                  <a:srgbClr val="000000"/>
                </a:solidFill>
                <a:uFill>
                  <a:solidFill>
                    <a:srgbClr val="FFFFFF"/>
                  </a:solidFill>
                </a:uFill>
                <a:latin typeface="Calibri"/>
              </a:rPr>
              <a:t>“</a:t>
            </a:r>
            <a:r>
              <a:rPr lang="en-US" sz="2400" b="0" strike="noStrike" spc="-1" dirty="0" smtClean="0">
                <a:solidFill>
                  <a:srgbClr val="000000"/>
                </a:solidFill>
                <a:uFill>
                  <a:solidFill>
                    <a:srgbClr val="FFFFFF"/>
                  </a:solidFill>
                </a:uFill>
                <a:latin typeface="Calibri"/>
              </a:rPr>
              <a:t>A formal approach to modeling and analyzing human taskload in simulated air traffic scenarios.”</a:t>
            </a:r>
          </a:p>
          <a:p>
            <a:pPr>
              <a:lnSpc>
                <a:spcPct val="100000"/>
              </a:lnSpc>
            </a:pPr>
            <a:endParaRPr lang="en-US" sz="2400" spc="-1" dirty="0">
              <a:solidFill>
                <a:srgbClr val="000000"/>
              </a:solidFill>
              <a:uFill>
                <a:solidFill>
                  <a:srgbClr val="FFFFFF"/>
                </a:solidFill>
              </a:uFill>
              <a:latin typeface="Calibri"/>
            </a:endParaRPr>
          </a:p>
          <a:p>
            <a:pPr>
              <a:lnSpc>
                <a:spcPct val="100000"/>
              </a:lnSpc>
            </a:pPr>
            <a:r>
              <a:rPr lang="en-US" sz="2400" b="0" strike="noStrike" spc="-1" dirty="0" smtClean="0">
                <a:solidFill>
                  <a:srgbClr val="000000"/>
                </a:solidFill>
                <a:uFill>
                  <a:solidFill>
                    <a:srgbClr val="FFFFFF"/>
                  </a:solidFill>
                </a:uFill>
                <a:latin typeface="Calibri"/>
              </a:rPr>
              <a:t>Background:</a:t>
            </a:r>
          </a:p>
          <a:p>
            <a:pPr marL="342900" indent="-342900">
              <a:lnSpc>
                <a:spcPct val="100000"/>
              </a:lnSpc>
              <a:buFont typeface="Arial" panose="020B0604020202020204" pitchFamily="34" charset="0"/>
              <a:buChar char="•"/>
            </a:pPr>
            <a:r>
              <a:rPr lang="en-US" sz="2400" spc="-1" dirty="0" smtClean="0">
                <a:solidFill>
                  <a:srgbClr val="000000"/>
                </a:solidFill>
                <a:uFill>
                  <a:solidFill>
                    <a:srgbClr val="FFFFFF"/>
                  </a:solidFill>
                </a:uFill>
                <a:latin typeface="Calibri"/>
              </a:rPr>
              <a:t>Using simulation and formal methods synergistically to discover interesting, potentially dangerous human taskload conditions.</a:t>
            </a:r>
          </a:p>
          <a:p>
            <a:pPr marL="342900" indent="-342900">
              <a:lnSpc>
                <a:spcPct val="100000"/>
              </a:lnSpc>
              <a:buFont typeface="Arial" panose="020B0604020202020204" pitchFamily="34" charset="0"/>
              <a:buChar char="•"/>
            </a:pPr>
            <a:r>
              <a:rPr lang="en-US" sz="2400" spc="-1" dirty="0" smtClean="0">
                <a:solidFill>
                  <a:srgbClr val="000000"/>
                </a:solidFill>
                <a:uFill>
                  <a:solidFill>
                    <a:srgbClr val="FFFFFF"/>
                  </a:solidFill>
                </a:uFill>
                <a:latin typeface="Calibri"/>
              </a:rPr>
              <a:t>This particular WMC scenario used one ATC, three aircraft agents in a simulated landing at an airport.</a:t>
            </a:r>
          </a:p>
          <a:p>
            <a:pPr marL="342900" indent="-342900">
              <a:lnSpc>
                <a:spcPct val="100000"/>
              </a:lnSpc>
              <a:buFont typeface="Arial" panose="020B0604020202020204" pitchFamily="34" charset="0"/>
              <a:buChar char="•"/>
            </a:pPr>
            <a:r>
              <a:rPr lang="en-US" sz="2400" spc="-1" dirty="0" err="1" smtClean="0">
                <a:solidFill>
                  <a:srgbClr val="000000"/>
                </a:solidFill>
                <a:uFill>
                  <a:solidFill>
                    <a:srgbClr val="FFFFFF"/>
                  </a:solidFill>
                </a:uFill>
                <a:latin typeface="Calibri"/>
              </a:rPr>
              <a:t>NextGen</a:t>
            </a:r>
            <a:r>
              <a:rPr lang="en-US" sz="2400" spc="-1" dirty="0" smtClean="0">
                <a:solidFill>
                  <a:srgbClr val="000000"/>
                </a:solidFill>
                <a:uFill>
                  <a:solidFill>
                    <a:srgbClr val="FFFFFF"/>
                  </a:solidFill>
                </a:uFill>
                <a:latin typeface="Calibri"/>
              </a:rPr>
              <a:t> Air Traffic Control system: shifting authority and autonomy allocation of current air navigation paradigm.</a:t>
            </a:r>
          </a:p>
          <a:p>
            <a:pPr marL="342900" indent="-342900">
              <a:lnSpc>
                <a:spcPct val="100000"/>
              </a:lnSpc>
              <a:buFont typeface="Arial" panose="020B0604020202020204" pitchFamily="34" charset="0"/>
              <a:buChar char="•"/>
            </a:pPr>
            <a:r>
              <a:rPr lang="en-US" sz="2400" spc="-1" dirty="0" smtClean="0">
                <a:solidFill>
                  <a:srgbClr val="000000"/>
                </a:solidFill>
                <a:uFill>
                  <a:solidFill>
                    <a:srgbClr val="FFFFFF"/>
                  </a:solidFill>
                </a:uFill>
                <a:latin typeface="Calibri"/>
              </a:rPr>
              <a:t>As actions are executed by all agents during landing, can we use formal methods to find problematic corner cases in the simulation trace?</a:t>
            </a:r>
            <a:endParaRPr lang="en-US" sz="2400" b="0" strike="noStrike" spc="-1" dirty="0">
              <a:solidFill>
                <a:srgbClr val="000000"/>
              </a:solidFill>
              <a:uFill>
                <a:solidFill>
                  <a:srgbClr val="FFFFFF"/>
                </a:solidFill>
              </a:uFill>
              <a:latin typeface="Calibri"/>
            </a:endParaRPr>
          </a:p>
          <a:p>
            <a:pPr>
              <a:lnSpc>
                <a:spcPct val="100000"/>
              </a:lnSpc>
            </a:pPr>
            <a:endParaRPr lang="en-US" sz="2800" b="0" strike="noStrike" spc="-1" dirty="0">
              <a:solidFill>
                <a:srgbClr val="000000"/>
              </a:solidFill>
              <a:uFill>
                <a:solidFill>
                  <a:srgbClr val="FFFFFF"/>
                </a:solidFill>
              </a:uFill>
              <a:latin typeface="Calibri"/>
            </a:endParaRPr>
          </a:p>
          <a:p>
            <a:pPr>
              <a:lnSpc>
                <a:spcPct val="100000"/>
              </a:lnSpc>
            </a:pPr>
            <a:endParaRPr lang="en-US" sz="2800" b="0" strike="noStrike" spc="-1" dirty="0">
              <a:solidFill>
                <a:srgbClr val="000000"/>
              </a:solidFill>
              <a:uFill>
                <a:solidFill>
                  <a:srgbClr val="FFFFFF"/>
                </a:solidFill>
              </a:uFill>
              <a:latin typeface="Calibri"/>
            </a:endParaRPr>
          </a:p>
        </p:txBody>
      </p:sp>
      <p:sp>
        <p:nvSpPr>
          <p:cNvPr id="82" name="CustomShape 3"/>
          <p:cNvSpPr/>
          <p:nvPr/>
        </p:nvSpPr>
        <p:spPr>
          <a:xfrm>
            <a:off x="867388" y="2819400"/>
            <a:ext cx="4935960" cy="32071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dirty="0" smtClean="0">
                <a:solidFill>
                  <a:srgbClr val="000000"/>
                </a:solidFill>
                <a:uFill>
                  <a:solidFill>
                    <a:srgbClr val="FFFFFF"/>
                  </a:solidFill>
                </a:uFill>
                <a:latin typeface="Calibri Light"/>
              </a:rPr>
              <a:t>Representing action queues efficiently</a:t>
            </a:r>
            <a:endParaRPr lang="en-US" sz="1800" b="1" strike="noStrike" spc="-1" dirty="0">
              <a:solidFill>
                <a:srgbClr val="000000"/>
              </a:solidFill>
              <a:uFill>
                <a:solidFill>
                  <a:srgbClr val="FFFFFF"/>
                </a:solidFill>
              </a:uFill>
              <a:latin typeface="Calibri"/>
            </a:endParaRPr>
          </a:p>
        </p:txBody>
      </p:sp>
      <p:sp>
        <p:nvSpPr>
          <p:cNvPr id="81" name="TextShape 2"/>
          <p:cNvSpPr txBox="1"/>
          <p:nvPr/>
        </p:nvSpPr>
        <p:spPr>
          <a:xfrm>
            <a:off x="838080" y="1524000"/>
            <a:ext cx="10515240" cy="4953000"/>
          </a:xfrm>
          <a:prstGeom prst="rect">
            <a:avLst/>
          </a:prstGeom>
          <a:noFill/>
          <a:ln>
            <a:noFill/>
          </a:ln>
        </p:spPr>
        <p:txBody>
          <a:bodyPr/>
          <a:lstStyle/>
          <a:p>
            <a:pPr>
              <a:lnSpc>
                <a:spcPct val="100000"/>
              </a:lnSpc>
            </a:pPr>
            <a:r>
              <a:rPr lang="en-US" sz="2800" b="0" strike="noStrike" spc="-1" dirty="0" smtClean="0">
                <a:solidFill>
                  <a:srgbClr val="000000"/>
                </a:solidFill>
                <a:uFill>
                  <a:solidFill>
                    <a:srgbClr val="FFFFFF"/>
                  </a:solidFill>
                </a:uFill>
                <a:latin typeface="Calibri"/>
              </a:rPr>
              <a:t>Assigning actions to queues (explained in a bit) is computationally intensive for SAL:</a:t>
            </a:r>
          </a:p>
          <a:p>
            <a:pPr>
              <a:lnSpc>
                <a:spcPct val="100000"/>
              </a:lnSpc>
            </a:pPr>
            <a:endParaRPr lang="en-US" sz="2800" b="0" strike="noStrike" spc="-1" dirty="0" smtClean="0">
              <a:solidFill>
                <a:srgbClr val="000000"/>
              </a:solidFill>
              <a:uFill>
                <a:solidFill>
                  <a:srgbClr val="FFFFFF"/>
                </a:solidFill>
              </a:uFill>
              <a:latin typeface="Calibri"/>
            </a:endParaRPr>
          </a:p>
          <a:p>
            <a:pPr marL="457200" indent="-457200">
              <a:lnSpc>
                <a:spcPct val="100000"/>
              </a:lnSpc>
              <a:buFont typeface="Arial" panose="020B0604020202020204" pitchFamily="34" charset="0"/>
              <a:buChar char="•"/>
            </a:pPr>
            <a:r>
              <a:rPr lang="en-US" sz="2400" spc="-1" dirty="0" smtClean="0">
                <a:solidFill>
                  <a:srgbClr val="000000"/>
                </a:solidFill>
                <a:uFill>
                  <a:solidFill>
                    <a:srgbClr val="FFFFFF"/>
                  </a:solidFill>
                </a:uFill>
                <a:latin typeface="Calibri"/>
              </a:rPr>
              <a:t>Agent modules must keep track of all actions in their Active and Inactive sets, with the goal of identifying violations (e.g., exceeding </a:t>
            </a:r>
            <a:r>
              <a:rPr lang="en-US" sz="2400" spc="-1" dirty="0" err="1" smtClean="0">
                <a:solidFill>
                  <a:srgbClr val="000000"/>
                </a:solidFill>
                <a:uFill>
                  <a:solidFill>
                    <a:srgbClr val="FFFFFF"/>
                  </a:solidFill>
                </a:uFill>
                <a:latin typeface="Calibri"/>
              </a:rPr>
              <a:t>maxInactive</a:t>
            </a:r>
            <a:r>
              <a:rPr lang="en-US" sz="2400" spc="-1" dirty="0" smtClean="0">
                <a:solidFill>
                  <a:srgbClr val="000000"/>
                </a:solidFill>
                <a:uFill>
                  <a:solidFill>
                    <a:srgbClr val="FFFFFF"/>
                  </a:solidFill>
                </a:uFill>
                <a:latin typeface="Calibri"/>
              </a:rPr>
              <a:t>)</a:t>
            </a:r>
          </a:p>
          <a:p>
            <a:pPr marL="457200" indent="-457200">
              <a:lnSpc>
                <a:spcPct val="100000"/>
              </a:lnSpc>
              <a:buFont typeface="Arial" panose="020B0604020202020204" pitchFamily="34" charset="0"/>
              <a:buChar char="•"/>
            </a:pPr>
            <a:endParaRPr lang="en-US" sz="2400" spc="-1" dirty="0" smtClean="0">
              <a:solidFill>
                <a:srgbClr val="000000"/>
              </a:solidFill>
              <a:uFill>
                <a:solidFill>
                  <a:srgbClr val="FFFFFF"/>
                </a:solidFill>
              </a:uFill>
              <a:latin typeface="Calibri"/>
            </a:endParaRPr>
          </a:p>
          <a:p>
            <a:pPr marL="457200" indent="-457200">
              <a:lnSpc>
                <a:spcPct val="100000"/>
              </a:lnSpc>
              <a:buFont typeface="Arial" panose="020B0604020202020204" pitchFamily="34" charset="0"/>
              <a:buChar char="•"/>
            </a:pPr>
            <a:r>
              <a:rPr lang="en-US" sz="2400" b="0" strike="noStrike" spc="-1" dirty="0" smtClean="0">
                <a:solidFill>
                  <a:srgbClr val="000000"/>
                </a:solidFill>
                <a:uFill>
                  <a:solidFill>
                    <a:srgbClr val="FFFFFF"/>
                  </a:solidFill>
                </a:uFill>
                <a:latin typeface="Calibri"/>
              </a:rPr>
              <a:t>Action modules must determine (based on whether their status is </a:t>
            </a:r>
            <a:r>
              <a:rPr lang="en-US" sz="2400" b="0" i="1" strike="noStrike" spc="-1" dirty="0" smtClean="0">
                <a:solidFill>
                  <a:srgbClr val="000000"/>
                </a:solidFill>
                <a:uFill>
                  <a:solidFill>
                    <a:srgbClr val="FFFFFF"/>
                  </a:solidFill>
                </a:uFill>
                <a:latin typeface="Calibri"/>
              </a:rPr>
              <a:t>doing, assigning, or shuffling</a:t>
            </a:r>
            <a:r>
              <a:rPr lang="en-US" sz="2400" b="0" strike="noStrike" spc="-1" dirty="0" smtClean="0">
                <a:solidFill>
                  <a:srgbClr val="000000"/>
                </a:solidFill>
                <a:uFill>
                  <a:solidFill>
                    <a:srgbClr val="FFFFFF"/>
                  </a:solidFill>
                </a:uFill>
                <a:latin typeface="Calibri"/>
              </a:rPr>
              <a:t>) if their state is set to </a:t>
            </a:r>
            <a:r>
              <a:rPr lang="en-US" sz="2400" b="0" i="1" strike="noStrike" spc="-1" dirty="0" smtClean="0">
                <a:solidFill>
                  <a:srgbClr val="000000"/>
                </a:solidFill>
                <a:uFill>
                  <a:solidFill>
                    <a:srgbClr val="FFFFFF"/>
                  </a:solidFill>
                </a:uFill>
                <a:latin typeface="Calibri"/>
              </a:rPr>
              <a:t>active</a:t>
            </a:r>
            <a:r>
              <a:rPr lang="en-US" sz="2400" b="0" strike="noStrike" spc="-1" dirty="0" smtClean="0">
                <a:solidFill>
                  <a:srgbClr val="000000"/>
                </a:solidFill>
                <a:uFill>
                  <a:solidFill>
                    <a:srgbClr val="FFFFFF"/>
                  </a:solidFill>
                </a:uFill>
                <a:latin typeface="Calibri"/>
              </a:rPr>
              <a:t>, </a:t>
            </a:r>
            <a:r>
              <a:rPr lang="en-US" sz="2400" b="0" i="1" strike="noStrike" spc="-1" dirty="0" smtClean="0">
                <a:solidFill>
                  <a:srgbClr val="000000"/>
                </a:solidFill>
                <a:uFill>
                  <a:solidFill>
                    <a:srgbClr val="FFFFFF"/>
                  </a:solidFill>
                </a:uFill>
                <a:latin typeface="Calibri"/>
              </a:rPr>
              <a:t>interrupted</a:t>
            </a:r>
            <a:r>
              <a:rPr lang="en-US" sz="2400" b="0" strike="noStrike" spc="-1" dirty="0" smtClean="0">
                <a:solidFill>
                  <a:srgbClr val="000000"/>
                </a:solidFill>
                <a:uFill>
                  <a:solidFill>
                    <a:srgbClr val="FFFFFF"/>
                  </a:solidFill>
                </a:uFill>
                <a:latin typeface="Calibri"/>
              </a:rPr>
              <a:t>, or </a:t>
            </a:r>
            <a:r>
              <a:rPr lang="en-US" sz="2400" b="0" i="1" strike="noStrike" spc="-1" dirty="0" smtClean="0">
                <a:solidFill>
                  <a:srgbClr val="000000"/>
                </a:solidFill>
                <a:uFill>
                  <a:solidFill>
                    <a:srgbClr val="FFFFFF"/>
                  </a:solidFill>
                </a:uFill>
                <a:latin typeface="Calibri"/>
              </a:rPr>
              <a:t>delayed</a:t>
            </a:r>
            <a:r>
              <a:rPr lang="en-US" sz="2400" b="0" strike="noStrike" spc="-1" dirty="0" smtClean="0">
                <a:solidFill>
                  <a:srgbClr val="000000"/>
                </a:solidFill>
                <a:uFill>
                  <a:solidFill>
                    <a:srgbClr val="FFFFFF"/>
                  </a:solidFill>
                </a:uFill>
                <a:latin typeface="Calibri"/>
              </a:rPr>
              <a:t>. </a:t>
            </a:r>
          </a:p>
          <a:p>
            <a:pPr>
              <a:lnSpc>
                <a:spcPct val="100000"/>
              </a:lnSpc>
            </a:pPr>
            <a:endParaRPr lang="en-US" sz="2400" b="0" strike="noStrike" spc="-1" dirty="0" smtClean="0">
              <a:solidFill>
                <a:srgbClr val="000000"/>
              </a:solidFill>
              <a:uFill>
                <a:solidFill>
                  <a:srgbClr val="FFFFFF"/>
                </a:solidFill>
              </a:uFill>
              <a:latin typeface="Calibri"/>
            </a:endParaRPr>
          </a:p>
          <a:p>
            <a:pPr marL="457200" indent="-457200">
              <a:lnSpc>
                <a:spcPct val="100000"/>
              </a:lnSpc>
              <a:buFont typeface="Arial" panose="020B0604020202020204" pitchFamily="34" charset="0"/>
              <a:buChar char="•"/>
            </a:pPr>
            <a:r>
              <a:rPr lang="en-US" sz="2400" spc="-1" dirty="0" smtClean="0">
                <a:solidFill>
                  <a:srgbClr val="000000"/>
                </a:solidFill>
                <a:uFill>
                  <a:solidFill>
                    <a:srgbClr val="FFFFFF"/>
                  </a:solidFill>
                </a:uFill>
                <a:latin typeface="Calibri"/>
              </a:rPr>
              <a:t>This must be computed for each simulation tick, maintained in memory, then manipulated and stored in memory during the following tick.</a:t>
            </a:r>
            <a:endParaRPr lang="en-US" sz="2400" b="0" strike="noStrike" spc="-1" dirty="0">
              <a:solidFill>
                <a:srgbClr val="000000"/>
              </a:solidFill>
              <a:uFill>
                <a:solidFill>
                  <a:srgbClr val="FFFFFF"/>
                </a:solidFill>
              </a:uFill>
              <a:latin typeface="Calibri"/>
            </a:endParaRPr>
          </a:p>
          <a:p>
            <a:pPr>
              <a:lnSpc>
                <a:spcPct val="100000"/>
              </a:lnSpc>
            </a:pPr>
            <a:endParaRPr lang="en-US" sz="2800" b="0" strike="noStrike" spc="-1" dirty="0">
              <a:solidFill>
                <a:srgbClr val="000000"/>
              </a:solidFill>
              <a:uFill>
                <a:solidFill>
                  <a:srgbClr val="FFFFFF"/>
                </a:solidFill>
              </a:uFill>
              <a:latin typeface="Calibri"/>
            </a:endParaRPr>
          </a:p>
          <a:p>
            <a:pPr>
              <a:lnSpc>
                <a:spcPct val="100000"/>
              </a:lnSpc>
            </a:pPr>
            <a:endParaRPr lang="en-US" sz="2800" b="0" strike="noStrike" spc="-1" dirty="0">
              <a:solidFill>
                <a:srgbClr val="000000"/>
              </a:solidFill>
              <a:uFill>
                <a:solidFill>
                  <a:srgbClr val="FFFFFF"/>
                </a:solidFill>
              </a:uFill>
              <a:latin typeface="Calibri"/>
            </a:endParaRPr>
          </a:p>
        </p:txBody>
      </p:sp>
      <p:sp>
        <p:nvSpPr>
          <p:cNvPr id="82" name="CustomShape 3"/>
          <p:cNvSpPr/>
          <p:nvPr/>
        </p:nvSpPr>
        <p:spPr>
          <a:xfrm>
            <a:off x="867388" y="2819400"/>
            <a:ext cx="4935960" cy="32071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b="0" strike="noStrike" spc="-1" dirty="0">
              <a:solidFill>
                <a:srgbClr val="000000"/>
              </a:solidFill>
              <a:uFill>
                <a:solidFill>
                  <a:srgbClr val="FFFFFF"/>
                </a:solidFill>
              </a:uFill>
              <a:latin typeface="Arial"/>
            </a:endParaRPr>
          </a:p>
        </p:txBody>
      </p:sp>
    </p:spTree>
    <p:extLst>
      <p:ext uri="{BB962C8B-B14F-4D97-AF65-F5344CB8AC3E}">
        <p14:creationId xmlns:p14="http://schemas.microsoft.com/office/powerpoint/2010/main" val="29105779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0"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dirty="0" smtClean="0">
                    <a:solidFill>
                      <a:srgbClr val="000000"/>
                    </a:solidFill>
                    <a:uFill>
                      <a:solidFill>
                        <a:srgbClr val="FFFFFF"/>
                      </a:solidFill>
                    </a:uFill>
                    <a:latin typeface="Calibri Light"/>
                  </a:rPr>
                  <a:t>Solution: using </a:t>
                </a:r>
                <a14:m>
                  <m:oMath xmlns:m="http://schemas.openxmlformats.org/officeDocument/2006/math">
                    <m:r>
                      <a:rPr lang="el-GR" sz="4400" b="1" i="1" spc="-1" dirty="0">
                        <a:solidFill>
                          <a:srgbClr val="000000"/>
                        </a:solidFill>
                        <a:uFill>
                          <a:solidFill>
                            <a:srgbClr val="FFFFFF"/>
                          </a:solidFill>
                        </a:uFill>
                        <a:latin typeface="Cambria Math"/>
                      </a:rPr>
                      <m:t>𝝀</m:t>
                    </m:r>
                  </m:oMath>
                </a14:m>
                <a:r>
                  <a:rPr lang="en-US" sz="4400" b="1" spc="-1" dirty="0">
                    <a:solidFill>
                      <a:srgbClr val="000000"/>
                    </a:solidFill>
                    <a:uFill>
                      <a:solidFill>
                        <a:srgbClr val="FFFFFF"/>
                      </a:solidFill>
                    </a:uFill>
                    <a:latin typeface="Calibri Light"/>
                  </a:rPr>
                  <a:t>-</a:t>
                </a:r>
                <a:r>
                  <a:rPr lang="en-US" sz="4400" b="1" spc="-1" dirty="0" smtClean="0">
                    <a:solidFill>
                      <a:srgbClr val="000000"/>
                    </a:solidFill>
                    <a:uFill>
                      <a:solidFill>
                        <a:srgbClr val="FFFFFF"/>
                      </a:solidFill>
                    </a:uFill>
                    <a:latin typeface="Calibri Light"/>
                  </a:rPr>
                  <a:t>calculus sets with queues</a:t>
                </a:r>
                <a:endParaRPr lang="en-US" sz="1800" b="1" strike="noStrike" spc="-1" dirty="0">
                  <a:solidFill>
                    <a:srgbClr val="000000"/>
                  </a:solidFill>
                  <a:uFill>
                    <a:solidFill>
                      <a:srgbClr val="FFFFFF"/>
                    </a:solidFill>
                  </a:uFill>
                  <a:latin typeface="Calibri"/>
                </a:endParaRPr>
              </a:p>
            </p:txBody>
          </p:sp>
        </mc:Choice>
        <mc:Fallback xmlns="">
          <p:sp>
            <p:nvSpPr>
              <p:cNvPr id="80" name="TextShape 1"/>
              <p:cNvSpPr txBox="1">
                <a:spLocks noRot="1" noChangeAspect="1" noMove="1" noResize="1" noEditPoints="1" noAdjustHandles="1" noChangeArrowheads="1" noChangeShapeType="1" noTextEdit="1"/>
              </p:cNvSpPr>
              <p:nvPr/>
            </p:nvSpPr>
            <p:spPr>
              <a:xfrm>
                <a:off x="838080" y="365040"/>
                <a:ext cx="10515240" cy="1325160"/>
              </a:xfrm>
              <a:prstGeom prst="rect">
                <a:avLst/>
              </a:prstGeom>
              <a:blipFill rotWithShape="1">
                <a:blip r:embed="rId3"/>
                <a:stretch>
                  <a:fillRect l="-2319"/>
                </a:stretch>
              </a:blipFill>
              <a:ln>
                <a:noFill/>
              </a:ln>
            </p:spPr>
            <p:txBody>
              <a:bodyPr/>
              <a:lstStyle/>
              <a:p>
                <a:r>
                  <a:rPr lang="en-US">
                    <a:noFill/>
                  </a:rPr>
                  <a:t> </a:t>
                </a:r>
              </a:p>
            </p:txBody>
          </p:sp>
        </mc:Fallback>
      </mc:AlternateContent>
      <p:sp>
        <p:nvSpPr>
          <p:cNvPr id="81" name="TextShape 2"/>
          <p:cNvSpPr txBox="1"/>
          <p:nvPr/>
        </p:nvSpPr>
        <p:spPr>
          <a:xfrm>
            <a:off x="838080" y="1524000"/>
            <a:ext cx="10515240" cy="4953000"/>
          </a:xfrm>
          <a:prstGeom prst="rect">
            <a:avLst/>
          </a:prstGeom>
          <a:noFill/>
          <a:ln>
            <a:noFill/>
          </a:ln>
        </p:spPr>
        <p:txBody>
          <a:bodyPr/>
          <a:lstStyle/>
          <a:p>
            <a:pPr>
              <a:lnSpc>
                <a:spcPct val="100000"/>
              </a:lnSpc>
            </a:pPr>
            <a:r>
              <a:rPr lang="en-US" sz="2800" b="0" i="1" strike="noStrike" spc="-1" dirty="0" smtClean="0">
                <a:solidFill>
                  <a:srgbClr val="000000"/>
                </a:solidFill>
                <a:uFill>
                  <a:solidFill>
                    <a:srgbClr val="FFFFFF"/>
                  </a:solidFill>
                </a:uFill>
                <a:latin typeface="Calibri"/>
              </a:rPr>
              <a:t>Much</a:t>
            </a:r>
            <a:r>
              <a:rPr lang="en-US" sz="2800" b="0" strike="noStrike" spc="-1" dirty="0" smtClean="0">
                <a:solidFill>
                  <a:srgbClr val="000000"/>
                </a:solidFill>
                <a:uFill>
                  <a:solidFill>
                    <a:srgbClr val="FFFFFF"/>
                  </a:solidFill>
                </a:uFill>
                <a:latin typeface="Calibri"/>
              </a:rPr>
              <a:t> more efficient way to handle complex operations.</a:t>
            </a:r>
          </a:p>
          <a:p>
            <a:pPr>
              <a:lnSpc>
                <a:spcPct val="100000"/>
              </a:lnSpc>
            </a:pPr>
            <a:endParaRPr lang="en-US" sz="2800" spc="-1" dirty="0">
              <a:solidFill>
                <a:srgbClr val="000000"/>
              </a:solidFill>
              <a:uFill>
                <a:solidFill>
                  <a:srgbClr val="FFFFFF"/>
                </a:solidFill>
              </a:uFill>
              <a:latin typeface="Calibri"/>
            </a:endParaRPr>
          </a:p>
          <a:p>
            <a:pPr>
              <a:lnSpc>
                <a:spcPct val="100000"/>
              </a:lnSpc>
            </a:pPr>
            <a:r>
              <a:rPr lang="en-US" sz="2800" b="0" strike="noStrike" spc="-1" dirty="0" smtClean="0">
                <a:solidFill>
                  <a:srgbClr val="000000"/>
                </a:solidFill>
                <a:uFill>
                  <a:solidFill>
                    <a:srgbClr val="FFFFFF"/>
                  </a:solidFill>
                </a:uFill>
                <a:latin typeface="Calibri"/>
              </a:rPr>
              <a:t>Maps elements to Boolean values:</a:t>
            </a:r>
          </a:p>
          <a:p>
            <a:pPr marL="457200" indent="-457200">
              <a:lnSpc>
                <a:spcPct val="100000"/>
              </a:lnSpc>
              <a:buFont typeface="Arial" panose="020B0604020202020204" pitchFamily="34" charset="0"/>
              <a:buChar char="•"/>
            </a:pPr>
            <a:r>
              <a:rPr lang="en-US" sz="2800" spc="-1" dirty="0" smtClean="0">
                <a:solidFill>
                  <a:srgbClr val="000000"/>
                </a:solidFill>
                <a:uFill>
                  <a:solidFill>
                    <a:srgbClr val="FFFFFF"/>
                  </a:solidFill>
                </a:uFill>
                <a:latin typeface="Calibri"/>
              </a:rPr>
              <a:t>True = in the set</a:t>
            </a:r>
          </a:p>
          <a:p>
            <a:pPr marL="457200" indent="-457200">
              <a:lnSpc>
                <a:spcPct val="100000"/>
              </a:lnSpc>
              <a:buFont typeface="Arial" panose="020B0604020202020204" pitchFamily="34" charset="0"/>
              <a:buChar char="•"/>
            </a:pPr>
            <a:r>
              <a:rPr lang="en-US" sz="2800" b="0" strike="noStrike" spc="-1" dirty="0" smtClean="0">
                <a:solidFill>
                  <a:srgbClr val="000000"/>
                </a:solidFill>
                <a:uFill>
                  <a:solidFill>
                    <a:srgbClr val="FFFFFF"/>
                  </a:solidFill>
                </a:uFill>
                <a:latin typeface="Calibri"/>
              </a:rPr>
              <a:t>False = not in the set</a:t>
            </a:r>
          </a:p>
          <a:p>
            <a:pPr>
              <a:lnSpc>
                <a:spcPct val="100000"/>
              </a:lnSpc>
            </a:pPr>
            <a:endParaRPr lang="en-US" sz="2800" spc="-1" dirty="0">
              <a:solidFill>
                <a:srgbClr val="000000"/>
              </a:solidFill>
              <a:uFill>
                <a:solidFill>
                  <a:srgbClr val="FFFFFF"/>
                </a:solidFill>
              </a:uFill>
              <a:latin typeface="Calibri"/>
            </a:endParaRPr>
          </a:p>
          <a:p>
            <a:pPr>
              <a:lnSpc>
                <a:spcPct val="100000"/>
              </a:lnSpc>
            </a:pPr>
            <a:r>
              <a:rPr lang="en-US" sz="2800" b="0" strike="noStrike" spc="-1" dirty="0" smtClean="0">
                <a:solidFill>
                  <a:srgbClr val="000000"/>
                </a:solidFill>
                <a:uFill>
                  <a:solidFill>
                    <a:srgbClr val="FFFFFF"/>
                  </a:solidFill>
                </a:uFill>
                <a:latin typeface="Calibri"/>
              </a:rPr>
              <a:t>Efficiency improvement results from set mapping: </a:t>
            </a:r>
            <a:r>
              <a:rPr lang="en-US" sz="2800" spc="-1" dirty="0" smtClean="0">
                <a:solidFill>
                  <a:srgbClr val="000000"/>
                </a:solidFill>
                <a:uFill>
                  <a:solidFill>
                    <a:srgbClr val="FFFFFF"/>
                  </a:solidFill>
                </a:uFill>
                <a:latin typeface="Calibri"/>
              </a:rPr>
              <a:t>concern is now about set membership, rather than computing arrays or manipulating array data.</a:t>
            </a:r>
            <a:endParaRPr lang="en-US" sz="2800" b="0" strike="noStrike" spc="-1" dirty="0">
              <a:solidFill>
                <a:srgbClr val="000000"/>
              </a:solidFill>
              <a:uFill>
                <a:solidFill>
                  <a:srgbClr val="FFFFFF"/>
                </a:solidFill>
              </a:uFill>
              <a:latin typeface="Calibri"/>
            </a:endParaRPr>
          </a:p>
          <a:p>
            <a:pPr>
              <a:lnSpc>
                <a:spcPct val="100000"/>
              </a:lnSpc>
            </a:pPr>
            <a:endParaRPr lang="en-US" sz="2800" b="0" strike="noStrike" spc="-1" dirty="0">
              <a:solidFill>
                <a:srgbClr val="000000"/>
              </a:solidFill>
              <a:uFill>
                <a:solidFill>
                  <a:srgbClr val="FFFFFF"/>
                </a:solidFill>
              </a:uFill>
              <a:latin typeface="Calibri"/>
            </a:endParaRPr>
          </a:p>
        </p:txBody>
      </p:sp>
      <p:sp>
        <p:nvSpPr>
          <p:cNvPr id="82" name="CustomShape 3"/>
          <p:cNvSpPr/>
          <p:nvPr/>
        </p:nvSpPr>
        <p:spPr>
          <a:xfrm>
            <a:off x="867388" y="2819400"/>
            <a:ext cx="4935960" cy="32071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b="0" strike="noStrike" spc="-1" dirty="0">
              <a:solidFill>
                <a:srgbClr val="000000"/>
              </a:solidFill>
              <a:uFill>
                <a:solidFill>
                  <a:srgbClr val="FFFFFF"/>
                </a:solidFill>
              </a:uFill>
              <a:latin typeface="Arial"/>
            </a:endParaRPr>
          </a:p>
        </p:txBody>
      </p:sp>
    </p:spTree>
    <p:extLst>
      <p:ext uri="{BB962C8B-B14F-4D97-AF65-F5344CB8AC3E}">
        <p14:creationId xmlns:p14="http://schemas.microsoft.com/office/powerpoint/2010/main" val="32470559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dirty="0" smtClean="0">
                <a:solidFill>
                  <a:srgbClr val="000000"/>
                </a:solidFill>
                <a:uFill>
                  <a:solidFill>
                    <a:srgbClr val="FFFFFF"/>
                  </a:solidFill>
                </a:uFill>
                <a:latin typeface="Calibri Light"/>
              </a:rPr>
              <a:t>Formal model</a:t>
            </a:r>
            <a:endParaRPr lang="en-US" sz="1800" b="1" strike="noStrike" spc="-1" dirty="0">
              <a:solidFill>
                <a:srgbClr val="000000"/>
              </a:solidFill>
              <a:uFill>
                <a:solidFill>
                  <a:srgbClr val="FFFFFF"/>
                </a:solidFill>
              </a:uFill>
              <a:latin typeface="Calibri"/>
            </a:endParaRPr>
          </a:p>
        </p:txBody>
      </p:sp>
      <p:sp>
        <p:nvSpPr>
          <p:cNvPr id="81" name="TextShape 2"/>
          <p:cNvSpPr txBox="1"/>
          <p:nvPr/>
        </p:nvSpPr>
        <p:spPr>
          <a:xfrm>
            <a:off x="838080" y="1524000"/>
            <a:ext cx="10515240" cy="4350960"/>
          </a:xfrm>
          <a:prstGeom prst="rect">
            <a:avLst/>
          </a:prstGeom>
          <a:noFill/>
          <a:ln>
            <a:noFill/>
          </a:ln>
        </p:spPr>
        <p:txBody>
          <a:bodyPr/>
          <a:lstStyle/>
          <a:p>
            <a:pPr>
              <a:lnSpc>
                <a:spcPct val="100000"/>
              </a:lnSpc>
            </a:pPr>
            <a:r>
              <a:rPr lang="en-US" sz="2400" b="0" strike="noStrike" spc="-1" dirty="0" smtClean="0">
                <a:solidFill>
                  <a:srgbClr val="000000"/>
                </a:solidFill>
                <a:uFill>
                  <a:solidFill>
                    <a:srgbClr val="FFFFFF"/>
                  </a:solidFill>
                </a:uFill>
                <a:latin typeface="Calibri"/>
              </a:rPr>
              <a:t>This is the formal model architecture used in our evaluation.</a:t>
            </a:r>
            <a:endParaRPr lang="en-US" sz="2400" b="0" strike="noStrike" spc="-1" dirty="0">
              <a:solidFill>
                <a:srgbClr val="000000"/>
              </a:solidFill>
              <a:uFill>
                <a:solidFill>
                  <a:srgbClr val="FFFFFF"/>
                </a:solidFill>
              </a:uFill>
              <a:latin typeface="Calibri"/>
            </a:endParaRPr>
          </a:p>
          <a:p>
            <a:pPr>
              <a:lnSpc>
                <a:spcPct val="100000"/>
              </a:lnSpc>
            </a:pPr>
            <a:endParaRPr lang="en-US" sz="2800" b="0" strike="noStrike" spc="-1" dirty="0">
              <a:solidFill>
                <a:srgbClr val="000000"/>
              </a:solidFill>
              <a:uFill>
                <a:solidFill>
                  <a:srgbClr val="FFFFFF"/>
                </a:solidFill>
              </a:uFill>
              <a:latin typeface="Calibri"/>
            </a:endParaRPr>
          </a:p>
          <a:p>
            <a:pPr>
              <a:lnSpc>
                <a:spcPct val="100000"/>
              </a:lnSpc>
            </a:pPr>
            <a:endParaRPr lang="en-US" sz="2800" b="0" strike="noStrike" spc="-1" dirty="0">
              <a:solidFill>
                <a:srgbClr val="000000"/>
              </a:solidFill>
              <a:uFill>
                <a:solidFill>
                  <a:srgbClr val="FFFFFF"/>
                </a:solidFill>
              </a:uFill>
              <a:latin typeface="Calibri"/>
            </a:endParaRPr>
          </a:p>
        </p:txBody>
      </p:sp>
      <p:sp>
        <p:nvSpPr>
          <p:cNvPr id="82" name="CustomShape 3"/>
          <p:cNvSpPr/>
          <p:nvPr/>
        </p:nvSpPr>
        <p:spPr>
          <a:xfrm>
            <a:off x="867388" y="2819400"/>
            <a:ext cx="4935960" cy="32071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b="0" strike="noStrike" spc="-1" dirty="0">
              <a:solidFill>
                <a:srgbClr val="000000"/>
              </a:solidFill>
              <a:uFill>
                <a:solidFill>
                  <a:srgbClr val="FFFFFF"/>
                </a:solidFill>
              </a:uFill>
              <a:latin typeface="Arial"/>
            </a:endParaRPr>
          </a:p>
        </p:txBody>
      </p:sp>
      <p:sp>
        <p:nvSpPr>
          <p:cNvPr id="6" name="Rounded Rectangle 5"/>
          <p:cNvSpPr/>
          <p:nvPr/>
        </p:nvSpPr>
        <p:spPr>
          <a:xfrm>
            <a:off x="2819400" y="2558720"/>
            <a:ext cx="14478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t" anchorCtr="0"/>
          <a:lstStyle/>
          <a:p>
            <a:pPr algn="ctr"/>
            <a:r>
              <a:rPr lang="en-US" dirty="0" smtClean="0"/>
              <a:t>Actions</a:t>
            </a:r>
            <a:endParaRPr lang="en-US" dirty="0"/>
          </a:p>
        </p:txBody>
      </p:sp>
      <p:sp>
        <p:nvSpPr>
          <p:cNvPr id="7" name="Rounded Rectangle 6"/>
          <p:cNvSpPr/>
          <p:nvPr/>
        </p:nvSpPr>
        <p:spPr>
          <a:xfrm>
            <a:off x="5410200" y="4954256"/>
            <a:ext cx="14478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t" anchorCtr="0"/>
          <a:lstStyle/>
          <a:p>
            <a:pPr algn="ctr"/>
            <a:r>
              <a:rPr lang="en-US" dirty="0" smtClean="0"/>
              <a:t>Agents</a:t>
            </a:r>
            <a:endParaRPr lang="en-US" dirty="0"/>
          </a:p>
        </p:txBody>
      </p:sp>
      <p:sp>
        <p:nvSpPr>
          <p:cNvPr id="8" name="Rounded Rectangle 7"/>
          <p:cNvSpPr/>
          <p:nvPr/>
        </p:nvSpPr>
        <p:spPr>
          <a:xfrm>
            <a:off x="8077200" y="2558719"/>
            <a:ext cx="14478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Scheduler</a:t>
            </a:r>
            <a:endParaRPr lang="en-US" dirty="0"/>
          </a:p>
        </p:txBody>
      </p:sp>
      <p:grpSp>
        <p:nvGrpSpPr>
          <p:cNvPr id="9" name="Group 8"/>
          <p:cNvGrpSpPr/>
          <p:nvPr/>
        </p:nvGrpSpPr>
        <p:grpSpPr>
          <a:xfrm>
            <a:off x="2971675" y="3039671"/>
            <a:ext cx="1143250" cy="764476"/>
            <a:chOff x="3048000" y="2247899"/>
            <a:chExt cx="1143250" cy="764476"/>
          </a:xfrm>
        </p:grpSpPr>
        <p:sp>
          <p:nvSpPr>
            <p:cNvPr id="10" name="Rounded Rectangle 9"/>
            <p:cNvSpPr/>
            <p:nvPr/>
          </p:nvSpPr>
          <p:spPr>
            <a:xfrm>
              <a:off x="3048000" y="2247899"/>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1" name="Rounded Rectangle 10"/>
            <p:cNvSpPr/>
            <p:nvPr/>
          </p:nvSpPr>
          <p:spPr>
            <a:xfrm>
              <a:off x="3184663" y="235032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2" name="Rounded Rectangle 11"/>
            <p:cNvSpPr/>
            <p:nvPr/>
          </p:nvSpPr>
          <p:spPr>
            <a:xfrm>
              <a:off x="3313563" y="247897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Action</a:t>
              </a:r>
              <a:endParaRPr lang="en-US" dirty="0"/>
            </a:p>
          </p:txBody>
        </p:sp>
      </p:grpSp>
      <p:grpSp>
        <p:nvGrpSpPr>
          <p:cNvPr id="13" name="Group 12"/>
          <p:cNvGrpSpPr/>
          <p:nvPr/>
        </p:nvGrpSpPr>
        <p:grpSpPr>
          <a:xfrm>
            <a:off x="5558195" y="5485181"/>
            <a:ext cx="1143250" cy="764476"/>
            <a:chOff x="3048000" y="2247899"/>
            <a:chExt cx="1143250" cy="764476"/>
          </a:xfrm>
        </p:grpSpPr>
        <p:sp>
          <p:nvSpPr>
            <p:cNvPr id="14" name="Rounded Rectangle 13"/>
            <p:cNvSpPr/>
            <p:nvPr/>
          </p:nvSpPr>
          <p:spPr>
            <a:xfrm>
              <a:off x="3048000" y="2247899"/>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5" name="Rounded Rectangle 14"/>
            <p:cNvSpPr/>
            <p:nvPr/>
          </p:nvSpPr>
          <p:spPr>
            <a:xfrm>
              <a:off x="3184663" y="235032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6" name="Rounded Rectangle 15"/>
            <p:cNvSpPr/>
            <p:nvPr/>
          </p:nvSpPr>
          <p:spPr>
            <a:xfrm>
              <a:off x="3313563" y="247897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Agent</a:t>
              </a:r>
              <a:endParaRPr lang="en-US" dirty="0"/>
            </a:p>
          </p:txBody>
        </p:sp>
      </p:grpSp>
      <p:cxnSp>
        <p:nvCxnSpPr>
          <p:cNvPr id="17" name="Straight Arrow Connector 16"/>
          <p:cNvCxnSpPr/>
          <p:nvPr/>
        </p:nvCxnSpPr>
        <p:spPr>
          <a:xfrm flipH="1">
            <a:off x="4267199" y="2794432"/>
            <a:ext cx="3810001" cy="53"/>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18" name="Straight Arrow Connector 17"/>
          <p:cNvCxnSpPr/>
          <p:nvPr/>
        </p:nvCxnSpPr>
        <p:spPr>
          <a:xfrm flipH="1">
            <a:off x="4267199" y="3265857"/>
            <a:ext cx="3810001" cy="32"/>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19" name="Straight Arrow Connector 18"/>
          <p:cNvCxnSpPr/>
          <p:nvPr/>
        </p:nvCxnSpPr>
        <p:spPr>
          <a:xfrm flipH="1">
            <a:off x="4267199" y="3737408"/>
            <a:ext cx="3810001" cy="10"/>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20" name="Curved Connector 19"/>
          <p:cNvCxnSpPr/>
          <p:nvPr/>
        </p:nvCxnSpPr>
        <p:spPr>
          <a:xfrm rot="10800000">
            <a:off x="3905202" y="3973185"/>
            <a:ext cx="1504999" cy="1334756"/>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21" name="Curved Connector 20"/>
          <p:cNvCxnSpPr/>
          <p:nvPr/>
        </p:nvCxnSpPr>
        <p:spPr>
          <a:xfrm rot="16200000" flipH="1">
            <a:off x="3274859" y="3879722"/>
            <a:ext cx="2041878" cy="2228803"/>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22" name="Curved Connector 21"/>
          <p:cNvCxnSpPr>
            <a:endCxn id="7" idx="3"/>
          </p:cNvCxnSpPr>
          <p:nvPr/>
        </p:nvCxnSpPr>
        <p:spPr>
          <a:xfrm rot="10800000" flipV="1">
            <a:off x="6858000" y="3737408"/>
            <a:ext cx="1219200" cy="1924080"/>
          </a:xfrm>
          <a:prstGeom prst="curvedConnector3">
            <a:avLst>
              <a:gd name="adj1" fmla="val 50000"/>
            </a:avLst>
          </a:prstGeom>
          <a:ln>
            <a:tailEnd type="stealth" w="lg" len="lg"/>
          </a:ln>
        </p:spPr>
        <p:style>
          <a:lnRef idx="1">
            <a:schemeClr val="dk1"/>
          </a:lnRef>
          <a:fillRef idx="2">
            <a:schemeClr val="dk1"/>
          </a:fillRef>
          <a:effectRef idx="1">
            <a:schemeClr val="dk1"/>
          </a:effectRef>
          <a:fontRef idx="minor">
            <a:schemeClr val="dk1"/>
          </a:fontRef>
        </p:style>
      </p:cxnSp>
      <p:cxnSp>
        <p:nvCxnSpPr>
          <p:cNvPr id="23" name="Curved Connector 22"/>
          <p:cNvCxnSpPr/>
          <p:nvPr/>
        </p:nvCxnSpPr>
        <p:spPr>
          <a:xfrm rot="16200000" flipH="1">
            <a:off x="3302203" y="3852378"/>
            <a:ext cx="2672990" cy="2914603"/>
          </a:xfrm>
          <a:prstGeom prst="curvedConnector2">
            <a:avLst/>
          </a:prstGeom>
          <a:ln>
            <a:headEnd type="none" w="med" len="med"/>
            <a:tailEnd type="none" w="med" len="med"/>
          </a:ln>
        </p:spPr>
        <p:style>
          <a:lnRef idx="1">
            <a:schemeClr val="dk1"/>
          </a:lnRef>
          <a:fillRef idx="2">
            <a:schemeClr val="dk1"/>
          </a:fillRef>
          <a:effectRef idx="1">
            <a:schemeClr val="dk1"/>
          </a:effectRef>
          <a:fontRef idx="minor">
            <a:schemeClr val="dk1"/>
          </a:fontRef>
        </p:style>
      </p:cxnSp>
      <p:cxnSp>
        <p:nvCxnSpPr>
          <p:cNvPr id="24" name="Curved Connector 23"/>
          <p:cNvCxnSpPr>
            <a:endCxn id="8" idx="2"/>
          </p:cNvCxnSpPr>
          <p:nvPr/>
        </p:nvCxnSpPr>
        <p:spPr>
          <a:xfrm flipV="1">
            <a:off x="6141719" y="3973182"/>
            <a:ext cx="2659381" cy="2672993"/>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25" name="Straight Arrow Connector 24"/>
          <p:cNvCxnSpPr/>
          <p:nvPr/>
        </p:nvCxnSpPr>
        <p:spPr>
          <a:xfrm>
            <a:off x="6083101" y="6648119"/>
            <a:ext cx="76399" cy="0"/>
          </a:xfrm>
          <a:prstGeom prst="straightConnector1">
            <a:avLst/>
          </a:prstGeom>
          <a:solidFill>
            <a:schemeClr val="bg1">
              <a:lumMod val="95000"/>
            </a:schemeClr>
          </a:solidFill>
          <a:ln>
            <a:headEnd type="none" w="med" len="med"/>
            <a:tailEnd type="none" w="med" len="med"/>
          </a:ln>
        </p:spPr>
        <p:style>
          <a:lnRef idx="1">
            <a:schemeClr val="dk1"/>
          </a:lnRef>
          <a:fillRef idx="2">
            <a:schemeClr val="dk1"/>
          </a:fillRef>
          <a:effectRef idx="1">
            <a:schemeClr val="dk1"/>
          </a:effectRef>
          <a:fontRef idx="minor">
            <a:schemeClr val="dk1"/>
          </a:fontRef>
        </p:style>
      </p:cxnSp>
      <p:sp>
        <p:nvSpPr>
          <p:cNvPr id="26" name="Rectangle 25"/>
          <p:cNvSpPr/>
          <p:nvPr/>
        </p:nvSpPr>
        <p:spPr>
          <a:xfrm>
            <a:off x="3200400" y="4948720"/>
            <a:ext cx="671659" cy="276999"/>
          </a:xfrm>
          <a:prstGeom prst="rect">
            <a:avLst/>
          </a:prstGeom>
          <a:solidFill>
            <a:schemeClr val="bg1"/>
          </a:solidFill>
          <a:effectLst>
            <a:softEdge rad="63500"/>
          </a:effectLst>
        </p:spPr>
        <p:txBody>
          <a:bodyPr wrap="none" lIns="0" tIns="0" rIns="0" bIns="0">
            <a:spAutoFit/>
          </a:bodyPr>
          <a:lstStyle/>
          <a:p>
            <a:r>
              <a:rPr lang="en-US" dirty="0" smtClean="0"/>
              <a:t>actions</a:t>
            </a:r>
            <a:endParaRPr lang="en-US" dirty="0"/>
          </a:p>
        </p:txBody>
      </p:sp>
      <p:sp>
        <p:nvSpPr>
          <p:cNvPr id="27" name="Rectangle 26"/>
          <p:cNvSpPr/>
          <p:nvPr/>
        </p:nvSpPr>
        <p:spPr>
          <a:xfrm>
            <a:off x="3952471" y="4616119"/>
            <a:ext cx="619529" cy="276999"/>
          </a:xfrm>
          <a:prstGeom prst="rect">
            <a:avLst/>
          </a:prstGeom>
          <a:solidFill>
            <a:schemeClr val="bg1"/>
          </a:solidFill>
          <a:effectLst>
            <a:softEdge rad="63500"/>
          </a:effectLst>
        </p:spPr>
        <p:txBody>
          <a:bodyPr wrap="none" lIns="0" tIns="0" rIns="0" bIns="0">
            <a:spAutoFit/>
          </a:bodyPr>
          <a:lstStyle/>
          <a:p>
            <a:r>
              <a:rPr lang="en-US" dirty="0" smtClean="0"/>
              <a:t>agents</a:t>
            </a:r>
            <a:endParaRPr lang="en-US" dirty="0"/>
          </a:p>
        </p:txBody>
      </p:sp>
      <p:sp>
        <p:nvSpPr>
          <p:cNvPr id="28" name="Rectangle 27"/>
          <p:cNvSpPr/>
          <p:nvPr/>
        </p:nvSpPr>
        <p:spPr>
          <a:xfrm>
            <a:off x="5770964" y="2634919"/>
            <a:ext cx="743024" cy="276999"/>
          </a:xfrm>
          <a:prstGeom prst="rect">
            <a:avLst/>
          </a:prstGeom>
          <a:solidFill>
            <a:schemeClr val="bg1"/>
          </a:solidFill>
          <a:effectLst>
            <a:softEdge rad="63500"/>
          </a:effectLst>
        </p:spPr>
        <p:txBody>
          <a:bodyPr wrap="none" lIns="91440" tIns="0" rIns="91440" bIns="0">
            <a:spAutoFit/>
          </a:bodyPr>
          <a:lstStyle/>
          <a:p>
            <a:pPr algn="ctr"/>
            <a:r>
              <a:rPr lang="en-US" dirty="0" smtClean="0"/>
              <a:t>status</a:t>
            </a:r>
            <a:endParaRPr lang="en-US" dirty="0"/>
          </a:p>
        </p:txBody>
      </p:sp>
      <p:sp>
        <p:nvSpPr>
          <p:cNvPr id="29" name="Rectangle 28"/>
          <p:cNvSpPr/>
          <p:nvPr/>
        </p:nvSpPr>
        <p:spPr>
          <a:xfrm>
            <a:off x="5512278" y="3092119"/>
            <a:ext cx="1254959" cy="276999"/>
          </a:xfrm>
          <a:prstGeom prst="rect">
            <a:avLst/>
          </a:prstGeom>
          <a:solidFill>
            <a:schemeClr val="bg1"/>
          </a:solidFill>
          <a:effectLst>
            <a:softEdge rad="63500"/>
          </a:effectLst>
        </p:spPr>
        <p:txBody>
          <a:bodyPr wrap="none" lIns="91440" tIns="0" rIns="91440" bIns="0">
            <a:spAutoFit/>
          </a:bodyPr>
          <a:lstStyle/>
          <a:p>
            <a:pPr algn="ctr"/>
            <a:r>
              <a:rPr lang="en-US" dirty="0"/>
              <a:t>a</a:t>
            </a:r>
            <a:r>
              <a:rPr lang="en-US" dirty="0" smtClean="0"/>
              <a:t>ssignment</a:t>
            </a:r>
            <a:endParaRPr lang="en-US" dirty="0"/>
          </a:p>
        </p:txBody>
      </p:sp>
      <p:sp>
        <p:nvSpPr>
          <p:cNvPr id="30" name="Rectangle 29"/>
          <p:cNvSpPr/>
          <p:nvPr/>
        </p:nvSpPr>
        <p:spPr>
          <a:xfrm>
            <a:off x="5529530" y="3568494"/>
            <a:ext cx="1218603" cy="276999"/>
          </a:xfrm>
          <a:prstGeom prst="rect">
            <a:avLst/>
          </a:prstGeom>
          <a:solidFill>
            <a:schemeClr val="bg1"/>
          </a:solidFill>
          <a:effectLst>
            <a:softEdge rad="63500"/>
          </a:effectLst>
        </p:spPr>
        <p:txBody>
          <a:bodyPr wrap="none" lIns="91440" tIns="0" rIns="91440" bIns="0">
            <a:spAutoFit/>
          </a:bodyPr>
          <a:lstStyle/>
          <a:p>
            <a:pPr algn="ctr"/>
            <a:r>
              <a:rPr lang="en-US" dirty="0" err="1" smtClean="0"/>
              <a:t>globalTime</a:t>
            </a:r>
            <a:endParaRPr lang="en-US" dirty="0"/>
          </a:p>
        </p:txBody>
      </p:sp>
    </p:spTree>
    <p:extLst>
      <p:ext uri="{BB962C8B-B14F-4D97-AF65-F5344CB8AC3E}">
        <p14:creationId xmlns:p14="http://schemas.microsoft.com/office/powerpoint/2010/main" val="5227206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dirty="0" smtClean="0">
                <a:latin typeface="Calibri Light" panose="020F0302020204030204" pitchFamily="34" charset="0"/>
                <a:cs typeface="Calibri Light" panose="020F0302020204030204" pitchFamily="34" charset="0"/>
              </a:rPr>
              <a:t>Formal Model</a:t>
            </a:r>
            <a:endParaRPr lang="en-US" sz="4400" b="1" dirty="0">
              <a:latin typeface="Calibri Light" panose="020F0302020204030204" pitchFamily="34" charset="0"/>
              <a:cs typeface="Calibri Light" panose="020F0302020204030204" pitchFamily="34" charset="0"/>
            </a:endParaRPr>
          </a:p>
        </p:txBody>
      </p:sp>
      <p:sp>
        <p:nvSpPr>
          <p:cNvPr id="4" name="Rounded Rectangle 3"/>
          <p:cNvSpPr/>
          <p:nvPr/>
        </p:nvSpPr>
        <p:spPr>
          <a:xfrm>
            <a:off x="1625600" y="2057402"/>
            <a:ext cx="19304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t" anchorCtr="0"/>
          <a:lstStyle/>
          <a:p>
            <a:pPr algn="ctr"/>
            <a:r>
              <a:rPr lang="en-US" dirty="0" smtClean="0"/>
              <a:t>Actions</a:t>
            </a:r>
            <a:endParaRPr lang="en-US" dirty="0"/>
          </a:p>
        </p:txBody>
      </p:sp>
      <p:sp>
        <p:nvSpPr>
          <p:cNvPr id="6" name="Rounded Rectangle 5"/>
          <p:cNvSpPr/>
          <p:nvPr/>
        </p:nvSpPr>
        <p:spPr>
          <a:xfrm>
            <a:off x="5080000" y="4452938"/>
            <a:ext cx="19304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t" anchorCtr="0"/>
          <a:lstStyle/>
          <a:p>
            <a:pPr algn="ctr"/>
            <a:r>
              <a:rPr lang="en-US" dirty="0" smtClean="0"/>
              <a:t>Agents</a:t>
            </a:r>
            <a:endParaRPr lang="en-US" dirty="0"/>
          </a:p>
        </p:txBody>
      </p:sp>
      <p:sp>
        <p:nvSpPr>
          <p:cNvPr id="7" name="Rounded Rectangle 6"/>
          <p:cNvSpPr/>
          <p:nvPr/>
        </p:nvSpPr>
        <p:spPr>
          <a:xfrm>
            <a:off x="8636000" y="2057401"/>
            <a:ext cx="19304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Scheduler</a:t>
            </a:r>
            <a:endParaRPr lang="en-US" dirty="0"/>
          </a:p>
        </p:txBody>
      </p:sp>
      <p:grpSp>
        <p:nvGrpSpPr>
          <p:cNvPr id="5" name="Group 4"/>
          <p:cNvGrpSpPr/>
          <p:nvPr/>
        </p:nvGrpSpPr>
        <p:grpSpPr>
          <a:xfrm>
            <a:off x="1828634" y="2538352"/>
            <a:ext cx="1524333" cy="764476"/>
            <a:chOff x="3048000" y="2247899"/>
            <a:chExt cx="1143250" cy="764476"/>
          </a:xfrm>
        </p:grpSpPr>
        <p:sp>
          <p:nvSpPr>
            <p:cNvPr id="9" name="Rounded Rectangle 8"/>
            <p:cNvSpPr/>
            <p:nvPr/>
          </p:nvSpPr>
          <p:spPr>
            <a:xfrm>
              <a:off x="3048000" y="2247899"/>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1" name="Rounded Rectangle 10"/>
            <p:cNvSpPr/>
            <p:nvPr/>
          </p:nvSpPr>
          <p:spPr>
            <a:xfrm>
              <a:off x="3184663" y="235032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2" name="Rounded Rectangle 11"/>
            <p:cNvSpPr/>
            <p:nvPr/>
          </p:nvSpPr>
          <p:spPr>
            <a:xfrm>
              <a:off x="3313563" y="247897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Action</a:t>
              </a:r>
              <a:endParaRPr lang="en-US" dirty="0"/>
            </a:p>
          </p:txBody>
        </p:sp>
      </p:grpSp>
      <p:grpSp>
        <p:nvGrpSpPr>
          <p:cNvPr id="14" name="Group 13"/>
          <p:cNvGrpSpPr/>
          <p:nvPr/>
        </p:nvGrpSpPr>
        <p:grpSpPr>
          <a:xfrm>
            <a:off x="5277327" y="4983862"/>
            <a:ext cx="1524333" cy="764476"/>
            <a:chOff x="3048000" y="2247899"/>
            <a:chExt cx="1143250" cy="764476"/>
          </a:xfrm>
        </p:grpSpPr>
        <p:sp>
          <p:nvSpPr>
            <p:cNvPr id="15" name="Rounded Rectangle 14"/>
            <p:cNvSpPr/>
            <p:nvPr/>
          </p:nvSpPr>
          <p:spPr>
            <a:xfrm>
              <a:off x="3048000" y="2247899"/>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6" name="Rounded Rectangle 15"/>
            <p:cNvSpPr/>
            <p:nvPr/>
          </p:nvSpPr>
          <p:spPr>
            <a:xfrm>
              <a:off x="3184663" y="235032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7" name="Rounded Rectangle 16"/>
            <p:cNvSpPr/>
            <p:nvPr/>
          </p:nvSpPr>
          <p:spPr>
            <a:xfrm>
              <a:off x="3313563" y="247897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Agent</a:t>
              </a:r>
              <a:endParaRPr lang="en-US" dirty="0"/>
            </a:p>
          </p:txBody>
        </p:sp>
      </p:grpSp>
      <p:cxnSp>
        <p:nvCxnSpPr>
          <p:cNvPr id="18" name="Straight Arrow Connector 17"/>
          <p:cNvCxnSpPr/>
          <p:nvPr/>
        </p:nvCxnSpPr>
        <p:spPr>
          <a:xfrm flipH="1">
            <a:off x="3556000" y="2293114"/>
            <a:ext cx="5080001" cy="53"/>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30" name="Straight Arrow Connector 29"/>
          <p:cNvCxnSpPr/>
          <p:nvPr/>
        </p:nvCxnSpPr>
        <p:spPr>
          <a:xfrm flipH="1">
            <a:off x="3556000" y="2764538"/>
            <a:ext cx="5080001" cy="32"/>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33" name="Straight Arrow Connector 32"/>
          <p:cNvCxnSpPr/>
          <p:nvPr/>
        </p:nvCxnSpPr>
        <p:spPr>
          <a:xfrm flipH="1">
            <a:off x="3556000" y="3236089"/>
            <a:ext cx="5080001" cy="10"/>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40" name="Curved Connector 39"/>
          <p:cNvCxnSpPr/>
          <p:nvPr/>
        </p:nvCxnSpPr>
        <p:spPr>
          <a:xfrm rot="10800000">
            <a:off x="3073337" y="3471866"/>
            <a:ext cx="2006665" cy="1334756"/>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46" name="Curved Connector 45"/>
          <p:cNvCxnSpPr/>
          <p:nvPr/>
        </p:nvCxnSpPr>
        <p:spPr>
          <a:xfrm rot="16200000" flipH="1">
            <a:off x="2573192" y="3006937"/>
            <a:ext cx="2041878" cy="2971737"/>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49" name="Curved Connector 48"/>
          <p:cNvCxnSpPr>
            <a:endCxn id="6" idx="3"/>
          </p:cNvCxnSpPr>
          <p:nvPr/>
        </p:nvCxnSpPr>
        <p:spPr>
          <a:xfrm rot="10800000" flipV="1">
            <a:off x="7010400" y="3236089"/>
            <a:ext cx="1625600" cy="1924080"/>
          </a:xfrm>
          <a:prstGeom prst="curvedConnector3">
            <a:avLst>
              <a:gd name="adj1" fmla="val 50000"/>
            </a:avLst>
          </a:prstGeom>
          <a:ln>
            <a:tailEnd type="stealth" w="lg" len="lg"/>
          </a:ln>
        </p:spPr>
        <p:style>
          <a:lnRef idx="1">
            <a:schemeClr val="dk1"/>
          </a:lnRef>
          <a:fillRef idx="2">
            <a:schemeClr val="dk1"/>
          </a:fillRef>
          <a:effectRef idx="1">
            <a:schemeClr val="dk1"/>
          </a:effectRef>
          <a:fontRef idx="minor">
            <a:schemeClr val="dk1"/>
          </a:fontRef>
        </p:style>
      </p:cxnSp>
      <p:cxnSp>
        <p:nvCxnSpPr>
          <p:cNvPr id="66" name="Curved Connector 65"/>
          <p:cNvCxnSpPr/>
          <p:nvPr/>
        </p:nvCxnSpPr>
        <p:spPr>
          <a:xfrm rot="16200000" flipH="1">
            <a:off x="2714836" y="2865293"/>
            <a:ext cx="2672990" cy="3886137"/>
          </a:xfrm>
          <a:prstGeom prst="curvedConnector2">
            <a:avLst/>
          </a:prstGeom>
          <a:ln>
            <a:headEnd type="none" w="med" len="med"/>
            <a:tailEnd type="none" w="med" len="med"/>
          </a:ln>
        </p:spPr>
        <p:style>
          <a:lnRef idx="1">
            <a:schemeClr val="dk1"/>
          </a:lnRef>
          <a:fillRef idx="2">
            <a:schemeClr val="dk1"/>
          </a:fillRef>
          <a:effectRef idx="1">
            <a:schemeClr val="dk1"/>
          </a:effectRef>
          <a:fontRef idx="minor">
            <a:schemeClr val="dk1"/>
          </a:fontRef>
        </p:style>
      </p:cxnSp>
      <p:cxnSp>
        <p:nvCxnSpPr>
          <p:cNvPr id="70" name="Curved Connector 69"/>
          <p:cNvCxnSpPr>
            <a:endCxn id="7" idx="2"/>
          </p:cNvCxnSpPr>
          <p:nvPr/>
        </p:nvCxnSpPr>
        <p:spPr>
          <a:xfrm flipV="1">
            <a:off x="6055360" y="3471864"/>
            <a:ext cx="3545841" cy="2672993"/>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80" name="Straight Arrow Connector 79"/>
          <p:cNvCxnSpPr/>
          <p:nvPr/>
        </p:nvCxnSpPr>
        <p:spPr>
          <a:xfrm>
            <a:off x="5977202" y="6146800"/>
            <a:ext cx="101865" cy="0"/>
          </a:xfrm>
          <a:prstGeom prst="straightConnector1">
            <a:avLst/>
          </a:prstGeom>
          <a:solidFill>
            <a:schemeClr val="bg1">
              <a:lumMod val="95000"/>
            </a:schemeClr>
          </a:solidFill>
          <a:ln>
            <a:headEnd type="none" w="med" len="med"/>
            <a:tailEnd type="none" w="med" len="med"/>
          </a:ln>
        </p:spPr>
        <p:style>
          <a:lnRef idx="1">
            <a:schemeClr val="dk1"/>
          </a:lnRef>
          <a:fillRef idx="2">
            <a:schemeClr val="dk1"/>
          </a:fillRef>
          <a:effectRef idx="1">
            <a:schemeClr val="dk1"/>
          </a:effectRef>
          <a:fontRef idx="minor">
            <a:schemeClr val="dk1"/>
          </a:fontRef>
        </p:style>
      </p:cxnSp>
      <p:sp>
        <p:nvSpPr>
          <p:cNvPr id="86" name="Rectangle 85"/>
          <p:cNvSpPr/>
          <p:nvPr/>
        </p:nvSpPr>
        <p:spPr>
          <a:xfrm>
            <a:off x="2133601" y="4447402"/>
            <a:ext cx="730969" cy="276999"/>
          </a:xfrm>
          <a:prstGeom prst="rect">
            <a:avLst/>
          </a:prstGeom>
          <a:solidFill>
            <a:schemeClr val="bg1"/>
          </a:solidFill>
          <a:effectLst>
            <a:softEdge rad="63500"/>
          </a:effectLst>
        </p:spPr>
        <p:txBody>
          <a:bodyPr wrap="none" lIns="0" tIns="0" rIns="0" bIns="0">
            <a:spAutoFit/>
          </a:bodyPr>
          <a:lstStyle/>
          <a:p>
            <a:r>
              <a:rPr lang="en-US" dirty="0" smtClean="0"/>
              <a:t>actions</a:t>
            </a:r>
            <a:endParaRPr lang="en-US" dirty="0"/>
          </a:p>
        </p:txBody>
      </p:sp>
      <p:sp>
        <p:nvSpPr>
          <p:cNvPr id="88" name="Rectangle 87"/>
          <p:cNvSpPr/>
          <p:nvPr/>
        </p:nvSpPr>
        <p:spPr>
          <a:xfrm>
            <a:off x="3136362" y="4114801"/>
            <a:ext cx="692497" cy="276999"/>
          </a:xfrm>
          <a:prstGeom prst="rect">
            <a:avLst/>
          </a:prstGeom>
          <a:solidFill>
            <a:schemeClr val="bg1"/>
          </a:solidFill>
          <a:effectLst>
            <a:softEdge rad="63500"/>
          </a:effectLst>
        </p:spPr>
        <p:txBody>
          <a:bodyPr wrap="none" lIns="0" tIns="0" rIns="0" bIns="0">
            <a:spAutoFit/>
          </a:bodyPr>
          <a:lstStyle/>
          <a:p>
            <a:r>
              <a:rPr lang="en-US" dirty="0" smtClean="0"/>
              <a:t>agents</a:t>
            </a:r>
            <a:endParaRPr lang="en-US" dirty="0"/>
          </a:p>
        </p:txBody>
      </p:sp>
      <p:sp>
        <p:nvSpPr>
          <p:cNvPr id="89" name="Rectangle 88"/>
          <p:cNvSpPr/>
          <p:nvPr/>
        </p:nvSpPr>
        <p:spPr>
          <a:xfrm>
            <a:off x="5037501" y="2133601"/>
            <a:ext cx="2037737" cy="276999"/>
          </a:xfrm>
          <a:prstGeom prst="rect">
            <a:avLst/>
          </a:prstGeom>
          <a:solidFill>
            <a:schemeClr val="bg1"/>
          </a:solidFill>
          <a:effectLst>
            <a:softEdge rad="63500"/>
          </a:effectLst>
        </p:spPr>
        <p:txBody>
          <a:bodyPr wrap="none" lIns="91440" tIns="0" rIns="91440" bIns="0">
            <a:spAutoFit/>
          </a:bodyPr>
          <a:lstStyle/>
          <a:p>
            <a:pPr algn="ctr"/>
            <a:r>
              <a:rPr lang="en-US" dirty="0" smtClean="0"/>
              <a:t>status = assigning</a:t>
            </a:r>
            <a:endParaRPr lang="en-US" dirty="0"/>
          </a:p>
        </p:txBody>
      </p:sp>
      <p:sp>
        <p:nvSpPr>
          <p:cNvPr id="90" name="Rectangle 89"/>
          <p:cNvSpPr/>
          <p:nvPr/>
        </p:nvSpPr>
        <p:spPr>
          <a:xfrm>
            <a:off x="5370506" y="2590801"/>
            <a:ext cx="1364476" cy="276999"/>
          </a:xfrm>
          <a:prstGeom prst="rect">
            <a:avLst/>
          </a:prstGeom>
          <a:solidFill>
            <a:schemeClr val="bg1"/>
          </a:solidFill>
          <a:effectLst>
            <a:softEdge rad="63500"/>
          </a:effectLst>
        </p:spPr>
        <p:txBody>
          <a:bodyPr wrap="none" lIns="91440" tIns="0" rIns="91440" bIns="0">
            <a:spAutoFit/>
          </a:bodyPr>
          <a:lstStyle/>
          <a:p>
            <a:pPr algn="ctr"/>
            <a:r>
              <a:rPr lang="en-US" dirty="0"/>
              <a:t>a</a:t>
            </a:r>
            <a:r>
              <a:rPr lang="en-US" dirty="0" smtClean="0"/>
              <a:t>ssignment</a:t>
            </a:r>
            <a:endParaRPr lang="en-US" dirty="0"/>
          </a:p>
        </p:txBody>
      </p:sp>
      <p:sp>
        <p:nvSpPr>
          <p:cNvPr id="91" name="Rectangle 90"/>
          <p:cNvSpPr/>
          <p:nvPr/>
        </p:nvSpPr>
        <p:spPr>
          <a:xfrm>
            <a:off x="5399215" y="3067176"/>
            <a:ext cx="1304588" cy="276999"/>
          </a:xfrm>
          <a:prstGeom prst="rect">
            <a:avLst/>
          </a:prstGeom>
          <a:solidFill>
            <a:schemeClr val="bg1"/>
          </a:solidFill>
          <a:effectLst>
            <a:softEdge rad="63500"/>
          </a:effectLst>
        </p:spPr>
        <p:txBody>
          <a:bodyPr wrap="none" lIns="91440" tIns="0" rIns="91440" bIns="0">
            <a:spAutoFit/>
          </a:bodyPr>
          <a:lstStyle/>
          <a:p>
            <a:pPr algn="ctr"/>
            <a:r>
              <a:rPr lang="en-US" dirty="0" err="1" smtClean="0"/>
              <a:t>globalTime</a:t>
            </a:r>
            <a:endParaRPr lang="en-US" dirty="0"/>
          </a:p>
        </p:txBody>
      </p:sp>
      <p:sp>
        <p:nvSpPr>
          <p:cNvPr id="93" name="Rounded Rectangular Callout 92"/>
          <p:cNvSpPr/>
          <p:nvPr/>
        </p:nvSpPr>
        <p:spPr>
          <a:xfrm>
            <a:off x="508000" y="3671024"/>
            <a:ext cx="5548368" cy="2653576"/>
          </a:xfrm>
          <a:prstGeom prst="wedgeRoundRectCallout">
            <a:avLst>
              <a:gd name="adj1" fmla="val 95318"/>
              <a:gd name="adj2" fmla="val -80843"/>
              <a:gd name="adj3" fmla="val 16667"/>
            </a:avLst>
          </a:prstGeom>
        </p:spPr>
        <p:style>
          <a:lnRef idx="1">
            <a:schemeClr val="accent3"/>
          </a:lnRef>
          <a:fillRef idx="2">
            <a:schemeClr val="accent3"/>
          </a:fillRef>
          <a:effectRef idx="1">
            <a:schemeClr val="accent3"/>
          </a:effectRef>
          <a:fontRef idx="minor">
            <a:schemeClr val="dk1"/>
          </a:fontRef>
        </p:style>
        <p:txBody>
          <a:bodyPr rtlCol="0" anchor="t" anchorCtr="0"/>
          <a:lstStyle/>
          <a:p>
            <a:r>
              <a:rPr lang="en-US" dirty="0"/>
              <a:t>The </a:t>
            </a:r>
            <a:r>
              <a:rPr lang="en-US" dirty="0" smtClean="0"/>
              <a:t>scheduler examines </a:t>
            </a:r>
            <a:r>
              <a:rPr lang="en-US" dirty="0"/>
              <a:t>the </a:t>
            </a:r>
            <a:r>
              <a:rPr lang="en-US" dirty="0" err="1" smtClean="0"/>
              <a:t>globalTime</a:t>
            </a:r>
            <a:r>
              <a:rPr lang="en-US" dirty="0" smtClean="0"/>
              <a:t> </a:t>
            </a:r>
            <a:r>
              <a:rPr lang="en-US" dirty="0"/>
              <a:t>and </a:t>
            </a:r>
            <a:r>
              <a:rPr lang="en-US" dirty="0" smtClean="0"/>
              <a:t>indicates to the actions if they are assigned to an agent:</a:t>
            </a:r>
          </a:p>
          <a:p>
            <a:endParaRPr lang="en-US" dirty="0"/>
          </a:p>
          <a:p>
            <a:endParaRPr lang="en-US" dirty="0" smtClean="0"/>
          </a:p>
          <a:p>
            <a:endParaRPr lang="en-US" dirty="0"/>
          </a:p>
          <a:p>
            <a:endParaRPr lang="en-US" dirty="0" smtClean="0"/>
          </a:p>
          <a:p>
            <a:r>
              <a:rPr lang="en-US" dirty="0" smtClean="0"/>
              <a:t>Assigned actions are set to waiting.</a:t>
            </a:r>
            <a:endParaRPr lang="en-US" dirty="0"/>
          </a:p>
        </p:txBody>
      </p:sp>
      <p:pic>
        <p:nvPicPr>
          <p:cNvPr id="1027" name="Picture 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13251" y="4830816"/>
            <a:ext cx="3846506" cy="6508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375552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dirty="0" smtClean="0">
                <a:latin typeface="Calibri Light" panose="020F0302020204030204" pitchFamily="34" charset="0"/>
                <a:cs typeface="Calibri Light" panose="020F0302020204030204" pitchFamily="34" charset="0"/>
              </a:rPr>
              <a:t>Formal Model</a:t>
            </a:r>
            <a:endParaRPr lang="en-US" sz="4400" b="1" dirty="0">
              <a:latin typeface="Calibri Light" panose="020F0302020204030204" pitchFamily="34" charset="0"/>
              <a:cs typeface="Calibri Light" panose="020F0302020204030204" pitchFamily="34" charset="0"/>
            </a:endParaRPr>
          </a:p>
        </p:txBody>
      </p:sp>
      <p:sp>
        <p:nvSpPr>
          <p:cNvPr id="4" name="Rounded Rectangle 3"/>
          <p:cNvSpPr/>
          <p:nvPr/>
        </p:nvSpPr>
        <p:spPr>
          <a:xfrm>
            <a:off x="1625600" y="2057402"/>
            <a:ext cx="19304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t" anchorCtr="0"/>
          <a:lstStyle/>
          <a:p>
            <a:pPr algn="ctr"/>
            <a:r>
              <a:rPr lang="en-US" dirty="0" smtClean="0"/>
              <a:t>Actions</a:t>
            </a:r>
            <a:endParaRPr lang="en-US" dirty="0"/>
          </a:p>
        </p:txBody>
      </p:sp>
      <p:sp>
        <p:nvSpPr>
          <p:cNvPr id="6" name="Rounded Rectangle 5"/>
          <p:cNvSpPr/>
          <p:nvPr/>
        </p:nvSpPr>
        <p:spPr>
          <a:xfrm>
            <a:off x="5080000" y="4452938"/>
            <a:ext cx="19304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t" anchorCtr="0"/>
          <a:lstStyle/>
          <a:p>
            <a:pPr algn="ctr"/>
            <a:r>
              <a:rPr lang="en-US" dirty="0" smtClean="0"/>
              <a:t>Agents</a:t>
            </a:r>
            <a:endParaRPr lang="en-US" dirty="0"/>
          </a:p>
        </p:txBody>
      </p:sp>
      <p:sp>
        <p:nvSpPr>
          <p:cNvPr id="7" name="Rounded Rectangle 6"/>
          <p:cNvSpPr/>
          <p:nvPr/>
        </p:nvSpPr>
        <p:spPr>
          <a:xfrm>
            <a:off x="8636000" y="2057401"/>
            <a:ext cx="19304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Scheduler</a:t>
            </a:r>
            <a:endParaRPr lang="en-US" dirty="0"/>
          </a:p>
        </p:txBody>
      </p:sp>
      <p:grpSp>
        <p:nvGrpSpPr>
          <p:cNvPr id="5" name="Group 4"/>
          <p:cNvGrpSpPr/>
          <p:nvPr/>
        </p:nvGrpSpPr>
        <p:grpSpPr>
          <a:xfrm>
            <a:off x="1828634" y="2538352"/>
            <a:ext cx="1524333" cy="764476"/>
            <a:chOff x="3048000" y="2247899"/>
            <a:chExt cx="1143250" cy="764476"/>
          </a:xfrm>
        </p:grpSpPr>
        <p:sp>
          <p:nvSpPr>
            <p:cNvPr id="9" name="Rounded Rectangle 8"/>
            <p:cNvSpPr/>
            <p:nvPr/>
          </p:nvSpPr>
          <p:spPr>
            <a:xfrm>
              <a:off x="3048000" y="2247899"/>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1" name="Rounded Rectangle 10"/>
            <p:cNvSpPr/>
            <p:nvPr/>
          </p:nvSpPr>
          <p:spPr>
            <a:xfrm>
              <a:off x="3184663" y="235032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2" name="Rounded Rectangle 11"/>
            <p:cNvSpPr/>
            <p:nvPr/>
          </p:nvSpPr>
          <p:spPr>
            <a:xfrm>
              <a:off x="3313563" y="247897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Action</a:t>
              </a:r>
              <a:endParaRPr lang="en-US" dirty="0"/>
            </a:p>
          </p:txBody>
        </p:sp>
      </p:grpSp>
      <p:grpSp>
        <p:nvGrpSpPr>
          <p:cNvPr id="14" name="Group 13"/>
          <p:cNvGrpSpPr/>
          <p:nvPr/>
        </p:nvGrpSpPr>
        <p:grpSpPr>
          <a:xfrm>
            <a:off x="5277327" y="4983862"/>
            <a:ext cx="1524333" cy="764476"/>
            <a:chOff x="3048000" y="2247899"/>
            <a:chExt cx="1143250" cy="764476"/>
          </a:xfrm>
        </p:grpSpPr>
        <p:sp>
          <p:nvSpPr>
            <p:cNvPr id="15" name="Rounded Rectangle 14"/>
            <p:cNvSpPr/>
            <p:nvPr/>
          </p:nvSpPr>
          <p:spPr>
            <a:xfrm>
              <a:off x="3048000" y="2247899"/>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6" name="Rounded Rectangle 15"/>
            <p:cNvSpPr/>
            <p:nvPr/>
          </p:nvSpPr>
          <p:spPr>
            <a:xfrm>
              <a:off x="3184663" y="235032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7" name="Rounded Rectangle 16"/>
            <p:cNvSpPr/>
            <p:nvPr/>
          </p:nvSpPr>
          <p:spPr>
            <a:xfrm>
              <a:off x="3313563" y="247897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Agent</a:t>
              </a:r>
              <a:endParaRPr lang="en-US" dirty="0"/>
            </a:p>
          </p:txBody>
        </p:sp>
      </p:grpSp>
      <p:cxnSp>
        <p:nvCxnSpPr>
          <p:cNvPr id="18" name="Straight Arrow Connector 17"/>
          <p:cNvCxnSpPr/>
          <p:nvPr/>
        </p:nvCxnSpPr>
        <p:spPr>
          <a:xfrm flipH="1">
            <a:off x="3556000" y="2293114"/>
            <a:ext cx="5080001" cy="53"/>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30" name="Straight Arrow Connector 29"/>
          <p:cNvCxnSpPr/>
          <p:nvPr/>
        </p:nvCxnSpPr>
        <p:spPr>
          <a:xfrm flipH="1">
            <a:off x="3556000" y="2764538"/>
            <a:ext cx="5080001" cy="32"/>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33" name="Straight Arrow Connector 32"/>
          <p:cNvCxnSpPr/>
          <p:nvPr/>
        </p:nvCxnSpPr>
        <p:spPr>
          <a:xfrm flipH="1">
            <a:off x="3556000" y="3236089"/>
            <a:ext cx="5080001" cy="10"/>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40" name="Curved Connector 39"/>
          <p:cNvCxnSpPr/>
          <p:nvPr/>
        </p:nvCxnSpPr>
        <p:spPr>
          <a:xfrm rot="10800000">
            <a:off x="3073337" y="3471866"/>
            <a:ext cx="2006665" cy="1334756"/>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46" name="Curved Connector 45"/>
          <p:cNvCxnSpPr/>
          <p:nvPr/>
        </p:nvCxnSpPr>
        <p:spPr>
          <a:xfrm rot="16200000" flipH="1">
            <a:off x="2573192" y="3006937"/>
            <a:ext cx="2041878" cy="2971737"/>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49" name="Curved Connector 48"/>
          <p:cNvCxnSpPr>
            <a:endCxn id="6" idx="3"/>
          </p:cNvCxnSpPr>
          <p:nvPr/>
        </p:nvCxnSpPr>
        <p:spPr>
          <a:xfrm rot="10800000" flipV="1">
            <a:off x="7010400" y="3236089"/>
            <a:ext cx="1625600" cy="1924080"/>
          </a:xfrm>
          <a:prstGeom prst="curvedConnector3">
            <a:avLst>
              <a:gd name="adj1" fmla="val 50000"/>
            </a:avLst>
          </a:prstGeom>
          <a:ln>
            <a:tailEnd type="stealth" w="lg" len="lg"/>
          </a:ln>
        </p:spPr>
        <p:style>
          <a:lnRef idx="1">
            <a:schemeClr val="dk1"/>
          </a:lnRef>
          <a:fillRef idx="2">
            <a:schemeClr val="dk1"/>
          </a:fillRef>
          <a:effectRef idx="1">
            <a:schemeClr val="dk1"/>
          </a:effectRef>
          <a:fontRef idx="minor">
            <a:schemeClr val="dk1"/>
          </a:fontRef>
        </p:style>
      </p:cxnSp>
      <p:cxnSp>
        <p:nvCxnSpPr>
          <p:cNvPr id="66" name="Curved Connector 65"/>
          <p:cNvCxnSpPr/>
          <p:nvPr/>
        </p:nvCxnSpPr>
        <p:spPr>
          <a:xfrm rot="16200000" flipH="1">
            <a:off x="2714836" y="2865293"/>
            <a:ext cx="2672990" cy="3886137"/>
          </a:xfrm>
          <a:prstGeom prst="curvedConnector2">
            <a:avLst/>
          </a:prstGeom>
          <a:ln>
            <a:headEnd type="none" w="med" len="med"/>
            <a:tailEnd type="none" w="med" len="med"/>
          </a:ln>
        </p:spPr>
        <p:style>
          <a:lnRef idx="1">
            <a:schemeClr val="dk1"/>
          </a:lnRef>
          <a:fillRef idx="2">
            <a:schemeClr val="dk1"/>
          </a:fillRef>
          <a:effectRef idx="1">
            <a:schemeClr val="dk1"/>
          </a:effectRef>
          <a:fontRef idx="minor">
            <a:schemeClr val="dk1"/>
          </a:fontRef>
        </p:style>
      </p:cxnSp>
      <p:cxnSp>
        <p:nvCxnSpPr>
          <p:cNvPr id="70" name="Curved Connector 69"/>
          <p:cNvCxnSpPr>
            <a:endCxn id="7" idx="2"/>
          </p:cNvCxnSpPr>
          <p:nvPr/>
        </p:nvCxnSpPr>
        <p:spPr>
          <a:xfrm flipV="1">
            <a:off x="6055360" y="3471864"/>
            <a:ext cx="3545841" cy="2672993"/>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80" name="Straight Arrow Connector 79"/>
          <p:cNvCxnSpPr/>
          <p:nvPr/>
        </p:nvCxnSpPr>
        <p:spPr>
          <a:xfrm>
            <a:off x="5977202" y="6146800"/>
            <a:ext cx="101865" cy="0"/>
          </a:xfrm>
          <a:prstGeom prst="straightConnector1">
            <a:avLst/>
          </a:prstGeom>
          <a:solidFill>
            <a:schemeClr val="bg1">
              <a:lumMod val="95000"/>
            </a:schemeClr>
          </a:solidFill>
          <a:ln>
            <a:headEnd type="none" w="med" len="med"/>
            <a:tailEnd type="none" w="med" len="med"/>
          </a:ln>
        </p:spPr>
        <p:style>
          <a:lnRef idx="1">
            <a:schemeClr val="dk1"/>
          </a:lnRef>
          <a:fillRef idx="2">
            <a:schemeClr val="dk1"/>
          </a:fillRef>
          <a:effectRef idx="1">
            <a:schemeClr val="dk1"/>
          </a:effectRef>
          <a:fontRef idx="minor">
            <a:schemeClr val="dk1"/>
          </a:fontRef>
        </p:style>
      </p:cxnSp>
      <p:sp>
        <p:nvSpPr>
          <p:cNvPr id="86" name="Rectangle 85"/>
          <p:cNvSpPr/>
          <p:nvPr/>
        </p:nvSpPr>
        <p:spPr>
          <a:xfrm>
            <a:off x="2133601" y="4447402"/>
            <a:ext cx="730969" cy="276999"/>
          </a:xfrm>
          <a:prstGeom prst="rect">
            <a:avLst/>
          </a:prstGeom>
          <a:solidFill>
            <a:schemeClr val="bg1"/>
          </a:solidFill>
          <a:effectLst>
            <a:softEdge rad="63500"/>
          </a:effectLst>
        </p:spPr>
        <p:txBody>
          <a:bodyPr wrap="none" lIns="0" tIns="0" rIns="0" bIns="0">
            <a:spAutoFit/>
          </a:bodyPr>
          <a:lstStyle/>
          <a:p>
            <a:r>
              <a:rPr lang="en-US" dirty="0" smtClean="0"/>
              <a:t>actions</a:t>
            </a:r>
            <a:endParaRPr lang="en-US" dirty="0"/>
          </a:p>
        </p:txBody>
      </p:sp>
      <p:sp>
        <p:nvSpPr>
          <p:cNvPr id="88" name="Rectangle 87"/>
          <p:cNvSpPr/>
          <p:nvPr/>
        </p:nvSpPr>
        <p:spPr>
          <a:xfrm>
            <a:off x="3136362" y="4114801"/>
            <a:ext cx="692497" cy="276999"/>
          </a:xfrm>
          <a:prstGeom prst="rect">
            <a:avLst/>
          </a:prstGeom>
          <a:solidFill>
            <a:schemeClr val="bg1"/>
          </a:solidFill>
          <a:effectLst>
            <a:softEdge rad="63500"/>
          </a:effectLst>
        </p:spPr>
        <p:txBody>
          <a:bodyPr wrap="none" lIns="0" tIns="0" rIns="0" bIns="0">
            <a:spAutoFit/>
          </a:bodyPr>
          <a:lstStyle/>
          <a:p>
            <a:r>
              <a:rPr lang="en-US" dirty="0" smtClean="0"/>
              <a:t>agents</a:t>
            </a:r>
            <a:endParaRPr lang="en-US" dirty="0"/>
          </a:p>
        </p:txBody>
      </p:sp>
      <p:sp>
        <p:nvSpPr>
          <p:cNvPr id="89" name="Rectangle 88"/>
          <p:cNvSpPr/>
          <p:nvPr/>
        </p:nvSpPr>
        <p:spPr>
          <a:xfrm>
            <a:off x="5097294" y="2133601"/>
            <a:ext cx="1918153" cy="276999"/>
          </a:xfrm>
          <a:prstGeom prst="rect">
            <a:avLst/>
          </a:prstGeom>
          <a:solidFill>
            <a:schemeClr val="bg1"/>
          </a:solidFill>
          <a:effectLst>
            <a:softEdge rad="63500"/>
          </a:effectLst>
        </p:spPr>
        <p:txBody>
          <a:bodyPr wrap="none" lIns="91440" tIns="0" rIns="91440" bIns="0">
            <a:spAutoFit/>
          </a:bodyPr>
          <a:lstStyle/>
          <a:p>
            <a:pPr algn="ctr"/>
            <a:r>
              <a:rPr lang="en-US" dirty="0" smtClean="0"/>
              <a:t>status = shuffling</a:t>
            </a:r>
            <a:endParaRPr lang="en-US" dirty="0"/>
          </a:p>
        </p:txBody>
      </p:sp>
      <p:sp>
        <p:nvSpPr>
          <p:cNvPr id="90" name="Rectangle 89"/>
          <p:cNvSpPr/>
          <p:nvPr/>
        </p:nvSpPr>
        <p:spPr>
          <a:xfrm>
            <a:off x="5370506" y="2590801"/>
            <a:ext cx="1364476" cy="276999"/>
          </a:xfrm>
          <a:prstGeom prst="rect">
            <a:avLst/>
          </a:prstGeom>
          <a:solidFill>
            <a:schemeClr val="bg1"/>
          </a:solidFill>
          <a:effectLst>
            <a:softEdge rad="63500"/>
          </a:effectLst>
        </p:spPr>
        <p:txBody>
          <a:bodyPr wrap="none" lIns="91440" tIns="0" rIns="91440" bIns="0">
            <a:spAutoFit/>
          </a:bodyPr>
          <a:lstStyle/>
          <a:p>
            <a:pPr algn="ctr"/>
            <a:r>
              <a:rPr lang="en-US" dirty="0"/>
              <a:t>a</a:t>
            </a:r>
            <a:r>
              <a:rPr lang="en-US" dirty="0" smtClean="0"/>
              <a:t>ssignment</a:t>
            </a:r>
            <a:endParaRPr lang="en-US" dirty="0"/>
          </a:p>
        </p:txBody>
      </p:sp>
      <p:sp>
        <p:nvSpPr>
          <p:cNvPr id="91" name="Rectangle 90"/>
          <p:cNvSpPr/>
          <p:nvPr/>
        </p:nvSpPr>
        <p:spPr>
          <a:xfrm>
            <a:off x="5399215" y="3067176"/>
            <a:ext cx="1304588" cy="276999"/>
          </a:xfrm>
          <a:prstGeom prst="rect">
            <a:avLst/>
          </a:prstGeom>
          <a:solidFill>
            <a:schemeClr val="bg1"/>
          </a:solidFill>
          <a:effectLst>
            <a:softEdge rad="63500"/>
          </a:effectLst>
        </p:spPr>
        <p:txBody>
          <a:bodyPr wrap="none" lIns="91440" tIns="0" rIns="91440" bIns="0">
            <a:spAutoFit/>
          </a:bodyPr>
          <a:lstStyle/>
          <a:p>
            <a:pPr algn="ctr"/>
            <a:r>
              <a:rPr lang="en-US" dirty="0" err="1" smtClean="0"/>
              <a:t>globalTime</a:t>
            </a:r>
            <a:endParaRPr lang="en-US" dirty="0"/>
          </a:p>
        </p:txBody>
      </p:sp>
      <p:sp>
        <p:nvSpPr>
          <p:cNvPr id="93" name="Rounded Rectangular Callout 92"/>
          <p:cNvSpPr/>
          <p:nvPr/>
        </p:nvSpPr>
        <p:spPr>
          <a:xfrm>
            <a:off x="4673600" y="4114800"/>
            <a:ext cx="7112000" cy="2209800"/>
          </a:xfrm>
          <a:prstGeom prst="wedgeRoundRectCallout">
            <a:avLst>
              <a:gd name="adj1" fmla="val -64781"/>
              <a:gd name="adj2" fmla="val -79639"/>
              <a:gd name="adj3" fmla="val 16667"/>
            </a:avLst>
          </a:prstGeom>
        </p:spPr>
        <p:style>
          <a:lnRef idx="1">
            <a:schemeClr val="accent3"/>
          </a:lnRef>
          <a:fillRef idx="2">
            <a:schemeClr val="accent3"/>
          </a:fillRef>
          <a:effectRef idx="1">
            <a:schemeClr val="accent3"/>
          </a:effectRef>
          <a:fontRef idx="minor">
            <a:schemeClr val="dk1"/>
          </a:fontRef>
        </p:style>
        <p:txBody>
          <a:bodyPr rtlCol="0" anchor="t" anchorCtr="0"/>
          <a:lstStyle/>
          <a:p>
            <a:pPr algn="ctr"/>
            <a:r>
              <a:rPr lang="en-US" dirty="0" smtClean="0"/>
              <a:t>The Action modules reshuffle their states </a:t>
            </a:r>
            <a:br>
              <a:rPr lang="en-US" dirty="0" smtClean="0"/>
            </a:br>
            <a:r>
              <a:rPr lang="en-US" dirty="0" smtClean="0"/>
              <a:t>(Active, Waiting, or Delayed) based on:</a:t>
            </a:r>
            <a:br>
              <a:rPr lang="en-US" dirty="0" smtClean="0"/>
            </a:br>
            <a:endParaRPr lang="en-US" sz="900" dirty="0" smtClean="0"/>
          </a:p>
          <a:p>
            <a:pPr marL="577850" indent="-342900">
              <a:buFont typeface="+mj-lt"/>
              <a:buAutoNum type="arabicPeriod"/>
            </a:pPr>
            <a:r>
              <a:rPr lang="en-US" dirty="0"/>
              <a:t>T</a:t>
            </a:r>
            <a:r>
              <a:rPr lang="en-US" dirty="0" smtClean="0"/>
              <a:t>he size of the associated agent’s queue</a:t>
            </a:r>
          </a:p>
          <a:p>
            <a:pPr marL="577850" indent="-342900">
              <a:buFont typeface="+mj-lt"/>
              <a:buAutoNum type="arabicPeriod"/>
            </a:pPr>
            <a:r>
              <a:rPr lang="en-US" dirty="0"/>
              <a:t>T</a:t>
            </a:r>
            <a:r>
              <a:rPr lang="en-US" dirty="0" smtClean="0"/>
              <a:t>he cardinality of the active </a:t>
            </a:r>
            <a:r>
              <a:rPr lang="en-US" dirty="0"/>
              <a:t>agent’s </a:t>
            </a:r>
            <a:r>
              <a:rPr lang="en-US" dirty="0" smtClean="0"/>
              <a:t>queue</a:t>
            </a:r>
          </a:p>
          <a:p>
            <a:pPr marL="577850" indent="-342900">
              <a:buFont typeface="+mj-lt"/>
              <a:buAutoNum type="arabicPeriod"/>
            </a:pPr>
            <a:r>
              <a:rPr lang="en-US" dirty="0" smtClean="0"/>
              <a:t>The </a:t>
            </a:r>
            <a:r>
              <a:rPr lang="en-US" dirty="0"/>
              <a:t>agent’s </a:t>
            </a:r>
            <a:r>
              <a:rPr lang="en-US" dirty="0" smtClean="0"/>
              <a:t>minimum priority active action</a:t>
            </a:r>
          </a:p>
          <a:p>
            <a:pPr marL="577850" indent="-342900">
              <a:buFont typeface="+mj-lt"/>
              <a:buAutoNum type="arabicPeriod"/>
            </a:pPr>
            <a:r>
              <a:rPr lang="en-US" dirty="0" smtClean="0"/>
              <a:t>The </a:t>
            </a:r>
            <a:r>
              <a:rPr lang="en-US" dirty="0"/>
              <a:t>agent’s </a:t>
            </a:r>
            <a:r>
              <a:rPr lang="en-US" dirty="0" smtClean="0"/>
              <a:t>maximum priority inactive action </a:t>
            </a:r>
            <a:endParaRPr lang="en-US" dirty="0"/>
          </a:p>
        </p:txBody>
      </p:sp>
    </p:spTree>
    <p:extLst>
      <p:ext uri="{BB962C8B-B14F-4D97-AF65-F5344CB8AC3E}">
        <p14:creationId xmlns:p14="http://schemas.microsoft.com/office/powerpoint/2010/main" val="18225503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dirty="0" smtClean="0">
                <a:latin typeface="Calibri Light" panose="020F0302020204030204" pitchFamily="34" charset="0"/>
                <a:cs typeface="Calibri Light" panose="020F0302020204030204" pitchFamily="34" charset="0"/>
              </a:rPr>
              <a:t>Formal Model</a:t>
            </a:r>
            <a:endParaRPr lang="en-US" sz="4400" b="1" dirty="0">
              <a:latin typeface="Calibri Light" panose="020F0302020204030204" pitchFamily="34" charset="0"/>
              <a:cs typeface="Calibri Light" panose="020F0302020204030204" pitchFamily="34" charset="0"/>
            </a:endParaRPr>
          </a:p>
        </p:txBody>
      </p:sp>
      <p:sp>
        <p:nvSpPr>
          <p:cNvPr id="4" name="Rounded Rectangle 3"/>
          <p:cNvSpPr/>
          <p:nvPr/>
        </p:nvSpPr>
        <p:spPr>
          <a:xfrm>
            <a:off x="1625600" y="2057402"/>
            <a:ext cx="19304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t" anchorCtr="0"/>
          <a:lstStyle/>
          <a:p>
            <a:pPr algn="ctr"/>
            <a:r>
              <a:rPr lang="en-US" dirty="0" smtClean="0"/>
              <a:t>Actions</a:t>
            </a:r>
            <a:endParaRPr lang="en-US" dirty="0"/>
          </a:p>
        </p:txBody>
      </p:sp>
      <p:sp>
        <p:nvSpPr>
          <p:cNvPr id="6" name="Rounded Rectangle 5"/>
          <p:cNvSpPr/>
          <p:nvPr/>
        </p:nvSpPr>
        <p:spPr>
          <a:xfrm>
            <a:off x="5080000" y="4452938"/>
            <a:ext cx="19304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t" anchorCtr="0"/>
          <a:lstStyle/>
          <a:p>
            <a:pPr algn="ctr"/>
            <a:r>
              <a:rPr lang="en-US" dirty="0" smtClean="0"/>
              <a:t>Agents</a:t>
            </a:r>
            <a:endParaRPr lang="en-US" dirty="0"/>
          </a:p>
        </p:txBody>
      </p:sp>
      <p:sp>
        <p:nvSpPr>
          <p:cNvPr id="7" name="Rounded Rectangle 6"/>
          <p:cNvSpPr/>
          <p:nvPr/>
        </p:nvSpPr>
        <p:spPr>
          <a:xfrm>
            <a:off x="8636000" y="2057401"/>
            <a:ext cx="19304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Scheduler</a:t>
            </a:r>
            <a:endParaRPr lang="en-US" dirty="0"/>
          </a:p>
        </p:txBody>
      </p:sp>
      <p:grpSp>
        <p:nvGrpSpPr>
          <p:cNvPr id="5" name="Group 4"/>
          <p:cNvGrpSpPr/>
          <p:nvPr/>
        </p:nvGrpSpPr>
        <p:grpSpPr>
          <a:xfrm>
            <a:off x="1828634" y="2538352"/>
            <a:ext cx="1524333" cy="764476"/>
            <a:chOff x="3048000" y="2247899"/>
            <a:chExt cx="1143250" cy="764476"/>
          </a:xfrm>
        </p:grpSpPr>
        <p:sp>
          <p:nvSpPr>
            <p:cNvPr id="9" name="Rounded Rectangle 8"/>
            <p:cNvSpPr/>
            <p:nvPr/>
          </p:nvSpPr>
          <p:spPr>
            <a:xfrm>
              <a:off x="3048000" y="2247899"/>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1" name="Rounded Rectangle 10"/>
            <p:cNvSpPr/>
            <p:nvPr/>
          </p:nvSpPr>
          <p:spPr>
            <a:xfrm>
              <a:off x="3184663" y="235032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2" name="Rounded Rectangle 11"/>
            <p:cNvSpPr/>
            <p:nvPr/>
          </p:nvSpPr>
          <p:spPr>
            <a:xfrm>
              <a:off x="3313563" y="247897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Action</a:t>
              </a:r>
              <a:endParaRPr lang="en-US" dirty="0"/>
            </a:p>
          </p:txBody>
        </p:sp>
      </p:grpSp>
      <p:grpSp>
        <p:nvGrpSpPr>
          <p:cNvPr id="14" name="Group 13"/>
          <p:cNvGrpSpPr/>
          <p:nvPr/>
        </p:nvGrpSpPr>
        <p:grpSpPr>
          <a:xfrm>
            <a:off x="5277327" y="4983862"/>
            <a:ext cx="1524333" cy="764476"/>
            <a:chOff x="3048000" y="2247899"/>
            <a:chExt cx="1143250" cy="764476"/>
          </a:xfrm>
        </p:grpSpPr>
        <p:sp>
          <p:nvSpPr>
            <p:cNvPr id="15" name="Rounded Rectangle 14"/>
            <p:cNvSpPr/>
            <p:nvPr/>
          </p:nvSpPr>
          <p:spPr>
            <a:xfrm>
              <a:off x="3048000" y="2247899"/>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6" name="Rounded Rectangle 15"/>
            <p:cNvSpPr/>
            <p:nvPr/>
          </p:nvSpPr>
          <p:spPr>
            <a:xfrm>
              <a:off x="3184663" y="235032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7" name="Rounded Rectangle 16"/>
            <p:cNvSpPr/>
            <p:nvPr/>
          </p:nvSpPr>
          <p:spPr>
            <a:xfrm>
              <a:off x="3313563" y="247897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Agent</a:t>
              </a:r>
              <a:endParaRPr lang="en-US" dirty="0"/>
            </a:p>
          </p:txBody>
        </p:sp>
      </p:grpSp>
      <p:cxnSp>
        <p:nvCxnSpPr>
          <p:cNvPr id="18" name="Straight Arrow Connector 17"/>
          <p:cNvCxnSpPr/>
          <p:nvPr/>
        </p:nvCxnSpPr>
        <p:spPr>
          <a:xfrm flipH="1">
            <a:off x="3556000" y="2293114"/>
            <a:ext cx="5080001" cy="53"/>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30" name="Straight Arrow Connector 29"/>
          <p:cNvCxnSpPr/>
          <p:nvPr/>
        </p:nvCxnSpPr>
        <p:spPr>
          <a:xfrm flipH="1">
            <a:off x="3556000" y="2764538"/>
            <a:ext cx="5080001" cy="32"/>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33" name="Straight Arrow Connector 32"/>
          <p:cNvCxnSpPr/>
          <p:nvPr/>
        </p:nvCxnSpPr>
        <p:spPr>
          <a:xfrm flipH="1">
            <a:off x="3556000" y="3236089"/>
            <a:ext cx="5080001" cy="10"/>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40" name="Curved Connector 39"/>
          <p:cNvCxnSpPr/>
          <p:nvPr/>
        </p:nvCxnSpPr>
        <p:spPr>
          <a:xfrm rot="10800000">
            <a:off x="3073337" y="3471866"/>
            <a:ext cx="2006665" cy="1334756"/>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46" name="Curved Connector 45"/>
          <p:cNvCxnSpPr/>
          <p:nvPr/>
        </p:nvCxnSpPr>
        <p:spPr>
          <a:xfrm rot="16200000" flipH="1">
            <a:off x="2573192" y="3006937"/>
            <a:ext cx="2041878" cy="2971737"/>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49" name="Curved Connector 48"/>
          <p:cNvCxnSpPr>
            <a:endCxn id="6" idx="3"/>
          </p:cNvCxnSpPr>
          <p:nvPr/>
        </p:nvCxnSpPr>
        <p:spPr>
          <a:xfrm rot="10800000" flipV="1">
            <a:off x="7010400" y="3236089"/>
            <a:ext cx="1625600" cy="1924080"/>
          </a:xfrm>
          <a:prstGeom prst="curvedConnector3">
            <a:avLst>
              <a:gd name="adj1" fmla="val 50000"/>
            </a:avLst>
          </a:prstGeom>
          <a:ln>
            <a:tailEnd type="stealth" w="lg" len="lg"/>
          </a:ln>
        </p:spPr>
        <p:style>
          <a:lnRef idx="1">
            <a:schemeClr val="dk1"/>
          </a:lnRef>
          <a:fillRef idx="2">
            <a:schemeClr val="dk1"/>
          </a:fillRef>
          <a:effectRef idx="1">
            <a:schemeClr val="dk1"/>
          </a:effectRef>
          <a:fontRef idx="minor">
            <a:schemeClr val="dk1"/>
          </a:fontRef>
        </p:style>
      </p:cxnSp>
      <p:cxnSp>
        <p:nvCxnSpPr>
          <p:cNvPr id="66" name="Curved Connector 65"/>
          <p:cNvCxnSpPr/>
          <p:nvPr/>
        </p:nvCxnSpPr>
        <p:spPr>
          <a:xfrm rot="16200000" flipH="1">
            <a:off x="2714836" y="2865293"/>
            <a:ext cx="2672990" cy="3886137"/>
          </a:xfrm>
          <a:prstGeom prst="curvedConnector2">
            <a:avLst/>
          </a:prstGeom>
          <a:ln>
            <a:headEnd type="none" w="med" len="med"/>
            <a:tailEnd type="none" w="med" len="med"/>
          </a:ln>
        </p:spPr>
        <p:style>
          <a:lnRef idx="1">
            <a:schemeClr val="dk1"/>
          </a:lnRef>
          <a:fillRef idx="2">
            <a:schemeClr val="dk1"/>
          </a:fillRef>
          <a:effectRef idx="1">
            <a:schemeClr val="dk1"/>
          </a:effectRef>
          <a:fontRef idx="minor">
            <a:schemeClr val="dk1"/>
          </a:fontRef>
        </p:style>
      </p:cxnSp>
      <p:cxnSp>
        <p:nvCxnSpPr>
          <p:cNvPr id="70" name="Curved Connector 69"/>
          <p:cNvCxnSpPr>
            <a:endCxn id="7" idx="2"/>
          </p:cNvCxnSpPr>
          <p:nvPr/>
        </p:nvCxnSpPr>
        <p:spPr>
          <a:xfrm flipV="1">
            <a:off x="6055360" y="3471864"/>
            <a:ext cx="3545841" cy="2672993"/>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80" name="Straight Arrow Connector 79"/>
          <p:cNvCxnSpPr/>
          <p:nvPr/>
        </p:nvCxnSpPr>
        <p:spPr>
          <a:xfrm>
            <a:off x="5977202" y="6146800"/>
            <a:ext cx="101865" cy="0"/>
          </a:xfrm>
          <a:prstGeom prst="straightConnector1">
            <a:avLst/>
          </a:prstGeom>
          <a:solidFill>
            <a:schemeClr val="bg1">
              <a:lumMod val="95000"/>
            </a:schemeClr>
          </a:solidFill>
          <a:ln>
            <a:headEnd type="none" w="med" len="med"/>
            <a:tailEnd type="none" w="med" len="med"/>
          </a:ln>
        </p:spPr>
        <p:style>
          <a:lnRef idx="1">
            <a:schemeClr val="dk1"/>
          </a:lnRef>
          <a:fillRef idx="2">
            <a:schemeClr val="dk1"/>
          </a:fillRef>
          <a:effectRef idx="1">
            <a:schemeClr val="dk1"/>
          </a:effectRef>
          <a:fontRef idx="minor">
            <a:schemeClr val="dk1"/>
          </a:fontRef>
        </p:style>
      </p:cxnSp>
      <p:sp>
        <p:nvSpPr>
          <p:cNvPr id="86" name="Rectangle 85"/>
          <p:cNvSpPr/>
          <p:nvPr/>
        </p:nvSpPr>
        <p:spPr>
          <a:xfrm>
            <a:off x="2133601" y="4447402"/>
            <a:ext cx="730969" cy="276999"/>
          </a:xfrm>
          <a:prstGeom prst="rect">
            <a:avLst/>
          </a:prstGeom>
          <a:solidFill>
            <a:schemeClr val="bg1"/>
          </a:solidFill>
          <a:effectLst>
            <a:softEdge rad="63500"/>
          </a:effectLst>
        </p:spPr>
        <p:txBody>
          <a:bodyPr wrap="none" lIns="0" tIns="0" rIns="0" bIns="0">
            <a:spAutoFit/>
          </a:bodyPr>
          <a:lstStyle/>
          <a:p>
            <a:r>
              <a:rPr lang="en-US" dirty="0" smtClean="0"/>
              <a:t>actions</a:t>
            </a:r>
            <a:endParaRPr lang="en-US" dirty="0"/>
          </a:p>
        </p:txBody>
      </p:sp>
      <p:sp>
        <p:nvSpPr>
          <p:cNvPr id="88" name="Rectangle 87"/>
          <p:cNvSpPr/>
          <p:nvPr/>
        </p:nvSpPr>
        <p:spPr>
          <a:xfrm>
            <a:off x="3136362" y="4114801"/>
            <a:ext cx="692497" cy="276999"/>
          </a:xfrm>
          <a:prstGeom prst="rect">
            <a:avLst/>
          </a:prstGeom>
          <a:solidFill>
            <a:schemeClr val="bg1"/>
          </a:solidFill>
          <a:effectLst>
            <a:softEdge rad="63500"/>
          </a:effectLst>
        </p:spPr>
        <p:txBody>
          <a:bodyPr wrap="none" lIns="0" tIns="0" rIns="0" bIns="0">
            <a:spAutoFit/>
          </a:bodyPr>
          <a:lstStyle/>
          <a:p>
            <a:r>
              <a:rPr lang="en-US" dirty="0" smtClean="0"/>
              <a:t>agents</a:t>
            </a:r>
            <a:endParaRPr lang="en-US" dirty="0"/>
          </a:p>
        </p:txBody>
      </p:sp>
      <p:sp>
        <p:nvSpPr>
          <p:cNvPr id="90" name="Rectangle 89"/>
          <p:cNvSpPr/>
          <p:nvPr/>
        </p:nvSpPr>
        <p:spPr>
          <a:xfrm>
            <a:off x="5370506" y="2590801"/>
            <a:ext cx="1364476" cy="276999"/>
          </a:xfrm>
          <a:prstGeom prst="rect">
            <a:avLst/>
          </a:prstGeom>
          <a:solidFill>
            <a:schemeClr val="bg1"/>
          </a:solidFill>
          <a:effectLst>
            <a:softEdge rad="63500"/>
          </a:effectLst>
        </p:spPr>
        <p:txBody>
          <a:bodyPr wrap="none" lIns="91440" tIns="0" rIns="91440" bIns="0">
            <a:spAutoFit/>
          </a:bodyPr>
          <a:lstStyle/>
          <a:p>
            <a:pPr algn="ctr"/>
            <a:r>
              <a:rPr lang="en-US" dirty="0"/>
              <a:t>a</a:t>
            </a:r>
            <a:r>
              <a:rPr lang="en-US" dirty="0" smtClean="0"/>
              <a:t>ssignment</a:t>
            </a:r>
            <a:endParaRPr lang="en-US" dirty="0"/>
          </a:p>
        </p:txBody>
      </p:sp>
      <p:sp>
        <p:nvSpPr>
          <p:cNvPr id="91" name="Rectangle 90"/>
          <p:cNvSpPr/>
          <p:nvPr/>
        </p:nvSpPr>
        <p:spPr>
          <a:xfrm>
            <a:off x="5399215" y="3067176"/>
            <a:ext cx="1304588" cy="276999"/>
          </a:xfrm>
          <a:prstGeom prst="rect">
            <a:avLst/>
          </a:prstGeom>
          <a:solidFill>
            <a:schemeClr val="bg1"/>
          </a:solidFill>
          <a:effectLst>
            <a:softEdge rad="63500"/>
          </a:effectLst>
        </p:spPr>
        <p:txBody>
          <a:bodyPr wrap="none" lIns="91440" tIns="0" rIns="91440" bIns="0">
            <a:spAutoFit/>
          </a:bodyPr>
          <a:lstStyle/>
          <a:p>
            <a:pPr algn="ctr"/>
            <a:r>
              <a:rPr lang="en-US" dirty="0" err="1" smtClean="0"/>
              <a:t>globalTime</a:t>
            </a:r>
            <a:endParaRPr lang="en-US" dirty="0"/>
          </a:p>
        </p:txBody>
      </p:sp>
      <p:sp>
        <p:nvSpPr>
          <p:cNvPr id="93" name="Rounded Rectangular Callout 92"/>
          <p:cNvSpPr/>
          <p:nvPr/>
        </p:nvSpPr>
        <p:spPr>
          <a:xfrm>
            <a:off x="5862451" y="3841731"/>
            <a:ext cx="4851400" cy="1100138"/>
          </a:xfrm>
          <a:prstGeom prst="wedgeRoundRectCallout">
            <a:avLst>
              <a:gd name="adj1" fmla="val 18099"/>
              <a:gd name="adj2" fmla="val -81507"/>
              <a:gd name="adj3" fmla="val 16667"/>
            </a:avLst>
          </a:prstGeom>
        </p:spPr>
        <p:style>
          <a:lnRef idx="1">
            <a:schemeClr val="accent3"/>
          </a:lnRef>
          <a:fillRef idx="2">
            <a:schemeClr val="accent3"/>
          </a:fillRef>
          <a:effectRef idx="1">
            <a:schemeClr val="accent3"/>
          </a:effectRef>
          <a:fontRef idx="minor">
            <a:schemeClr val="dk1"/>
          </a:fontRef>
        </p:style>
        <p:txBody>
          <a:bodyPr rtlCol="0" anchor="t" anchorCtr="0"/>
          <a:lstStyle/>
          <a:p>
            <a:pPr algn="ctr"/>
            <a:r>
              <a:rPr lang="en-US" dirty="0" smtClean="0"/>
              <a:t>Once there is nothing else to move:</a:t>
            </a:r>
          </a:p>
          <a:p>
            <a:pPr algn="ctr"/>
            <a:endParaRPr lang="en-US" sz="900" dirty="0" smtClean="0"/>
          </a:p>
          <a:p>
            <a:pPr marL="285750" indent="-285750">
              <a:buFont typeface="Arial" panose="020B0604020202020204" pitchFamily="34" charset="0"/>
              <a:buChar char="•"/>
            </a:pPr>
            <a:r>
              <a:rPr lang="en-US" dirty="0" smtClean="0"/>
              <a:t>The </a:t>
            </a:r>
            <a:r>
              <a:rPr lang="en-US" dirty="0" err="1" smtClean="0"/>
              <a:t>globalTime</a:t>
            </a:r>
            <a:r>
              <a:rPr lang="en-US" dirty="0" smtClean="0"/>
              <a:t> is updated</a:t>
            </a:r>
          </a:p>
        </p:txBody>
      </p:sp>
      <p:sp>
        <p:nvSpPr>
          <p:cNvPr id="29" name="Rectangle 28"/>
          <p:cNvSpPr/>
          <p:nvPr/>
        </p:nvSpPr>
        <p:spPr>
          <a:xfrm>
            <a:off x="5242687" y="2133601"/>
            <a:ext cx="1627369" cy="276999"/>
          </a:xfrm>
          <a:prstGeom prst="rect">
            <a:avLst/>
          </a:prstGeom>
          <a:solidFill>
            <a:schemeClr val="bg1"/>
          </a:solidFill>
          <a:effectLst>
            <a:softEdge rad="63500"/>
          </a:effectLst>
        </p:spPr>
        <p:txBody>
          <a:bodyPr wrap="none" lIns="91440" tIns="0" rIns="91440" bIns="0">
            <a:spAutoFit/>
          </a:bodyPr>
          <a:lstStyle/>
          <a:p>
            <a:pPr algn="ctr"/>
            <a:r>
              <a:rPr lang="en-US" dirty="0" smtClean="0"/>
              <a:t>status = doing</a:t>
            </a:r>
            <a:endParaRPr lang="en-US" dirty="0"/>
          </a:p>
        </p:txBody>
      </p:sp>
    </p:spTree>
    <p:extLst>
      <p:ext uri="{BB962C8B-B14F-4D97-AF65-F5344CB8AC3E}">
        <p14:creationId xmlns:p14="http://schemas.microsoft.com/office/powerpoint/2010/main" val="6605216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dirty="0" smtClean="0">
                <a:latin typeface="Calibri Light" panose="020F0302020204030204" pitchFamily="34" charset="0"/>
                <a:cs typeface="Calibri Light" panose="020F0302020204030204" pitchFamily="34" charset="0"/>
              </a:rPr>
              <a:t>Formal Model</a:t>
            </a:r>
            <a:endParaRPr lang="en-US" sz="4400" b="1" dirty="0">
              <a:latin typeface="Calibri Light" panose="020F0302020204030204" pitchFamily="34" charset="0"/>
              <a:cs typeface="Calibri Light" panose="020F0302020204030204" pitchFamily="34" charset="0"/>
            </a:endParaRPr>
          </a:p>
        </p:txBody>
      </p:sp>
      <p:sp>
        <p:nvSpPr>
          <p:cNvPr id="4" name="Rounded Rectangle 3"/>
          <p:cNvSpPr/>
          <p:nvPr/>
        </p:nvSpPr>
        <p:spPr>
          <a:xfrm>
            <a:off x="1625600" y="2057402"/>
            <a:ext cx="19304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t" anchorCtr="0"/>
          <a:lstStyle/>
          <a:p>
            <a:pPr algn="ctr"/>
            <a:r>
              <a:rPr lang="en-US" dirty="0" smtClean="0"/>
              <a:t>Actions</a:t>
            </a:r>
            <a:endParaRPr lang="en-US" dirty="0"/>
          </a:p>
        </p:txBody>
      </p:sp>
      <p:sp>
        <p:nvSpPr>
          <p:cNvPr id="6" name="Rounded Rectangle 5"/>
          <p:cNvSpPr/>
          <p:nvPr/>
        </p:nvSpPr>
        <p:spPr>
          <a:xfrm>
            <a:off x="5080000" y="4452938"/>
            <a:ext cx="19304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t" anchorCtr="0"/>
          <a:lstStyle/>
          <a:p>
            <a:pPr algn="ctr"/>
            <a:r>
              <a:rPr lang="en-US" dirty="0" smtClean="0"/>
              <a:t>Agents</a:t>
            </a:r>
            <a:endParaRPr lang="en-US" dirty="0"/>
          </a:p>
        </p:txBody>
      </p:sp>
      <p:sp>
        <p:nvSpPr>
          <p:cNvPr id="7" name="Rounded Rectangle 6"/>
          <p:cNvSpPr/>
          <p:nvPr/>
        </p:nvSpPr>
        <p:spPr>
          <a:xfrm>
            <a:off x="8636000" y="2057401"/>
            <a:ext cx="19304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Scheduler</a:t>
            </a:r>
            <a:endParaRPr lang="en-US" dirty="0"/>
          </a:p>
        </p:txBody>
      </p:sp>
      <p:grpSp>
        <p:nvGrpSpPr>
          <p:cNvPr id="5" name="Group 4"/>
          <p:cNvGrpSpPr/>
          <p:nvPr/>
        </p:nvGrpSpPr>
        <p:grpSpPr>
          <a:xfrm>
            <a:off x="1828634" y="2538352"/>
            <a:ext cx="1524333" cy="764476"/>
            <a:chOff x="3048000" y="2247899"/>
            <a:chExt cx="1143250" cy="764476"/>
          </a:xfrm>
        </p:grpSpPr>
        <p:sp>
          <p:nvSpPr>
            <p:cNvPr id="9" name="Rounded Rectangle 8"/>
            <p:cNvSpPr/>
            <p:nvPr/>
          </p:nvSpPr>
          <p:spPr>
            <a:xfrm>
              <a:off x="3048000" y="2247899"/>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1" name="Rounded Rectangle 10"/>
            <p:cNvSpPr/>
            <p:nvPr/>
          </p:nvSpPr>
          <p:spPr>
            <a:xfrm>
              <a:off x="3184663" y="235032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2" name="Rounded Rectangle 11"/>
            <p:cNvSpPr/>
            <p:nvPr/>
          </p:nvSpPr>
          <p:spPr>
            <a:xfrm>
              <a:off x="3313563" y="247897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Action</a:t>
              </a:r>
              <a:endParaRPr lang="en-US" dirty="0"/>
            </a:p>
          </p:txBody>
        </p:sp>
      </p:grpSp>
      <p:grpSp>
        <p:nvGrpSpPr>
          <p:cNvPr id="14" name="Group 13"/>
          <p:cNvGrpSpPr/>
          <p:nvPr/>
        </p:nvGrpSpPr>
        <p:grpSpPr>
          <a:xfrm>
            <a:off x="5277327" y="4983862"/>
            <a:ext cx="1524333" cy="764476"/>
            <a:chOff x="3048000" y="2247899"/>
            <a:chExt cx="1143250" cy="764476"/>
          </a:xfrm>
        </p:grpSpPr>
        <p:sp>
          <p:nvSpPr>
            <p:cNvPr id="15" name="Rounded Rectangle 14"/>
            <p:cNvSpPr/>
            <p:nvPr/>
          </p:nvSpPr>
          <p:spPr>
            <a:xfrm>
              <a:off x="3048000" y="2247899"/>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6" name="Rounded Rectangle 15"/>
            <p:cNvSpPr/>
            <p:nvPr/>
          </p:nvSpPr>
          <p:spPr>
            <a:xfrm>
              <a:off x="3184663" y="235032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7" name="Rounded Rectangle 16"/>
            <p:cNvSpPr/>
            <p:nvPr/>
          </p:nvSpPr>
          <p:spPr>
            <a:xfrm>
              <a:off x="3313563" y="247897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Agent</a:t>
              </a:r>
              <a:endParaRPr lang="en-US" dirty="0"/>
            </a:p>
          </p:txBody>
        </p:sp>
      </p:grpSp>
      <p:cxnSp>
        <p:nvCxnSpPr>
          <p:cNvPr id="18" name="Straight Arrow Connector 17"/>
          <p:cNvCxnSpPr/>
          <p:nvPr/>
        </p:nvCxnSpPr>
        <p:spPr>
          <a:xfrm flipH="1">
            <a:off x="3556000" y="2293114"/>
            <a:ext cx="5080001" cy="53"/>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30" name="Straight Arrow Connector 29"/>
          <p:cNvCxnSpPr/>
          <p:nvPr/>
        </p:nvCxnSpPr>
        <p:spPr>
          <a:xfrm flipH="1">
            <a:off x="3556000" y="2764538"/>
            <a:ext cx="5080001" cy="32"/>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33" name="Straight Arrow Connector 32"/>
          <p:cNvCxnSpPr/>
          <p:nvPr/>
        </p:nvCxnSpPr>
        <p:spPr>
          <a:xfrm flipH="1">
            <a:off x="3556000" y="3236089"/>
            <a:ext cx="5080001" cy="10"/>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40" name="Curved Connector 39"/>
          <p:cNvCxnSpPr/>
          <p:nvPr/>
        </p:nvCxnSpPr>
        <p:spPr>
          <a:xfrm rot="10800000">
            <a:off x="3073337" y="3471866"/>
            <a:ext cx="2006665" cy="1334756"/>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46" name="Curved Connector 45"/>
          <p:cNvCxnSpPr/>
          <p:nvPr/>
        </p:nvCxnSpPr>
        <p:spPr>
          <a:xfrm rot="16200000" flipH="1">
            <a:off x="2573192" y="3006937"/>
            <a:ext cx="2041878" cy="2971737"/>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49" name="Curved Connector 48"/>
          <p:cNvCxnSpPr>
            <a:endCxn id="6" idx="3"/>
          </p:cNvCxnSpPr>
          <p:nvPr/>
        </p:nvCxnSpPr>
        <p:spPr>
          <a:xfrm rot="10800000" flipV="1">
            <a:off x="7010400" y="3236089"/>
            <a:ext cx="1625600" cy="1924080"/>
          </a:xfrm>
          <a:prstGeom prst="curvedConnector3">
            <a:avLst>
              <a:gd name="adj1" fmla="val 50000"/>
            </a:avLst>
          </a:prstGeom>
          <a:ln>
            <a:tailEnd type="stealth" w="lg" len="lg"/>
          </a:ln>
        </p:spPr>
        <p:style>
          <a:lnRef idx="1">
            <a:schemeClr val="dk1"/>
          </a:lnRef>
          <a:fillRef idx="2">
            <a:schemeClr val="dk1"/>
          </a:fillRef>
          <a:effectRef idx="1">
            <a:schemeClr val="dk1"/>
          </a:effectRef>
          <a:fontRef idx="minor">
            <a:schemeClr val="dk1"/>
          </a:fontRef>
        </p:style>
      </p:cxnSp>
      <p:cxnSp>
        <p:nvCxnSpPr>
          <p:cNvPr id="66" name="Curved Connector 65"/>
          <p:cNvCxnSpPr/>
          <p:nvPr/>
        </p:nvCxnSpPr>
        <p:spPr>
          <a:xfrm rot="16200000" flipH="1">
            <a:off x="2714836" y="2865293"/>
            <a:ext cx="2672990" cy="3886137"/>
          </a:xfrm>
          <a:prstGeom prst="curvedConnector2">
            <a:avLst/>
          </a:prstGeom>
          <a:ln>
            <a:headEnd type="none" w="med" len="med"/>
            <a:tailEnd type="none" w="med" len="med"/>
          </a:ln>
        </p:spPr>
        <p:style>
          <a:lnRef idx="1">
            <a:schemeClr val="dk1"/>
          </a:lnRef>
          <a:fillRef idx="2">
            <a:schemeClr val="dk1"/>
          </a:fillRef>
          <a:effectRef idx="1">
            <a:schemeClr val="dk1"/>
          </a:effectRef>
          <a:fontRef idx="minor">
            <a:schemeClr val="dk1"/>
          </a:fontRef>
        </p:style>
      </p:cxnSp>
      <p:cxnSp>
        <p:nvCxnSpPr>
          <p:cNvPr id="70" name="Curved Connector 69"/>
          <p:cNvCxnSpPr>
            <a:endCxn id="7" idx="2"/>
          </p:cNvCxnSpPr>
          <p:nvPr/>
        </p:nvCxnSpPr>
        <p:spPr>
          <a:xfrm flipV="1">
            <a:off x="6055360" y="3471864"/>
            <a:ext cx="3545841" cy="2672993"/>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80" name="Straight Arrow Connector 79"/>
          <p:cNvCxnSpPr/>
          <p:nvPr/>
        </p:nvCxnSpPr>
        <p:spPr>
          <a:xfrm>
            <a:off x="5977202" y="6146800"/>
            <a:ext cx="101865" cy="0"/>
          </a:xfrm>
          <a:prstGeom prst="straightConnector1">
            <a:avLst/>
          </a:prstGeom>
          <a:solidFill>
            <a:schemeClr val="bg1">
              <a:lumMod val="95000"/>
            </a:schemeClr>
          </a:solidFill>
          <a:ln>
            <a:headEnd type="none" w="med" len="med"/>
            <a:tailEnd type="none" w="med" len="med"/>
          </a:ln>
        </p:spPr>
        <p:style>
          <a:lnRef idx="1">
            <a:schemeClr val="dk1"/>
          </a:lnRef>
          <a:fillRef idx="2">
            <a:schemeClr val="dk1"/>
          </a:fillRef>
          <a:effectRef idx="1">
            <a:schemeClr val="dk1"/>
          </a:effectRef>
          <a:fontRef idx="minor">
            <a:schemeClr val="dk1"/>
          </a:fontRef>
        </p:style>
      </p:cxnSp>
      <p:sp>
        <p:nvSpPr>
          <p:cNvPr id="86" name="Rectangle 85"/>
          <p:cNvSpPr/>
          <p:nvPr/>
        </p:nvSpPr>
        <p:spPr>
          <a:xfrm>
            <a:off x="2133601" y="4447402"/>
            <a:ext cx="730969" cy="276999"/>
          </a:xfrm>
          <a:prstGeom prst="rect">
            <a:avLst/>
          </a:prstGeom>
          <a:solidFill>
            <a:schemeClr val="bg1"/>
          </a:solidFill>
          <a:effectLst>
            <a:softEdge rad="63500"/>
          </a:effectLst>
        </p:spPr>
        <p:txBody>
          <a:bodyPr wrap="none" lIns="0" tIns="0" rIns="0" bIns="0">
            <a:spAutoFit/>
          </a:bodyPr>
          <a:lstStyle/>
          <a:p>
            <a:r>
              <a:rPr lang="en-US" dirty="0" smtClean="0"/>
              <a:t>actions</a:t>
            </a:r>
            <a:endParaRPr lang="en-US" dirty="0"/>
          </a:p>
        </p:txBody>
      </p:sp>
      <p:sp>
        <p:nvSpPr>
          <p:cNvPr id="88" name="Rectangle 87"/>
          <p:cNvSpPr/>
          <p:nvPr/>
        </p:nvSpPr>
        <p:spPr>
          <a:xfrm>
            <a:off x="3136362" y="4114801"/>
            <a:ext cx="692497" cy="276999"/>
          </a:xfrm>
          <a:prstGeom prst="rect">
            <a:avLst/>
          </a:prstGeom>
          <a:solidFill>
            <a:schemeClr val="bg1"/>
          </a:solidFill>
          <a:effectLst>
            <a:softEdge rad="63500"/>
          </a:effectLst>
        </p:spPr>
        <p:txBody>
          <a:bodyPr wrap="none" lIns="0" tIns="0" rIns="0" bIns="0">
            <a:spAutoFit/>
          </a:bodyPr>
          <a:lstStyle/>
          <a:p>
            <a:r>
              <a:rPr lang="en-US" dirty="0" smtClean="0"/>
              <a:t>agents</a:t>
            </a:r>
            <a:endParaRPr lang="en-US" dirty="0"/>
          </a:p>
        </p:txBody>
      </p:sp>
      <p:sp>
        <p:nvSpPr>
          <p:cNvPr id="90" name="Rectangle 89"/>
          <p:cNvSpPr/>
          <p:nvPr/>
        </p:nvSpPr>
        <p:spPr>
          <a:xfrm>
            <a:off x="5370506" y="2590801"/>
            <a:ext cx="1364476" cy="276999"/>
          </a:xfrm>
          <a:prstGeom prst="rect">
            <a:avLst/>
          </a:prstGeom>
          <a:solidFill>
            <a:schemeClr val="bg1"/>
          </a:solidFill>
          <a:effectLst>
            <a:softEdge rad="63500"/>
          </a:effectLst>
        </p:spPr>
        <p:txBody>
          <a:bodyPr wrap="none" lIns="91440" tIns="0" rIns="91440" bIns="0">
            <a:spAutoFit/>
          </a:bodyPr>
          <a:lstStyle/>
          <a:p>
            <a:pPr algn="ctr"/>
            <a:r>
              <a:rPr lang="en-US" dirty="0"/>
              <a:t>a</a:t>
            </a:r>
            <a:r>
              <a:rPr lang="en-US" dirty="0" smtClean="0"/>
              <a:t>ssignment</a:t>
            </a:r>
            <a:endParaRPr lang="en-US" dirty="0"/>
          </a:p>
        </p:txBody>
      </p:sp>
      <p:sp>
        <p:nvSpPr>
          <p:cNvPr id="91" name="Rectangle 90"/>
          <p:cNvSpPr/>
          <p:nvPr/>
        </p:nvSpPr>
        <p:spPr>
          <a:xfrm>
            <a:off x="5399215" y="3067176"/>
            <a:ext cx="1304588" cy="276999"/>
          </a:xfrm>
          <a:prstGeom prst="rect">
            <a:avLst/>
          </a:prstGeom>
          <a:solidFill>
            <a:schemeClr val="bg1"/>
          </a:solidFill>
          <a:effectLst>
            <a:softEdge rad="63500"/>
          </a:effectLst>
        </p:spPr>
        <p:txBody>
          <a:bodyPr wrap="none" lIns="91440" tIns="0" rIns="91440" bIns="0">
            <a:spAutoFit/>
          </a:bodyPr>
          <a:lstStyle/>
          <a:p>
            <a:pPr algn="ctr"/>
            <a:r>
              <a:rPr lang="en-US" dirty="0" err="1" smtClean="0"/>
              <a:t>globalTime</a:t>
            </a:r>
            <a:endParaRPr lang="en-US" dirty="0"/>
          </a:p>
        </p:txBody>
      </p:sp>
      <p:sp>
        <p:nvSpPr>
          <p:cNvPr id="93" name="Rounded Rectangular Callout 92"/>
          <p:cNvSpPr/>
          <p:nvPr/>
        </p:nvSpPr>
        <p:spPr>
          <a:xfrm>
            <a:off x="4673600" y="4114800"/>
            <a:ext cx="6400800" cy="1905000"/>
          </a:xfrm>
          <a:prstGeom prst="wedgeRoundRectCallout">
            <a:avLst>
              <a:gd name="adj1" fmla="val -66508"/>
              <a:gd name="adj2" fmla="val -87574"/>
              <a:gd name="adj3" fmla="val 16667"/>
            </a:avLst>
          </a:prstGeom>
        </p:spPr>
        <p:style>
          <a:lnRef idx="1">
            <a:schemeClr val="accent3"/>
          </a:lnRef>
          <a:fillRef idx="2">
            <a:schemeClr val="accent3"/>
          </a:fillRef>
          <a:effectRef idx="1">
            <a:schemeClr val="accent3"/>
          </a:effectRef>
          <a:fontRef idx="minor">
            <a:schemeClr val="dk1"/>
          </a:fontRef>
        </p:style>
        <p:txBody>
          <a:bodyPr rtlCol="0" anchor="t" anchorCtr="0"/>
          <a:lstStyle/>
          <a:p>
            <a:pPr algn="ctr"/>
            <a:r>
              <a:rPr lang="en-US" dirty="0" smtClean="0"/>
              <a:t>Once there is nothing else to move:</a:t>
            </a:r>
          </a:p>
          <a:p>
            <a:pPr algn="ctr"/>
            <a:endParaRPr lang="en-US" sz="900" dirty="0" smtClean="0"/>
          </a:p>
          <a:p>
            <a:pPr marL="285750" indent="-285750">
              <a:buFont typeface="Arial" panose="020B0604020202020204" pitchFamily="34" charset="0"/>
              <a:buChar char="•"/>
            </a:pPr>
            <a:r>
              <a:rPr lang="en-US" dirty="0" smtClean="0"/>
              <a:t>The </a:t>
            </a:r>
            <a:r>
              <a:rPr lang="en-US" dirty="0" err="1" smtClean="0"/>
              <a:t>globalTime</a:t>
            </a:r>
            <a:r>
              <a:rPr lang="en-US" dirty="0" smtClean="0"/>
              <a:t> is updated</a:t>
            </a:r>
          </a:p>
          <a:p>
            <a:pPr marL="285750" indent="-285750">
              <a:buFont typeface="Arial" panose="020B0604020202020204" pitchFamily="34" charset="0"/>
              <a:buChar char="•"/>
            </a:pPr>
            <a:r>
              <a:rPr lang="en-US" dirty="0" smtClean="0"/>
              <a:t>Active actions are performed </a:t>
            </a:r>
            <a:br>
              <a:rPr lang="en-US" dirty="0" smtClean="0"/>
            </a:br>
            <a:r>
              <a:rPr lang="en-US" dirty="0" smtClean="0"/>
              <a:t>(their time is correspondingly reduced)</a:t>
            </a:r>
          </a:p>
          <a:p>
            <a:pPr marL="285750" indent="-285750">
              <a:buFont typeface="Arial" panose="020B0604020202020204" pitchFamily="34" charset="0"/>
              <a:buChar char="•"/>
            </a:pPr>
            <a:r>
              <a:rPr lang="en-US" dirty="0" smtClean="0"/>
              <a:t>Completed actions  (0 time) are unassigned</a:t>
            </a:r>
            <a:endParaRPr lang="en-US" sz="900" dirty="0" smtClean="0"/>
          </a:p>
        </p:txBody>
      </p:sp>
      <p:sp>
        <p:nvSpPr>
          <p:cNvPr id="29" name="Rectangle 28"/>
          <p:cNvSpPr/>
          <p:nvPr/>
        </p:nvSpPr>
        <p:spPr>
          <a:xfrm>
            <a:off x="5242687" y="2133601"/>
            <a:ext cx="1627369" cy="276999"/>
          </a:xfrm>
          <a:prstGeom prst="rect">
            <a:avLst/>
          </a:prstGeom>
          <a:solidFill>
            <a:schemeClr val="bg1"/>
          </a:solidFill>
          <a:effectLst>
            <a:softEdge rad="63500"/>
          </a:effectLst>
        </p:spPr>
        <p:txBody>
          <a:bodyPr wrap="none" lIns="91440" tIns="0" rIns="91440" bIns="0">
            <a:spAutoFit/>
          </a:bodyPr>
          <a:lstStyle/>
          <a:p>
            <a:pPr algn="ctr"/>
            <a:r>
              <a:rPr lang="en-US" dirty="0" smtClean="0"/>
              <a:t>status = doing</a:t>
            </a:r>
            <a:endParaRPr lang="en-US" dirty="0"/>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fld id="{69F4CDD8-5FBC-4525-AA90-5E51E945CAE5}" type="slidenum">
              <a:rPr lang="en-US" smtClean="0"/>
              <a:t>19</a:t>
            </a:fld>
            <a:endParaRPr lang="en-US"/>
          </a:p>
        </p:txBody>
      </p:sp>
    </p:spTree>
    <p:extLst>
      <p:ext uri="{BB962C8B-B14F-4D97-AF65-F5344CB8AC3E}">
        <p14:creationId xmlns:p14="http://schemas.microsoft.com/office/powerpoint/2010/main" val="16306987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Formal Model</a:t>
            </a:r>
            <a:endParaRPr lang="en-US" dirty="0"/>
          </a:p>
        </p:txBody>
      </p:sp>
      <p:sp>
        <p:nvSpPr>
          <p:cNvPr id="4" name="Rounded Rectangle 3"/>
          <p:cNvSpPr/>
          <p:nvPr/>
        </p:nvSpPr>
        <p:spPr>
          <a:xfrm>
            <a:off x="1625600" y="2057402"/>
            <a:ext cx="19304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t" anchorCtr="0"/>
          <a:lstStyle/>
          <a:p>
            <a:pPr algn="ctr"/>
            <a:r>
              <a:rPr lang="en-US" dirty="0" smtClean="0"/>
              <a:t>Actions</a:t>
            </a:r>
            <a:endParaRPr lang="en-US" dirty="0"/>
          </a:p>
        </p:txBody>
      </p:sp>
      <p:sp>
        <p:nvSpPr>
          <p:cNvPr id="6" name="Rounded Rectangle 5"/>
          <p:cNvSpPr/>
          <p:nvPr/>
        </p:nvSpPr>
        <p:spPr>
          <a:xfrm>
            <a:off x="5080000" y="4452938"/>
            <a:ext cx="19304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t" anchorCtr="0"/>
          <a:lstStyle/>
          <a:p>
            <a:pPr algn="ctr"/>
            <a:r>
              <a:rPr lang="en-US" dirty="0" smtClean="0"/>
              <a:t>Agents</a:t>
            </a:r>
            <a:endParaRPr lang="en-US" dirty="0"/>
          </a:p>
        </p:txBody>
      </p:sp>
      <p:sp>
        <p:nvSpPr>
          <p:cNvPr id="7" name="Rounded Rectangle 6"/>
          <p:cNvSpPr/>
          <p:nvPr/>
        </p:nvSpPr>
        <p:spPr>
          <a:xfrm>
            <a:off x="8636000" y="2057401"/>
            <a:ext cx="19304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Scheduler</a:t>
            </a:r>
            <a:endParaRPr lang="en-US" dirty="0"/>
          </a:p>
        </p:txBody>
      </p:sp>
      <p:grpSp>
        <p:nvGrpSpPr>
          <p:cNvPr id="5" name="Group 4"/>
          <p:cNvGrpSpPr/>
          <p:nvPr/>
        </p:nvGrpSpPr>
        <p:grpSpPr>
          <a:xfrm>
            <a:off x="1828634" y="2538352"/>
            <a:ext cx="1524333" cy="764476"/>
            <a:chOff x="3048000" y="2247899"/>
            <a:chExt cx="1143250" cy="764476"/>
          </a:xfrm>
        </p:grpSpPr>
        <p:sp>
          <p:nvSpPr>
            <p:cNvPr id="9" name="Rounded Rectangle 8"/>
            <p:cNvSpPr/>
            <p:nvPr/>
          </p:nvSpPr>
          <p:spPr>
            <a:xfrm>
              <a:off x="3048000" y="2247899"/>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1" name="Rounded Rectangle 10"/>
            <p:cNvSpPr/>
            <p:nvPr/>
          </p:nvSpPr>
          <p:spPr>
            <a:xfrm>
              <a:off x="3184663" y="235032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2" name="Rounded Rectangle 11"/>
            <p:cNvSpPr/>
            <p:nvPr/>
          </p:nvSpPr>
          <p:spPr>
            <a:xfrm>
              <a:off x="3313563" y="247897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Action</a:t>
              </a:r>
              <a:endParaRPr lang="en-US" dirty="0"/>
            </a:p>
          </p:txBody>
        </p:sp>
      </p:grpSp>
      <p:grpSp>
        <p:nvGrpSpPr>
          <p:cNvPr id="14" name="Group 13"/>
          <p:cNvGrpSpPr/>
          <p:nvPr/>
        </p:nvGrpSpPr>
        <p:grpSpPr>
          <a:xfrm>
            <a:off x="5277327" y="4983862"/>
            <a:ext cx="1524333" cy="764476"/>
            <a:chOff x="3048000" y="2247899"/>
            <a:chExt cx="1143250" cy="764476"/>
          </a:xfrm>
        </p:grpSpPr>
        <p:sp>
          <p:nvSpPr>
            <p:cNvPr id="15" name="Rounded Rectangle 14"/>
            <p:cNvSpPr/>
            <p:nvPr/>
          </p:nvSpPr>
          <p:spPr>
            <a:xfrm>
              <a:off x="3048000" y="2247899"/>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6" name="Rounded Rectangle 15"/>
            <p:cNvSpPr/>
            <p:nvPr/>
          </p:nvSpPr>
          <p:spPr>
            <a:xfrm>
              <a:off x="3184663" y="235032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7" name="Rounded Rectangle 16"/>
            <p:cNvSpPr/>
            <p:nvPr/>
          </p:nvSpPr>
          <p:spPr>
            <a:xfrm>
              <a:off x="3313563" y="247897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Agent</a:t>
              </a:r>
              <a:endParaRPr lang="en-US" dirty="0"/>
            </a:p>
          </p:txBody>
        </p:sp>
      </p:grpSp>
      <p:cxnSp>
        <p:nvCxnSpPr>
          <p:cNvPr id="18" name="Straight Arrow Connector 17"/>
          <p:cNvCxnSpPr/>
          <p:nvPr/>
        </p:nvCxnSpPr>
        <p:spPr>
          <a:xfrm flipH="1">
            <a:off x="3556000" y="2293114"/>
            <a:ext cx="5080001" cy="53"/>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30" name="Straight Arrow Connector 29"/>
          <p:cNvCxnSpPr/>
          <p:nvPr/>
        </p:nvCxnSpPr>
        <p:spPr>
          <a:xfrm flipH="1">
            <a:off x="3556000" y="2764538"/>
            <a:ext cx="5080001" cy="32"/>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33" name="Straight Arrow Connector 32"/>
          <p:cNvCxnSpPr/>
          <p:nvPr/>
        </p:nvCxnSpPr>
        <p:spPr>
          <a:xfrm flipH="1">
            <a:off x="3556000" y="3236089"/>
            <a:ext cx="5080001" cy="10"/>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40" name="Curved Connector 39"/>
          <p:cNvCxnSpPr/>
          <p:nvPr/>
        </p:nvCxnSpPr>
        <p:spPr>
          <a:xfrm rot="10800000">
            <a:off x="3073337" y="3471866"/>
            <a:ext cx="2006665" cy="1334756"/>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46" name="Curved Connector 45"/>
          <p:cNvCxnSpPr/>
          <p:nvPr/>
        </p:nvCxnSpPr>
        <p:spPr>
          <a:xfrm rot="16200000" flipH="1">
            <a:off x="2573192" y="3006937"/>
            <a:ext cx="2041878" cy="2971737"/>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49" name="Curved Connector 48"/>
          <p:cNvCxnSpPr>
            <a:endCxn id="6" idx="3"/>
          </p:cNvCxnSpPr>
          <p:nvPr/>
        </p:nvCxnSpPr>
        <p:spPr>
          <a:xfrm rot="10800000" flipV="1">
            <a:off x="7010400" y="3236089"/>
            <a:ext cx="1625600" cy="1924080"/>
          </a:xfrm>
          <a:prstGeom prst="curvedConnector3">
            <a:avLst>
              <a:gd name="adj1" fmla="val 50000"/>
            </a:avLst>
          </a:prstGeom>
          <a:ln>
            <a:tailEnd type="stealth" w="lg" len="lg"/>
          </a:ln>
        </p:spPr>
        <p:style>
          <a:lnRef idx="1">
            <a:schemeClr val="dk1"/>
          </a:lnRef>
          <a:fillRef idx="2">
            <a:schemeClr val="dk1"/>
          </a:fillRef>
          <a:effectRef idx="1">
            <a:schemeClr val="dk1"/>
          </a:effectRef>
          <a:fontRef idx="minor">
            <a:schemeClr val="dk1"/>
          </a:fontRef>
        </p:style>
      </p:cxnSp>
      <p:cxnSp>
        <p:nvCxnSpPr>
          <p:cNvPr id="66" name="Curved Connector 65"/>
          <p:cNvCxnSpPr/>
          <p:nvPr/>
        </p:nvCxnSpPr>
        <p:spPr>
          <a:xfrm rot="16200000" flipH="1">
            <a:off x="2714836" y="2865293"/>
            <a:ext cx="2672990" cy="3886137"/>
          </a:xfrm>
          <a:prstGeom prst="curvedConnector2">
            <a:avLst/>
          </a:prstGeom>
          <a:ln>
            <a:headEnd type="none" w="med" len="med"/>
            <a:tailEnd type="none" w="med" len="med"/>
          </a:ln>
        </p:spPr>
        <p:style>
          <a:lnRef idx="1">
            <a:schemeClr val="dk1"/>
          </a:lnRef>
          <a:fillRef idx="2">
            <a:schemeClr val="dk1"/>
          </a:fillRef>
          <a:effectRef idx="1">
            <a:schemeClr val="dk1"/>
          </a:effectRef>
          <a:fontRef idx="minor">
            <a:schemeClr val="dk1"/>
          </a:fontRef>
        </p:style>
      </p:cxnSp>
      <p:cxnSp>
        <p:nvCxnSpPr>
          <p:cNvPr id="70" name="Curved Connector 69"/>
          <p:cNvCxnSpPr>
            <a:endCxn id="7" idx="2"/>
          </p:cNvCxnSpPr>
          <p:nvPr/>
        </p:nvCxnSpPr>
        <p:spPr>
          <a:xfrm flipV="1">
            <a:off x="6055360" y="3471864"/>
            <a:ext cx="3545841" cy="2672993"/>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80" name="Straight Arrow Connector 79"/>
          <p:cNvCxnSpPr/>
          <p:nvPr/>
        </p:nvCxnSpPr>
        <p:spPr>
          <a:xfrm>
            <a:off x="5977202" y="6146800"/>
            <a:ext cx="101865" cy="0"/>
          </a:xfrm>
          <a:prstGeom prst="straightConnector1">
            <a:avLst/>
          </a:prstGeom>
          <a:solidFill>
            <a:schemeClr val="bg1">
              <a:lumMod val="95000"/>
            </a:schemeClr>
          </a:solidFill>
          <a:ln>
            <a:headEnd type="none" w="med" len="med"/>
            <a:tailEnd type="none" w="med" len="med"/>
          </a:ln>
        </p:spPr>
        <p:style>
          <a:lnRef idx="1">
            <a:schemeClr val="dk1"/>
          </a:lnRef>
          <a:fillRef idx="2">
            <a:schemeClr val="dk1"/>
          </a:fillRef>
          <a:effectRef idx="1">
            <a:schemeClr val="dk1"/>
          </a:effectRef>
          <a:fontRef idx="minor">
            <a:schemeClr val="dk1"/>
          </a:fontRef>
        </p:style>
      </p:cxnSp>
      <p:sp>
        <p:nvSpPr>
          <p:cNvPr id="86" name="Rectangle 85"/>
          <p:cNvSpPr/>
          <p:nvPr/>
        </p:nvSpPr>
        <p:spPr>
          <a:xfrm>
            <a:off x="2133601" y="4447402"/>
            <a:ext cx="730969" cy="276999"/>
          </a:xfrm>
          <a:prstGeom prst="rect">
            <a:avLst/>
          </a:prstGeom>
          <a:solidFill>
            <a:schemeClr val="bg1"/>
          </a:solidFill>
          <a:effectLst>
            <a:softEdge rad="63500"/>
          </a:effectLst>
        </p:spPr>
        <p:txBody>
          <a:bodyPr wrap="none" lIns="0" tIns="0" rIns="0" bIns="0">
            <a:spAutoFit/>
          </a:bodyPr>
          <a:lstStyle/>
          <a:p>
            <a:r>
              <a:rPr lang="en-US" dirty="0" smtClean="0"/>
              <a:t>actions</a:t>
            </a:r>
            <a:endParaRPr lang="en-US" dirty="0"/>
          </a:p>
        </p:txBody>
      </p:sp>
      <p:sp>
        <p:nvSpPr>
          <p:cNvPr id="88" name="Rectangle 87"/>
          <p:cNvSpPr/>
          <p:nvPr/>
        </p:nvSpPr>
        <p:spPr>
          <a:xfrm>
            <a:off x="3136362" y="4114801"/>
            <a:ext cx="692497" cy="276999"/>
          </a:xfrm>
          <a:prstGeom prst="rect">
            <a:avLst/>
          </a:prstGeom>
          <a:solidFill>
            <a:schemeClr val="bg1"/>
          </a:solidFill>
          <a:effectLst>
            <a:softEdge rad="63500"/>
          </a:effectLst>
        </p:spPr>
        <p:txBody>
          <a:bodyPr wrap="none" lIns="0" tIns="0" rIns="0" bIns="0">
            <a:spAutoFit/>
          </a:bodyPr>
          <a:lstStyle/>
          <a:p>
            <a:r>
              <a:rPr lang="en-US" dirty="0" smtClean="0"/>
              <a:t>agents</a:t>
            </a:r>
            <a:endParaRPr lang="en-US" dirty="0"/>
          </a:p>
        </p:txBody>
      </p:sp>
      <p:sp>
        <p:nvSpPr>
          <p:cNvPr id="89" name="Rectangle 88"/>
          <p:cNvSpPr/>
          <p:nvPr/>
        </p:nvSpPr>
        <p:spPr>
          <a:xfrm>
            <a:off x="5656259" y="2133601"/>
            <a:ext cx="800219" cy="276999"/>
          </a:xfrm>
          <a:prstGeom prst="rect">
            <a:avLst/>
          </a:prstGeom>
          <a:solidFill>
            <a:schemeClr val="bg1"/>
          </a:solidFill>
          <a:effectLst>
            <a:softEdge rad="63500"/>
          </a:effectLst>
        </p:spPr>
        <p:txBody>
          <a:bodyPr wrap="none" lIns="91440" tIns="0" rIns="91440" bIns="0">
            <a:spAutoFit/>
          </a:bodyPr>
          <a:lstStyle/>
          <a:p>
            <a:pPr algn="ctr"/>
            <a:r>
              <a:rPr lang="en-US" dirty="0" smtClean="0"/>
              <a:t>status</a:t>
            </a:r>
            <a:endParaRPr lang="en-US" dirty="0"/>
          </a:p>
        </p:txBody>
      </p:sp>
      <p:sp>
        <p:nvSpPr>
          <p:cNvPr id="90" name="Rectangle 89"/>
          <p:cNvSpPr/>
          <p:nvPr/>
        </p:nvSpPr>
        <p:spPr>
          <a:xfrm>
            <a:off x="5370506" y="2590801"/>
            <a:ext cx="1364476" cy="276999"/>
          </a:xfrm>
          <a:prstGeom prst="rect">
            <a:avLst/>
          </a:prstGeom>
          <a:solidFill>
            <a:schemeClr val="bg1"/>
          </a:solidFill>
          <a:effectLst>
            <a:softEdge rad="63500"/>
          </a:effectLst>
        </p:spPr>
        <p:txBody>
          <a:bodyPr wrap="none" lIns="91440" tIns="0" rIns="91440" bIns="0">
            <a:spAutoFit/>
          </a:bodyPr>
          <a:lstStyle/>
          <a:p>
            <a:pPr algn="ctr"/>
            <a:r>
              <a:rPr lang="en-US" dirty="0"/>
              <a:t>a</a:t>
            </a:r>
            <a:r>
              <a:rPr lang="en-US" dirty="0" smtClean="0"/>
              <a:t>ssignment</a:t>
            </a:r>
            <a:endParaRPr lang="en-US" dirty="0"/>
          </a:p>
        </p:txBody>
      </p:sp>
      <p:sp>
        <p:nvSpPr>
          <p:cNvPr id="91" name="Rectangle 90"/>
          <p:cNvSpPr/>
          <p:nvPr/>
        </p:nvSpPr>
        <p:spPr>
          <a:xfrm>
            <a:off x="5399215" y="3067176"/>
            <a:ext cx="1304588" cy="276999"/>
          </a:xfrm>
          <a:prstGeom prst="rect">
            <a:avLst/>
          </a:prstGeom>
          <a:solidFill>
            <a:schemeClr val="bg1"/>
          </a:solidFill>
          <a:effectLst>
            <a:softEdge rad="63500"/>
          </a:effectLst>
        </p:spPr>
        <p:txBody>
          <a:bodyPr wrap="none" lIns="91440" tIns="0" rIns="91440" bIns="0">
            <a:spAutoFit/>
          </a:bodyPr>
          <a:lstStyle/>
          <a:p>
            <a:pPr algn="ctr"/>
            <a:r>
              <a:rPr lang="en-US" dirty="0" err="1" smtClean="0"/>
              <a:t>globalTime</a:t>
            </a:r>
            <a:endParaRPr lang="en-US" dirty="0"/>
          </a:p>
        </p:txBody>
      </p:sp>
      <p:sp>
        <p:nvSpPr>
          <p:cNvPr id="93" name="Rounded Rectangular Callout 92"/>
          <p:cNvSpPr/>
          <p:nvPr/>
        </p:nvSpPr>
        <p:spPr>
          <a:xfrm>
            <a:off x="838200" y="152399"/>
            <a:ext cx="9372600" cy="4239400"/>
          </a:xfrm>
          <a:prstGeom prst="wedgeRoundRectCallout">
            <a:avLst>
              <a:gd name="adj1" fmla="val -6223"/>
              <a:gd name="adj2" fmla="val 62866"/>
              <a:gd name="adj3" fmla="val 16667"/>
            </a:avLst>
          </a:prstGeom>
        </p:spPr>
        <p:style>
          <a:lnRef idx="1">
            <a:schemeClr val="accent3"/>
          </a:lnRef>
          <a:fillRef idx="2">
            <a:schemeClr val="accent3"/>
          </a:fillRef>
          <a:effectRef idx="1">
            <a:schemeClr val="accent3"/>
          </a:effectRef>
          <a:fontRef idx="minor">
            <a:schemeClr val="dk1"/>
          </a:fontRef>
        </p:style>
        <p:txBody>
          <a:bodyPr rtlCol="0" anchor="t" anchorCtr="0"/>
          <a:lstStyle/>
          <a:p>
            <a:pPr marL="233363"/>
            <a:r>
              <a:rPr lang="en-US" dirty="0" smtClean="0"/>
              <a:t>The agent dynamically updates queue metrics based on </a:t>
            </a:r>
            <a:br>
              <a:rPr lang="en-US" dirty="0" smtClean="0"/>
            </a:br>
            <a:r>
              <a:rPr lang="en-US" dirty="0" smtClean="0"/>
              <a:t>the shuffling, performance, and completion of actions:</a:t>
            </a:r>
            <a:br>
              <a:rPr lang="en-US" dirty="0" smtClean="0"/>
            </a:br>
            <a:endParaRPr lang="en-US" sz="800" dirty="0" smtClean="0"/>
          </a:p>
          <a:p>
            <a:pPr marL="457200" indent="-223838">
              <a:buFont typeface="Arial" panose="020B0604020202020204" pitchFamily="34" charset="0"/>
              <a:buChar char="•"/>
            </a:pPr>
            <a:r>
              <a:rPr lang="en-US" dirty="0" smtClean="0"/>
              <a:t>Cardinality of active and inactive priority queues</a:t>
            </a:r>
          </a:p>
          <a:p>
            <a:pPr marL="457200" indent="-223838">
              <a:buFont typeface="Arial" panose="020B0604020202020204" pitchFamily="34" charset="0"/>
              <a:buChar char="•"/>
            </a:pPr>
            <a:r>
              <a:rPr lang="en-US" dirty="0" smtClean="0"/>
              <a:t>Minimum priority active actions</a:t>
            </a:r>
          </a:p>
          <a:p>
            <a:pPr marL="457200" indent="-223838">
              <a:buFont typeface="Arial" panose="020B0604020202020204" pitchFamily="34" charset="0"/>
              <a:buChar char="•"/>
            </a:pPr>
            <a:r>
              <a:rPr lang="en-US" dirty="0" smtClean="0"/>
              <a:t>Maximum priority inactive actions</a:t>
            </a:r>
            <a:endParaRPr lang="en-US" dirty="0"/>
          </a:p>
        </p:txBody>
      </p:sp>
      <p:pic>
        <p:nvPicPr>
          <p:cNvPr id="3074" name="Picture 2"/>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6568" t="36084"/>
          <a:stretch/>
        </p:blipFill>
        <p:spPr bwMode="auto">
          <a:xfrm>
            <a:off x="2256234" y="1945758"/>
            <a:ext cx="7543800" cy="23214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fld id="{69F4CDD8-5FBC-4525-AA90-5E51E945CAE5}" type="slidenum">
              <a:rPr lang="en-US" smtClean="0"/>
              <a:t>20</a:t>
            </a:fld>
            <a:endParaRPr lang="en-US"/>
          </a:p>
        </p:txBody>
      </p:sp>
    </p:spTree>
    <p:extLst>
      <p:ext uri="{BB962C8B-B14F-4D97-AF65-F5344CB8AC3E}">
        <p14:creationId xmlns:p14="http://schemas.microsoft.com/office/powerpoint/2010/main" val="2392529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dirty="0" smtClean="0">
                <a:latin typeface="Calibri Light" panose="020F0302020204030204" pitchFamily="34" charset="0"/>
                <a:cs typeface="Calibri Light" panose="020F0302020204030204" pitchFamily="34" charset="0"/>
              </a:rPr>
              <a:t>Formal Model</a:t>
            </a:r>
            <a:endParaRPr lang="en-US" sz="4400" b="1" dirty="0">
              <a:latin typeface="Calibri Light" panose="020F0302020204030204" pitchFamily="34" charset="0"/>
              <a:cs typeface="Calibri Light" panose="020F0302020204030204" pitchFamily="34" charset="0"/>
            </a:endParaRPr>
          </a:p>
        </p:txBody>
      </p:sp>
      <p:sp>
        <p:nvSpPr>
          <p:cNvPr id="4" name="Rounded Rectangle 3"/>
          <p:cNvSpPr/>
          <p:nvPr/>
        </p:nvSpPr>
        <p:spPr>
          <a:xfrm>
            <a:off x="1625600" y="2057402"/>
            <a:ext cx="19304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t" anchorCtr="0"/>
          <a:lstStyle/>
          <a:p>
            <a:pPr algn="ctr"/>
            <a:r>
              <a:rPr lang="en-US" dirty="0" smtClean="0"/>
              <a:t>Actions</a:t>
            </a:r>
            <a:endParaRPr lang="en-US" dirty="0"/>
          </a:p>
        </p:txBody>
      </p:sp>
      <p:sp>
        <p:nvSpPr>
          <p:cNvPr id="6" name="Rounded Rectangle 5"/>
          <p:cNvSpPr/>
          <p:nvPr/>
        </p:nvSpPr>
        <p:spPr>
          <a:xfrm>
            <a:off x="5080000" y="4452938"/>
            <a:ext cx="19304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t" anchorCtr="0"/>
          <a:lstStyle/>
          <a:p>
            <a:pPr algn="ctr"/>
            <a:r>
              <a:rPr lang="en-US" dirty="0" smtClean="0"/>
              <a:t>Agents</a:t>
            </a:r>
            <a:endParaRPr lang="en-US" dirty="0"/>
          </a:p>
        </p:txBody>
      </p:sp>
      <p:sp>
        <p:nvSpPr>
          <p:cNvPr id="7" name="Rounded Rectangle 6"/>
          <p:cNvSpPr/>
          <p:nvPr/>
        </p:nvSpPr>
        <p:spPr>
          <a:xfrm>
            <a:off x="8636000" y="2057401"/>
            <a:ext cx="1930400" cy="1414463"/>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Scheduler</a:t>
            </a:r>
            <a:endParaRPr lang="en-US" dirty="0"/>
          </a:p>
        </p:txBody>
      </p:sp>
      <p:grpSp>
        <p:nvGrpSpPr>
          <p:cNvPr id="5" name="Group 4"/>
          <p:cNvGrpSpPr/>
          <p:nvPr/>
        </p:nvGrpSpPr>
        <p:grpSpPr>
          <a:xfrm>
            <a:off x="1828634" y="2538352"/>
            <a:ext cx="1524333" cy="764476"/>
            <a:chOff x="3048000" y="2247899"/>
            <a:chExt cx="1143250" cy="764476"/>
          </a:xfrm>
        </p:grpSpPr>
        <p:sp>
          <p:nvSpPr>
            <p:cNvPr id="9" name="Rounded Rectangle 8"/>
            <p:cNvSpPr/>
            <p:nvPr/>
          </p:nvSpPr>
          <p:spPr>
            <a:xfrm>
              <a:off x="3048000" y="2247899"/>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1" name="Rounded Rectangle 10"/>
            <p:cNvSpPr/>
            <p:nvPr/>
          </p:nvSpPr>
          <p:spPr>
            <a:xfrm>
              <a:off x="3184663" y="235032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2" name="Rounded Rectangle 11"/>
            <p:cNvSpPr/>
            <p:nvPr/>
          </p:nvSpPr>
          <p:spPr>
            <a:xfrm>
              <a:off x="3313563" y="247897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Action</a:t>
              </a:r>
              <a:endParaRPr lang="en-US" dirty="0"/>
            </a:p>
          </p:txBody>
        </p:sp>
      </p:grpSp>
      <p:grpSp>
        <p:nvGrpSpPr>
          <p:cNvPr id="14" name="Group 13"/>
          <p:cNvGrpSpPr/>
          <p:nvPr/>
        </p:nvGrpSpPr>
        <p:grpSpPr>
          <a:xfrm>
            <a:off x="5277327" y="4983862"/>
            <a:ext cx="1524333" cy="764476"/>
            <a:chOff x="3048000" y="2247899"/>
            <a:chExt cx="1143250" cy="764476"/>
          </a:xfrm>
        </p:grpSpPr>
        <p:sp>
          <p:nvSpPr>
            <p:cNvPr id="15" name="Rounded Rectangle 14"/>
            <p:cNvSpPr/>
            <p:nvPr/>
          </p:nvSpPr>
          <p:spPr>
            <a:xfrm>
              <a:off x="3048000" y="2247899"/>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6" name="Rounded Rectangle 15"/>
            <p:cNvSpPr/>
            <p:nvPr/>
          </p:nvSpPr>
          <p:spPr>
            <a:xfrm>
              <a:off x="3184663" y="235032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17" name="Rounded Rectangle 16"/>
            <p:cNvSpPr/>
            <p:nvPr/>
          </p:nvSpPr>
          <p:spPr>
            <a:xfrm>
              <a:off x="3313563" y="2478975"/>
              <a:ext cx="877687" cy="533400"/>
            </a:xfrm>
            <a:prstGeom prst="roundRect">
              <a:avLst/>
            </a:prstGeom>
            <a:solidFill>
              <a:schemeClr val="bg1">
                <a:lumMod val="95000"/>
              </a:schemeClr>
            </a:soli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Agent</a:t>
              </a:r>
              <a:endParaRPr lang="en-US" dirty="0"/>
            </a:p>
          </p:txBody>
        </p:sp>
      </p:grpSp>
      <p:cxnSp>
        <p:nvCxnSpPr>
          <p:cNvPr id="18" name="Straight Arrow Connector 17"/>
          <p:cNvCxnSpPr/>
          <p:nvPr/>
        </p:nvCxnSpPr>
        <p:spPr>
          <a:xfrm flipH="1">
            <a:off x="3556000" y="2293114"/>
            <a:ext cx="5080001" cy="53"/>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30" name="Straight Arrow Connector 29"/>
          <p:cNvCxnSpPr/>
          <p:nvPr/>
        </p:nvCxnSpPr>
        <p:spPr>
          <a:xfrm flipH="1">
            <a:off x="3556000" y="2764538"/>
            <a:ext cx="5080001" cy="32"/>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33" name="Straight Arrow Connector 32"/>
          <p:cNvCxnSpPr/>
          <p:nvPr/>
        </p:nvCxnSpPr>
        <p:spPr>
          <a:xfrm flipH="1">
            <a:off x="3556000" y="3236089"/>
            <a:ext cx="5080001" cy="10"/>
          </a:xfrm>
          <a:prstGeom prst="straightConnector1">
            <a:avLst/>
          </a:prstGeom>
          <a:solidFill>
            <a:schemeClr val="bg1">
              <a:lumMod val="95000"/>
            </a:schemeClr>
          </a:solidFill>
          <a:ln>
            <a:tailEnd type="stealth" w="lg" len="lg"/>
          </a:ln>
        </p:spPr>
        <p:style>
          <a:lnRef idx="1">
            <a:schemeClr val="dk1"/>
          </a:lnRef>
          <a:fillRef idx="2">
            <a:schemeClr val="dk1"/>
          </a:fillRef>
          <a:effectRef idx="1">
            <a:schemeClr val="dk1"/>
          </a:effectRef>
          <a:fontRef idx="minor">
            <a:schemeClr val="dk1"/>
          </a:fontRef>
        </p:style>
      </p:cxnSp>
      <p:cxnSp>
        <p:nvCxnSpPr>
          <p:cNvPr id="40" name="Curved Connector 39"/>
          <p:cNvCxnSpPr/>
          <p:nvPr/>
        </p:nvCxnSpPr>
        <p:spPr>
          <a:xfrm rot="10800000">
            <a:off x="3073337" y="3471866"/>
            <a:ext cx="2006665" cy="1334756"/>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46" name="Curved Connector 45"/>
          <p:cNvCxnSpPr/>
          <p:nvPr/>
        </p:nvCxnSpPr>
        <p:spPr>
          <a:xfrm rot="16200000" flipH="1">
            <a:off x="2573192" y="3006937"/>
            <a:ext cx="2041878" cy="2971737"/>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49" name="Curved Connector 48"/>
          <p:cNvCxnSpPr>
            <a:endCxn id="6" idx="3"/>
          </p:cNvCxnSpPr>
          <p:nvPr/>
        </p:nvCxnSpPr>
        <p:spPr>
          <a:xfrm rot="10800000" flipV="1">
            <a:off x="7010400" y="3236089"/>
            <a:ext cx="1625600" cy="1924080"/>
          </a:xfrm>
          <a:prstGeom prst="curvedConnector3">
            <a:avLst>
              <a:gd name="adj1" fmla="val 50000"/>
            </a:avLst>
          </a:prstGeom>
          <a:ln>
            <a:tailEnd type="stealth" w="lg" len="lg"/>
          </a:ln>
        </p:spPr>
        <p:style>
          <a:lnRef idx="1">
            <a:schemeClr val="dk1"/>
          </a:lnRef>
          <a:fillRef idx="2">
            <a:schemeClr val="dk1"/>
          </a:fillRef>
          <a:effectRef idx="1">
            <a:schemeClr val="dk1"/>
          </a:effectRef>
          <a:fontRef idx="minor">
            <a:schemeClr val="dk1"/>
          </a:fontRef>
        </p:style>
      </p:cxnSp>
      <p:cxnSp>
        <p:nvCxnSpPr>
          <p:cNvPr id="66" name="Curved Connector 65"/>
          <p:cNvCxnSpPr/>
          <p:nvPr/>
        </p:nvCxnSpPr>
        <p:spPr>
          <a:xfrm rot="16200000" flipH="1">
            <a:off x="2714836" y="2865293"/>
            <a:ext cx="2672990" cy="3886137"/>
          </a:xfrm>
          <a:prstGeom prst="curvedConnector2">
            <a:avLst/>
          </a:prstGeom>
          <a:ln>
            <a:headEnd type="none" w="med" len="med"/>
            <a:tailEnd type="none" w="med" len="med"/>
          </a:ln>
        </p:spPr>
        <p:style>
          <a:lnRef idx="1">
            <a:schemeClr val="dk1"/>
          </a:lnRef>
          <a:fillRef idx="2">
            <a:schemeClr val="dk1"/>
          </a:fillRef>
          <a:effectRef idx="1">
            <a:schemeClr val="dk1"/>
          </a:effectRef>
          <a:fontRef idx="minor">
            <a:schemeClr val="dk1"/>
          </a:fontRef>
        </p:style>
      </p:cxnSp>
      <p:cxnSp>
        <p:nvCxnSpPr>
          <p:cNvPr id="70" name="Curved Connector 69"/>
          <p:cNvCxnSpPr>
            <a:endCxn id="7" idx="2"/>
          </p:cNvCxnSpPr>
          <p:nvPr/>
        </p:nvCxnSpPr>
        <p:spPr>
          <a:xfrm flipV="1">
            <a:off x="6055360" y="3471864"/>
            <a:ext cx="3545841" cy="2672993"/>
          </a:xfrm>
          <a:prstGeom prst="curvedConnector2">
            <a:avLst/>
          </a:prstGeom>
          <a:ln>
            <a:tailEnd type="stealth" w="lg" len="lg"/>
          </a:ln>
        </p:spPr>
        <p:style>
          <a:lnRef idx="1">
            <a:schemeClr val="dk1"/>
          </a:lnRef>
          <a:fillRef idx="2">
            <a:schemeClr val="dk1"/>
          </a:fillRef>
          <a:effectRef idx="1">
            <a:schemeClr val="dk1"/>
          </a:effectRef>
          <a:fontRef idx="minor">
            <a:schemeClr val="dk1"/>
          </a:fontRef>
        </p:style>
      </p:cxnSp>
      <p:cxnSp>
        <p:nvCxnSpPr>
          <p:cNvPr id="80" name="Straight Arrow Connector 79"/>
          <p:cNvCxnSpPr/>
          <p:nvPr/>
        </p:nvCxnSpPr>
        <p:spPr>
          <a:xfrm>
            <a:off x="5977202" y="6146800"/>
            <a:ext cx="101865" cy="0"/>
          </a:xfrm>
          <a:prstGeom prst="straightConnector1">
            <a:avLst/>
          </a:prstGeom>
          <a:solidFill>
            <a:schemeClr val="bg1">
              <a:lumMod val="95000"/>
            </a:schemeClr>
          </a:solidFill>
          <a:ln>
            <a:headEnd type="none" w="med" len="med"/>
            <a:tailEnd type="none" w="med" len="med"/>
          </a:ln>
        </p:spPr>
        <p:style>
          <a:lnRef idx="1">
            <a:schemeClr val="dk1"/>
          </a:lnRef>
          <a:fillRef idx="2">
            <a:schemeClr val="dk1"/>
          </a:fillRef>
          <a:effectRef idx="1">
            <a:schemeClr val="dk1"/>
          </a:effectRef>
          <a:fontRef idx="minor">
            <a:schemeClr val="dk1"/>
          </a:fontRef>
        </p:style>
      </p:cxnSp>
      <p:sp>
        <p:nvSpPr>
          <p:cNvPr id="86" name="Rectangle 85"/>
          <p:cNvSpPr/>
          <p:nvPr/>
        </p:nvSpPr>
        <p:spPr>
          <a:xfrm>
            <a:off x="2133601" y="4447402"/>
            <a:ext cx="730969" cy="276999"/>
          </a:xfrm>
          <a:prstGeom prst="rect">
            <a:avLst/>
          </a:prstGeom>
          <a:solidFill>
            <a:schemeClr val="bg1"/>
          </a:solidFill>
          <a:effectLst>
            <a:softEdge rad="63500"/>
          </a:effectLst>
        </p:spPr>
        <p:txBody>
          <a:bodyPr wrap="none" lIns="0" tIns="0" rIns="0" bIns="0">
            <a:spAutoFit/>
          </a:bodyPr>
          <a:lstStyle/>
          <a:p>
            <a:r>
              <a:rPr lang="en-US" dirty="0" smtClean="0"/>
              <a:t>actions</a:t>
            </a:r>
            <a:endParaRPr lang="en-US" dirty="0"/>
          </a:p>
        </p:txBody>
      </p:sp>
      <p:sp>
        <p:nvSpPr>
          <p:cNvPr id="88" name="Rectangle 87"/>
          <p:cNvSpPr/>
          <p:nvPr/>
        </p:nvSpPr>
        <p:spPr>
          <a:xfrm>
            <a:off x="3136362" y="4114801"/>
            <a:ext cx="692497" cy="276999"/>
          </a:xfrm>
          <a:prstGeom prst="rect">
            <a:avLst/>
          </a:prstGeom>
          <a:solidFill>
            <a:schemeClr val="bg1"/>
          </a:solidFill>
          <a:effectLst>
            <a:softEdge rad="63500"/>
          </a:effectLst>
        </p:spPr>
        <p:txBody>
          <a:bodyPr wrap="none" lIns="0" tIns="0" rIns="0" bIns="0">
            <a:spAutoFit/>
          </a:bodyPr>
          <a:lstStyle/>
          <a:p>
            <a:r>
              <a:rPr lang="en-US" dirty="0" smtClean="0"/>
              <a:t>agents</a:t>
            </a:r>
            <a:endParaRPr lang="en-US" dirty="0"/>
          </a:p>
        </p:txBody>
      </p:sp>
      <p:sp>
        <p:nvSpPr>
          <p:cNvPr id="89" name="Rectangle 88"/>
          <p:cNvSpPr/>
          <p:nvPr/>
        </p:nvSpPr>
        <p:spPr>
          <a:xfrm>
            <a:off x="5037501" y="2133601"/>
            <a:ext cx="2037737" cy="276999"/>
          </a:xfrm>
          <a:prstGeom prst="rect">
            <a:avLst/>
          </a:prstGeom>
          <a:solidFill>
            <a:schemeClr val="bg1"/>
          </a:solidFill>
          <a:effectLst>
            <a:softEdge rad="63500"/>
          </a:effectLst>
        </p:spPr>
        <p:txBody>
          <a:bodyPr wrap="none" lIns="91440" tIns="0" rIns="91440" bIns="0">
            <a:spAutoFit/>
          </a:bodyPr>
          <a:lstStyle/>
          <a:p>
            <a:pPr algn="ctr"/>
            <a:r>
              <a:rPr lang="en-US" dirty="0" smtClean="0"/>
              <a:t>status = assigning</a:t>
            </a:r>
            <a:endParaRPr lang="en-US" dirty="0"/>
          </a:p>
        </p:txBody>
      </p:sp>
      <p:sp>
        <p:nvSpPr>
          <p:cNvPr id="90" name="Rectangle 89"/>
          <p:cNvSpPr/>
          <p:nvPr/>
        </p:nvSpPr>
        <p:spPr>
          <a:xfrm>
            <a:off x="5370506" y="2590801"/>
            <a:ext cx="1364476" cy="276999"/>
          </a:xfrm>
          <a:prstGeom prst="rect">
            <a:avLst/>
          </a:prstGeom>
          <a:solidFill>
            <a:schemeClr val="bg1"/>
          </a:solidFill>
          <a:effectLst>
            <a:softEdge rad="63500"/>
          </a:effectLst>
        </p:spPr>
        <p:txBody>
          <a:bodyPr wrap="none" lIns="91440" tIns="0" rIns="91440" bIns="0">
            <a:spAutoFit/>
          </a:bodyPr>
          <a:lstStyle/>
          <a:p>
            <a:pPr algn="ctr"/>
            <a:r>
              <a:rPr lang="en-US" dirty="0"/>
              <a:t>a</a:t>
            </a:r>
            <a:r>
              <a:rPr lang="en-US" dirty="0" smtClean="0"/>
              <a:t>ssignment</a:t>
            </a:r>
            <a:endParaRPr lang="en-US" dirty="0"/>
          </a:p>
        </p:txBody>
      </p:sp>
      <p:sp>
        <p:nvSpPr>
          <p:cNvPr id="91" name="Rectangle 90"/>
          <p:cNvSpPr/>
          <p:nvPr/>
        </p:nvSpPr>
        <p:spPr>
          <a:xfrm>
            <a:off x="5399215" y="3067176"/>
            <a:ext cx="1304588" cy="276999"/>
          </a:xfrm>
          <a:prstGeom prst="rect">
            <a:avLst/>
          </a:prstGeom>
          <a:solidFill>
            <a:schemeClr val="bg1"/>
          </a:solidFill>
          <a:effectLst>
            <a:softEdge rad="63500"/>
          </a:effectLst>
        </p:spPr>
        <p:txBody>
          <a:bodyPr wrap="none" lIns="91440" tIns="0" rIns="91440" bIns="0">
            <a:spAutoFit/>
          </a:bodyPr>
          <a:lstStyle/>
          <a:p>
            <a:pPr algn="ctr"/>
            <a:r>
              <a:rPr lang="en-US" dirty="0" err="1" smtClean="0"/>
              <a:t>globalTime</a:t>
            </a:r>
            <a:endParaRPr lang="en-US" dirty="0"/>
          </a:p>
        </p:txBody>
      </p:sp>
      <p:sp>
        <p:nvSpPr>
          <p:cNvPr id="93" name="Rounded Rectangular Callout 92"/>
          <p:cNvSpPr/>
          <p:nvPr/>
        </p:nvSpPr>
        <p:spPr>
          <a:xfrm>
            <a:off x="1422400" y="3733800"/>
            <a:ext cx="4633968" cy="1137336"/>
          </a:xfrm>
          <a:prstGeom prst="wedgeRoundRectCallout">
            <a:avLst>
              <a:gd name="adj1" fmla="val 104496"/>
              <a:gd name="adj2" fmla="val -129055"/>
              <a:gd name="adj3" fmla="val 16667"/>
            </a:avLst>
          </a:prstGeom>
        </p:spPr>
        <p:style>
          <a:lnRef idx="1">
            <a:schemeClr val="accent3"/>
          </a:lnRef>
          <a:fillRef idx="2">
            <a:schemeClr val="accent3"/>
          </a:fillRef>
          <a:effectRef idx="1">
            <a:schemeClr val="accent3"/>
          </a:effectRef>
          <a:fontRef idx="minor">
            <a:schemeClr val="dk1"/>
          </a:fontRef>
        </p:style>
        <p:txBody>
          <a:bodyPr rtlCol="0" anchor="t" anchorCtr="0"/>
          <a:lstStyle/>
          <a:p>
            <a:pPr algn="ctr"/>
            <a:r>
              <a:rPr lang="en-US" dirty="0" smtClean="0"/>
              <a:t>The process restarts with the scheduler assigning new actions based on the new </a:t>
            </a:r>
            <a:r>
              <a:rPr lang="en-US" dirty="0" err="1" smtClean="0"/>
              <a:t>globalTime</a:t>
            </a:r>
            <a:endParaRPr lang="en-US" dirty="0"/>
          </a:p>
        </p:txBody>
      </p:sp>
      <p:pic>
        <p:nvPicPr>
          <p:cNvPr id="5122" name="Picture 2" descr="http://kristiholl.net/writers-blog/wp-content/uploads/2013/08/cycl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71600" y="3810000"/>
            <a:ext cx="336720" cy="32951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endParaRPr lang="en-US" dirty="0"/>
          </a:p>
        </p:txBody>
      </p:sp>
    </p:spTree>
    <p:extLst>
      <p:ext uri="{BB962C8B-B14F-4D97-AF65-F5344CB8AC3E}">
        <p14:creationId xmlns:p14="http://schemas.microsoft.com/office/powerpoint/2010/main" val="302244640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dirty="0">
                <a:solidFill>
                  <a:srgbClr val="000000"/>
                </a:solidFill>
                <a:uFill>
                  <a:solidFill>
                    <a:srgbClr val="FFFFFF"/>
                  </a:solidFill>
                </a:uFill>
                <a:latin typeface="Calibri Light"/>
              </a:rPr>
              <a:t>Useful resources</a:t>
            </a:r>
            <a:endParaRPr lang="en-US" sz="1800" b="1" strike="noStrike" spc="-1" dirty="0">
              <a:solidFill>
                <a:srgbClr val="000000"/>
              </a:solidFill>
              <a:uFill>
                <a:solidFill>
                  <a:srgbClr val="FFFFFF"/>
                </a:solidFill>
              </a:uFill>
              <a:latin typeface="Calibri"/>
            </a:endParaRPr>
          </a:p>
        </p:txBody>
      </p:sp>
      <p:sp>
        <p:nvSpPr>
          <p:cNvPr id="116" name="TextShape 2"/>
          <p:cNvSpPr txBox="1"/>
          <p:nvPr/>
        </p:nvSpPr>
        <p:spPr>
          <a:xfrm>
            <a:off x="838080" y="1825560"/>
            <a:ext cx="10515240" cy="4350960"/>
          </a:xfrm>
          <a:prstGeom prst="rect">
            <a:avLst/>
          </a:prstGeom>
          <a:noFill/>
          <a:ln>
            <a:noFill/>
          </a:ln>
        </p:spPr>
        <p:txBody>
          <a:bodyPr/>
          <a:lstStyle/>
          <a:p>
            <a:pPr>
              <a:lnSpc>
                <a:spcPct val="100000"/>
              </a:lnSpc>
            </a:pPr>
            <a:r>
              <a:rPr lang="en-US" sz="2400" b="0" strike="noStrike" spc="-1" dirty="0" smtClean="0">
                <a:solidFill>
                  <a:srgbClr val="000000"/>
                </a:solidFill>
                <a:uFill>
                  <a:solidFill>
                    <a:srgbClr val="FFFFFF"/>
                  </a:solidFill>
                </a:uFill>
                <a:latin typeface="Calibri"/>
              </a:rPr>
              <a:t>http</a:t>
            </a:r>
            <a:r>
              <a:rPr lang="en-US" sz="2400" b="0" strike="noStrike" spc="-1" dirty="0">
                <a:solidFill>
                  <a:srgbClr val="000000"/>
                </a:solidFill>
                <a:uFill>
                  <a:solidFill>
                    <a:srgbClr val="FFFFFF"/>
                  </a:solidFill>
                </a:uFill>
                <a:latin typeface="Calibri"/>
              </a:rPr>
              <a:t>://</a:t>
            </a:r>
            <a:r>
              <a:rPr lang="en-US" sz="2400" b="0" strike="noStrike" spc="-1" dirty="0" smtClean="0">
                <a:solidFill>
                  <a:srgbClr val="000000"/>
                </a:solidFill>
                <a:uFill>
                  <a:solidFill>
                    <a:srgbClr val="FFFFFF"/>
                  </a:solidFill>
                </a:uFill>
                <a:latin typeface="Calibri"/>
              </a:rPr>
              <a:t>www.inf.fu-berlin.de/lehre/WS03/alpi/lambda.pdf</a:t>
            </a:r>
          </a:p>
          <a:p>
            <a:pPr>
              <a:lnSpc>
                <a:spcPct val="100000"/>
              </a:lnSpc>
            </a:pPr>
            <a:endParaRPr lang="en-US" sz="2400" spc="-1" dirty="0">
              <a:solidFill>
                <a:srgbClr val="000000"/>
              </a:solidFill>
              <a:uFill>
                <a:solidFill>
                  <a:srgbClr val="FFFFFF"/>
                </a:solidFill>
              </a:uFill>
              <a:latin typeface="Calibri"/>
            </a:endParaRPr>
          </a:p>
          <a:p>
            <a:pPr>
              <a:lnSpc>
                <a:spcPct val="100000"/>
              </a:lnSpc>
            </a:pPr>
            <a:r>
              <a:rPr lang="en-US" sz="2400" spc="-1" dirty="0">
                <a:solidFill>
                  <a:srgbClr val="000000"/>
                </a:solidFill>
                <a:uFill>
                  <a:solidFill>
                    <a:srgbClr val="FFFFFF"/>
                  </a:solidFill>
                </a:uFill>
                <a:latin typeface="Calibri"/>
              </a:rPr>
              <a:t>http://worrydream.com/AlligatorEggs</a:t>
            </a:r>
            <a:r>
              <a:rPr lang="en-US" sz="2400" spc="-1" dirty="0" smtClean="0">
                <a:solidFill>
                  <a:srgbClr val="000000"/>
                </a:solidFill>
                <a:uFill>
                  <a:solidFill>
                    <a:srgbClr val="FFFFFF"/>
                  </a:solidFill>
                </a:uFill>
                <a:latin typeface="Calibri"/>
              </a:rPr>
              <a:t>/</a:t>
            </a:r>
          </a:p>
          <a:p>
            <a:pPr>
              <a:lnSpc>
                <a:spcPct val="100000"/>
              </a:lnSpc>
            </a:pPr>
            <a:endParaRPr lang="en-US" sz="2400" b="0" strike="noStrike" spc="-1" dirty="0" smtClean="0">
              <a:solidFill>
                <a:srgbClr val="000000"/>
              </a:solidFill>
              <a:uFill>
                <a:solidFill>
                  <a:srgbClr val="FFFFFF"/>
                </a:solidFill>
              </a:uFill>
              <a:latin typeface="Calibri"/>
            </a:endParaRPr>
          </a:p>
          <a:p>
            <a:pPr>
              <a:lnSpc>
                <a:spcPct val="100000"/>
              </a:lnSpc>
            </a:pPr>
            <a:r>
              <a:rPr lang="en-US" sz="2400" spc="-1" dirty="0">
                <a:solidFill>
                  <a:srgbClr val="000000"/>
                </a:solidFill>
                <a:uFill>
                  <a:solidFill>
                    <a:srgbClr val="FFFFFF"/>
                  </a:solidFill>
                </a:uFill>
                <a:latin typeface="Calibri"/>
              </a:rPr>
              <a:t>https://</a:t>
            </a:r>
            <a:r>
              <a:rPr lang="en-US" sz="2400" spc="-1" dirty="0" smtClean="0">
                <a:solidFill>
                  <a:srgbClr val="000000"/>
                </a:solidFill>
                <a:uFill>
                  <a:solidFill>
                    <a:srgbClr val="FFFFFF"/>
                  </a:solidFill>
                </a:uFill>
                <a:latin typeface="Calibri"/>
              </a:rPr>
              <a:t>zeroturnaround.com/rebellabs/what-is-lambda-calculus-and-why-should-	you-care/</a:t>
            </a:r>
          </a:p>
          <a:p>
            <a:pPr>
              <a:lnSpc>
                <a:spcPct val="100000"/>
              </a:lnSpc>
            </a:pPr>
            <a:endParaRPr lang="en-US" sz="2400" spc="-1" dirty="0">
              <a:solidFill>
                <a:srgbClr val="000000"/>
              </a:solidFill>
              <a:uFill>
                <a:solidFill>
                  <a:srgbClr val="FFFFFF"/>
                </a:solidFill>
              </a:uFill>
              <a:latin typeface="Calibri"/>
            </a:endParaRPr>
          </a:p>
          <a:p>
            <a:pPr>
              <a:lnSpc>
                <a:spcPct val="100000"/>
              </a:lnSpc>
            </a:pPr>
            <a:r>
              <a:rPr lang="en-US" sz="2400" spc="-1" dirty="0">
                <a:solidFill>
                  <a:srgbClr val="000000"/>
                </a:solidFill>
                <a:uFill>
                  <a:solidFill>
                    <a:srgbClr val="FFFFFF"/>
                  </a:solidFill>
                </a:uFill>
                <a:latin typeface="Calibri"/>
              </a:rPr>
              <a:t>http://people.eecs.berkeley.edu/~gongliang13/lambda/#</a:t>
            </a:r>
            <a:r>
              <a:rPr lang="en-US" sz="2400" spc="-1" dirty="0" smtClean="0">
                <a:solidFill>
                  <a:srgbClr val="000000"/>
                </a:solidFill>
                <a:uFill>
                  <a:solidFill>
                    <a:srgbClr val="FFFFFF"/>
                  </a:solidFill>
                </a:uFill>
                <a:latin typeface="Calibri"/>
              </a:rPr>
              <a:t>firstPage</a:t>
            </a:r>
          </a:p>
          <a:p>
            <a:pPr>
              <a:lnSpc>
                <a:spcPct val="100000"/>
              </a:lnSpc>
            </a:pPr>
            <a:endParaRPr lang="en-US" sz="2400" spc="-1" dirty="0" smtClean="0">
              <a:solidFill>
                <a:srgbClr val="000000"/>
              </a:solidFill>
              <a:uFill>
                <a:solidFill>
                  <a:srgbClr val="FFFFFF"/>
                </a:solidFill>
              </a:uFill>
              <a:latin typeface="Calibri"/>
            </a:endParaRPr>
          </a:p>
          <a:p>
            <a:pPr>
              <a:lnSpc>
                <a:spcPct val="100000"/>
              </a:lnSpc>
            </a:pPr>
            <a:r>
              <a:rPr lang="en-US" sz="2400" spc="-1" dirty="0">
                <a:solidFill>
                  <a:srgbClr val="000000"/>
                </a:solidFill>
                <a:uFill>
                  <a:solidFill>
                    <a:srgbClr val="FFFFFF"/>
                  </a:solidFill>
                </a:uFill>
                <a:latin typeface="Calibri"/>
              </a:rPr>
              <a:t>https://www.cs.umd.edu/class/spring2012/cmsc330/lectures/22-lambda.pdf</a:t>
            </a:r>
          </a:p>
          <a:p>
            <a:pPr>
              <a:lnSpc>
                <a:spcPct val="100000"/>
              </a:lnSpc>
            </a:pPr>
            <a:endParaRPr lang="en-US" sz="2800" b="0" strike="noStrike" spc="-1" dirty="0">
              <a:solidFill>
                <a:srgbClr val="000000"/>
              </a:solidFill>
              <a:uFill>
                <a:solidFill>
                  <a:srgbClr val="FFFFFF"/>
                </a:solidFill>
              </a:uFill>
              <a:latin typeface="Calibri"/>
            </a:endParaRPr>
          </a:p>
          <a:p>
            <a:pPr>
              <a:lnSpc>
                <a:spcPct val="100000"/>
              </a:lnSpc>
            </a:pPr>
            <a:endParaRPr lang="en-US" sz="2800" b="0" strike="noStrike" spc="-1" dirty="0">
              <a:solidFill>
                <a:srgbClr val="000000"/>
              </a:solidFill>
              <a:uFill>
                <a:solidFill>
                  <a:srgbClr val="FFFFFF"/>
                </a:solidFill>
              </a:uFill>
              <a:latin typeface="Calibri"/>
            </a:endParaRPr>
          </a:p>
          <a:p>
            <a:pPr>
              <a:lnSpc>
                <a:spcPct val="100000"/>
              </a:lnSpc>
            </a:pPr>
            <a:endParaRPr lang="en-US" sz="2800" b="0" strike="noStrike" spc="-1" dirty="0">
              <a:solidFill>
                <a:srgbClr val="000000"/>
              </a:solidFill>
              <a:uFill>
                <a:solidFill>
                  <a:srgbClr val="FFFFFF"/>
                </a:solidFill>
              </a:uFill>
              <a:latin typeface="Calibri"/>
            </a:endParaRPr>
          </a:p>
          <a:p>
            <a:pPr>
              <a:lnSpc>
                <a:spcPct val="100000"/>
              </a:lnSpc>
            </a:pPr>
            <a:endParaRPr lang="en-US" sz="2800" b="0" strike="noStrike" spc="-1" dirty="0">
              <a:solidFill>
                <a:srgbClr val="000000"/>
              </a:solidFill>
              <a:uFill>
                <a:solidFill>
                  <a:srgbClr val="FFFFFF"/>
                </a:solidFill>
              </a:uFill>
              <a:latin typeface="Calibri"/>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dirty="0" smtClean="0">
                <a:solidFill>
                  <a:srgbClr val="000000"/>
                </a:solidFill>
                <a:uFill>
                  <a:solidFill>
                    <a:srgbClr val="FFFFFF"/>
                  </a:solidFill>
                </a:uFill>
                <a:latin typeface="Calibri Light"/>
              </a:rPr>
              <a:t>Bonus Slides</a:t>
            </a:r>
            <a:endParaRPr lang="en-US" sz="1800" b="1" strike="noStrike" spc="-1" dirty="0">
              <a:solidFill>
                <a:srgbClr val="000000"/>
              </a:solidFill>
              <a:uFill>
                <a:solidFill>
                  <a:srgbClr val="FFFFFF"/>
                </a:solidFill>
              </a:uFill>
              <a:latin typeface="Calibri"/>
            </a:endParaRPr>
          </a:p>
        </p:txBody>
      </p:sp>
      <mc:AlternateContent xmlns:mc="http://schemas.openxmlformats.org/markup-compatibility/2006" xmlns:a14="http://schemas.microsoft.com/office/drawing/2010/main">
        <mc:Choice Requires="a14">
          <p:sp>
            <p:nvSpPr>
              <p:cNvPr id="116" name="TextShape 2"/>
              <p:cNvSpPr txBox="1"/>
              <p:nvPr/>
            </p:nvSpPr>
            <p:spPr>
              <a:xfrm>
                <a:off x="838080" y="1524000"/>
                <a:ext cx="10515240" cy="5105400"/>
              </a:xfrm>
              <a:prstGeom prst="rect">
                <a:avLst/>
              </a:prstGeom>
              <a:noFill/>
              <a:ln>
                <a:noFill/>
              </a:ln>
            </p:spPr>
            <p:txBody>
              <a:bodyPr/>
              <a:lstStyle/>
              <a:p>
                <a:pPr>
                  <a:lnSpc>
                    <a:spcPct val="100000"/>
                  </a:lnSpc>
                </a:pPr>
                <a:r>
                  <a:rPr lang="en-US" sz="2400" b="0" strike="noStrike" spc="-1" dirty="0" smtClean="0">
                    <a:solidFill>
                      <a:srgbClr val="000000"/>
                    </a:solidFill>
                    <a:uFill>
                      <a:solidFill>
                        <a:srgbClr val="FFFFFF"/>
                      </a:solidFill>
                    </a:uFill>
                    <a:latin typeface="Calibri"/>
                  </a:rPr>
                  <a:t>A successor function:</a:t>
                </a:r>
              </a:p>
              <a:p>
                <a:pPr>
                  <a:lnSpc>
                    <a:spcPct val="100000"/>
                  </a:lnSpc>
                </a:pPr>
                <a:endParaRPr lang="en-US" sz="2400" spc="-1" dirty="0" smtClean="0">
                  <a:solidFill>
                    <a:srgbClr val="000000"/>
                  </a:solidFill>
                  <a:uFill>
                    <a:solidFill>
                      <a:srgbClr val="FFFFFF"/>
                    </a:solidFill>
                  </a:uFill>
                  <a:latin typeface="Calibri"/>
                </a:endParaRPr>
              </a:p>
              <a:p>
                <a:pPr algn="ctr">
                  <a:lnSpc>
                    <a:spcPct val="100000"/>
                  </a:lnSpc>
                </a:pPr>
                <a:r>
                  <a:rPr lang="en-US" sz="2400" spc="-1" dirty="0" smtClean="0">
                    <a:solidFill>
                      <a:srgbClr val="000000"/>
                    </a:solidFill>
                    <a:uFill>
                      <a:solidFill>
                        <a:srgbClr val="FFFFFF"/>
                      </a:solidFill>
                    </a:uFill>
                  </a:rPr>
                  <a:t>S≡</a:t>
                </a:r>
                <a14:m>
                  <m:oMath xmlns:m="http://schemas.openxmlformats.org/officeDocument/2006/math">
                    <m:d>
                      <m:dPr>
                        <m:ctrlPr>
                          <a:rPr lang="en-US" sz="2400" i="1" spc="-1" dirty="0">
                            <a:solidFill>
                              <a:srgbClr val="000000"/>
                            </a:solidFill>
                            <a:uFill>
                              <a:solidFill>
                                <a:srgbClr val="FFFFFF"/>
                              </a:solidFill>
                            </a:uFill>
                            <a:latin typeface="Cambria Math" panose="02040503050406030204" pitchFamily="18" charset="0"/>
                          </a:rPr>
                        </m:ctrlPr>
                      </m:dPr>
                      <m:e>
                        <m:r>
                          <a:rPr lang="el-GR" sz="2400" i="1" spc="-1" dirty="0">
                            <a:solidFill>
                              <a:srgbClr val="000000"/>
                            </a:solidFill>
                            <a:uFill>
                              <a:solidFill>
                                <a:srgbClr val="FFFFFF"/>
                              </a:solidFill>
                            </a:uFill>
                            <a:latin typeface="Cambria Math"/>
                          </a:rPr>
                          <m:t>𝜆</m:t>
                        </m:r>
                        <m:r>
                          <a:rPr lang="en-US" sz="2400" i="1" spc="-1" dirty="0">
                            <a:solidFill>
                              <a:srgbClr val="000000"/>
                            </a:solidFill>
                            <a:uFill>
                              <a:solidFill>
                                <a:srgbClr val="FFFFFF"/>
                              </a:solidFill>
                            </a:uFill>
                            <a:latin typeface="Cambria Math"/>
                          </a:rPr>
                          <m:t>𝑤𝑦𝑥</m:t>
                        </m:r>
                        <m:r>
                          <a:rPr lang="en-US" sz="2400" i="1" spc="-1" dirty="0">
                            <a:solidFill>
                              <a:srgbClr val="000000"/>
                            </a:solidFill>
                            <a:uFill>
                              <a:solidFill>
                                <a:srgbClr val="FFFFFF"/>
                              </a:solidFill>
                            </a:uFill>
                            <a:latin typeface="Cambria Math"/>
                          </a:rPr>
                          <m:t>.</m:t>
                        </m:r>
                        <m:r>
                          <a:rPr lang="en-US" sz="2400" i="1" spc="-1" dirty="0">
                            <a:solidFill>
                              <a:srgbClr val="000000"/>
                            </a:solidFill>
                            <a:uFill>
                              <a:solidFill>
                                <a:srgbClr val="FFFFFF"/>
                              </a:solidFill>
                            </a:uFill>
                            <a:latin typeface="Cambria Math"/>
                          </a:rPr>
                          <m:t>𝑦</m:t>
                        </m:r>
                        <m:d>
                          <m:dPr>
                            <m:ctrlPr>
                              <a:rPr lang="en-US" sz="2400" i="1" spc="-1" dirty="0">
                                <a:solidFill>
                                  <a:srgbClr val="000000"/>
                                </a:solidFill>
                                <a:uFill>
                                  <a:solidFill>
                                    <a:srgbClr val="FFFFFF"/>
                                  </a:solidFill>
                                </a:uFill>
                                <a:latin typeface="Cambria Math" panose="02040503050406030204" pitchFamily="18" charset="0"/>
                              </a:rPr>
                            </m:ctrlPr>
                          </m:dPr>
                          <m:e>
                            <m:r>
                              <a:rPr lang="en-US" sz="2400" i="1" spc="-1" dirty="0">
                                <a:solidFill>
                                  <a:srgbClr val="000000"/>
                                </a:solidFill>
                                <a:uFill>
                                  <a:solidFill>
                                    <a:srgbClr val="FFFFFF"/>
                                  </a:solidFill>
                                </a:uFill>
                                <a:latin typeface="Cambria Math"/>
                              </a:rPr>
                              <m:t>𝑤𝑦𝑥</m:t>
                            </m:r>
                          </m:e>
                        </m:d>
                      </m:e>
                    </m:d>
                  </m:oMath>
                </a14:m>
                <a:endParaRPr lang="en-US" sz="2400" spc="-1" dirty="0" smtClean="0">
                  <a:solidFill>
                    <a:srgbClr val="000000"/>
                  </a:solidFill>
                  <a:uFill>
                    <a:solidFill>
                      <a:srgbClr val="FFFFFF"/>
                    </a:solidFill>
                  </a:uFill>
                  <a:latin typeface="Calibri"/>
                </a:endParaRPr>
              </a:p>
              <a:p>
                <a:pPr algn="ctr">
                  <a:lnSpc>
                    <a:spcPct val="100000"/>
                  </a:lnSpc>
                </a:pPr>
                <a:endParaRPr lang="en-US" sz="2400" spc="-1" dirty="0">
                  <a:solidFill>
                    <a:srgbClr val="000000"/>
                  </a:solidFill>
                  <a:uFill>
                    <a:solidFill>
                      <a:srgbClr val="FFFFFF"/>
                    </a:solidFill>
                  </a:uFill>
                  <a:latin typeface="Calibri"/>
                </a:endParaRPr>
              </a:p>
              <a:p>
                <a:pPr>
                  <a:lnSpc>
                    <a:spcPct val="100000"/>
                  </a:lnSpc>
                </a:pPr>
                <a:r>
                  <a:rPr lang="en-US" sz="2400" spc="-1" dirty="0" smtClean="0">
                    <a:solidFill>
                      <a:srgbClr val="000000"/>
                    </a:solidFill>
                    <a:uFill>
                      <a:solidFill>
                        <a:srgbClr val="FFFFFF"/>
                      </a:solidFill>
                    </a:uFill>
                    <a:latin typeface="Calibri"/>
                  </a:rPr>
                  <a:t>Apply it to zero, with the hopes of getting 1:</a:t>
                </a:r>
              </a:p>
              <a:p>
                <a:pPr>
                  <a:lnSpc>
                    <a:spcPct val="100000"/>
                  </a:lnSpc>
                </a:pPr>
                <a:endParaRPr lang="en-US" sz="2400" spc="-1" dirty="0">
                  <a:solidFill>
                    <a:srgbClr val="000000"/>
                  </a:solidFill>
                  <a:uFill>
                    <a:solidFill>
                      <a:srgbClr val="FFFFFF"/>
                    </a:solidFill>
                  </a:uFill>
                  <a:latin typeface="Calibri"/>
                </a:endParaRPr>
              </a:p>
              <a:p>
                <a:pPr algn="ctr"/>
                <a:r>
                  <a:rPr lang="en-US" sz="2400" spc="-1" dirty="0" smtClean="0">
                    <a:solidFill>
                      <a:srgbClr val="000000"/>
                    </a:solidFill>
                    <a:uFill>
                      <a:solidFill>
                        <a:srgbClr val="FFFFFF"/>
                      </a:solidFill>
                    </a:uFill>
                  </a:rPr>
                  <a:t>S</a:t>
                </a:r>
                <a:r>
                  <a:rPr lang="en-US" sz="2400" spc="-1" baseline="-25000" dirty="0" smtClean="0">
                    <a:solidFill>
                      <a:srgbClr val="000000"/>
                    </a:solidFill>
                    <a:uFill>
                      <a:solidFill>
                        <a:srgbClr val="FFFFFF"/>
                      </a:solidFill>
                    </a:uFill>
                  </a:rPr>
                  <a:t>0</a:t>
                </a:r>
                <a:r>
                  <a:rPr lang="en-US" sz="2400" spc="-1" dirty="0" smtClean="0">
                    <a:solidFill>
                      <a:srgbClr val="000000"/>
                    </a:solidFill>
                    <a:uFill>
                      <a:solidFill>
                        <a:srgbClr val="FFFFFF"/>
                      </a:solidFill>
                    </a:uFill>
                  </a:rPr>
                  <a:t>≡</a:t>
                </a:r>
                <a14:m>
                  <m:oMath xmlns:m="http://schemas.openxmlformats.org/officeDocument/2006/math">
                    <m:d>
                      <m:dPr>
                        <m:ctrlPr>
                          <a:rPr lang="en-US" sz="2000" i="1" spc="-1" dirty="0">
                            <a:solidFill>
                              <a:srgbClr val="000000"/>
                            </a:solidFill>
                            <a:uFill>
                              <a:solidFill>
                                <a:srgbClr val="FFFFFF"/>
                              </a:solidFill>
                            </a:uFill>
                            <a:latin typeface="Cambria Math" panose="02040503050406030204" pitchFamily="18" charset="0"/>
                          </a:rPr>
                        </m:ctrlPr>
                      </m:dPr>
                      <m:e>
                        <m:r>
                          <a:rPr lang="el-GR" sz="2000" i="1" spc="-1" dirty="0">
                            <a:solidFill>
                              <a:srgbClr val="000000"/>
                            </a:solidFill>
                            <a:uFill>
                              <a:solidFill>
                                <a:srgbClr val="FFFFFF"/>
                              </a:solidFill>
                            </a:uFill>
                            <a:latin typeface="Cambria Math"/>
                          </a:rPr>
                          <m:t>𝜆</m:t>
                        </m:r>
                        <m:r>
                          <a:rPr lang="en-US" sz="2000" i="1" spc="-1" dirty="0" smtClean="0">
                            <a:solidFill>
                              <a:srgbClr val="FF0000"/>
                            </a:solidFill>
                            <a:uFill>
                              <a:solidFill>
                                <a:srgbClr val="FFFFFF"/>
                              </a:solidFill>
                            </a:uFill>
                            <a:latin typeface="Cambria Math"/>
                          </a:rPr>
                          <m:t>𝑤</m:t>
                        </m:r>
                        <m:r>
                          <a:rPr lang="en-US" sz="2000" i="1" spc="-1" dirty="0">
                            <a:solidFill>
                              <a:srgbClr val="000000"/>
                            </a:solidFill>
                            <a:uFill>
                              <a:solidFill>
                                <a:srgbClr val="FFFFFF"/>
                              </a:solidFill>
                            </a:uFill>
                            <a:latin typeface="Cambria Math"/>
                          </a:rPr>
                          <m:t>𝑦𝑥</m:t>
                        </m:r>
                        <m:r>
                          <a:rPr lang="en-US" sz="2000" i="1" spc="-1" dirty="0">
                            <a:solidFill>
                              <a:srgbClr val="000000"/>
                            </a:solidFill>
                            <a:uFill>
                              <a:solidFill>
                                <a:srgbClr val="FFFFFF"/>
                              </a:solidFill>
                            </a:uFill>
                            <a:latin typeface="Cambria Math"/>
                          </a:rPr>
                          <m:t>.</m:t>
                        </m:r>
                        <m:r>
                          <a:rPr lang="en-US" sz="2000" i="1" spc="-1" dirty="0">
                            <a:solidFill>
                              <a:srgbClr val="000000"/>
                            </a:solidFill>
                            <a:uFill>
                              <a:solidFill>
                                <a:srgbClr val="FFFFFF"/>
                              </a:solidFill>
                            </a:uFill>
                            <a:latin typeface="Cambria Math"/>
                          </a:rPr>
                          <m:t>𝑦</m:t>
                        </m:r>
                        <m:d>
                          <m:dPr>
                            <m:ctrlPr>
                              <a:rPr lang="en-US" sz="2000" i="1" spc="-1" dirty="0">
                                <a:solidFill>
                                  <a:srgbClr val="000000"/>
                                </a:solidFill>
                                <a:uFill>
                                  <a:solidFill>
                                    <a:srgbClr val="FFFFFF"/>
                                  </a:solidFill>
                                </a:uFill>
                                <a:latin typeface="Cambria Math" panose="02040503050406030204" pitchFamily="18" charset="0"/>
                              </a:rPr>
                            </m:ctrlPr>
                          </m:dPr>
                          <m:e>
                            <m:r>
                              <a:rPr lang="en-US" sz="2000" i="1" spc="-1" dirty="0" smtClean="0">
                                <a:solidFill>
                                  <a:srgbClr val="FF0000"/>
                                </a:solidFill>
                                <a:uFill>
                                  <a:solidFill>
                                    <a:srgbClr val="FFFFFF"/>
                                  </a:solidFill>
                                </a:uFill>
                                <a:latin typeface="Cambria Math"/>
                              </a:rPr>
                              <m:t>𝑤</m:t>
                            </m:r>
                            <m:r>
                              <a:rPr lang="en-US" sz="2000" i="1" spc="-1" dirty="0">
                                <a:solidFill>
                                  <a:srgbClr val="000000"/>
                                </a:solidFill>
                                <a:uFill>
                                  <a:solidFill>
                                    <a:srgbClr val="FFFFFF"/>
                                  </a:solidFill>
                                </a:uFill>
                                <a:latin typeface="Cambria Math"/>
                              </a:rPr>
                              <m:t>𝑦𝑥</m:t>
                            </m:r>
                          </m:e>
                        </m:d>
                      </m:e>
                    </m:d>
                    <m:d>
                      <m:dPr>
                        <m:ctrlPr>
                          <a:rPr lang="en-US" sz="2000" b="0" i="1" spc="-1" dirty="0" smtClean="0">
                            <a:solidFill>
                              <a:srgbClr val="000000"/>
                            </a:solidFill>
                            <a:uFill>
                              <a:solidFill>
                                <a:srgbClr val="FFFFFF"/>
                              </a:solidFill>
                            </a:uFill>
                            <a:latin typeface="Cambria Math" panose="02040503050406030204" pitchFamily="18" charset="0"/>
                          </a:rPr>
                        </m:ctrlPr>
                      </m:dPr>
                      <m:e>
                        <m:r>
                          <a:rPr lang="el-GR" sz="2400" i="1" spc="-1" dirty="0">
                            <a:solidFill>
                              <a:srgbClr val="000000"/>
                            </a:solidFill>
                            <a:uFill>
                              <a:solidFill>
                                <a:srgbClr val="FFFFFF"/>
                              </a:solidFill>
                            </a:uFill>
                            <a:latin typeface="Cambria Math"/>
                          </a:rPr>
                          <m:t>𝜆</m:t>
                        </m:r>
                        <m:r>
                          <a:rPr lang="en-US" sz="2400" i="1" spc="-1" dirty="0" smtClean="0">
                            <a:solidFill>
                              <a:srgbClr val="FF0000"/>
                            </a:solidFill>
                            <a:uFill>
                              <a:solidFill>
                                <a:srgbClr val="FFFFFF"/>
                              </a:solidFill>
                            </a:uFill>
                            <a:latin typeface="Cambria Math"/>
                          </a:rPr>
                          <m:t>𝑠𝑧</m:t>
                        </m:r>
                        <m:r>
                          <a:rPr lang="en-US" sz="2400" i="1" spc="-1" dirty="0" smtClean="0">
                            <a:solidFill>
                              <a:srgbClr val="FF0000"/>
                            </a:solidFill>
                            <a:uFill>
                              <a:solidFill>
                                <a:srgbClr val="FFFFFF"/>
                              </a:solidFill>
                            </a:uFill>
                            <a:latin typeface="Cambria Math"/>
                          </a:rPr>
                          <m:t>.</m:t>
                        </m:r>
                        <m:r>
                          <a:rPr lang="en-US" sz="2400" i="1" spc="-1" dirty="0" smtClean="0">
                            <a:solidFill>
                              <a:srgbClr val="FF0000"/>
                            </a:solidFill>
                            <a:uFill>
                              <a:solidFill>
                                <a:srgbClr val="FFFFFF"/>
                              </a:solidFill>
                            </a:uFill>
                            <a:latin typeface="Cambria Math"/>
                          </a:rPr>
                          <m:t>𝑧</m:t>
                        </m:r>
                      </m:e>
                    </m:d>
                  </m:oMath>
                </a14:m>
                <a:endParaRPr lang="en-US" sz="2400" b="0" spc="-1" dirty="0" smtClean="0">
                  <a:solidFill>
                    <a:srgbClr val="000000"/>
                  </a:solidFill>
                  <a:uFill>
                    <a:solidFill>
                      <a:srgbClr val="FFFFFF"/>
                    </a:solidFill>
                  </a:uFill>
                </a:endParaRPr>
              </a:p>
              <a:p>
                <a:pPr algn="ctr"/>
                <a14:m>
                  <m:oMathPara xmlns:m="http://schemas.openxmlformats.org/officeDocument/2006/math">
                    <m:oMathParaPr>
                      <m:jc m:val="centerGroup"/>
                    </m:oMathParaPr>
                    <m:oMath xmlns:m="http://schemas.openxmlformats.org/officeDocument/2006/math">
                      <m:r>
                        <a:rPr lang="el-GR" sz="2400" i="1" spc="-1" dirty="0" smtClean="0">
                          <a:solidFill>
                            <a:srgbClr val="000000"/>
                          </a:solidFill>
                          <a:uFill>
                            <a:solidFill>
                              <a:srgbClr val="FFFFFF"/>
                            </a:solidFill>
                          </a:uFill>
                          <a:latin typeface="Cambria Math" panose="02040503050406030204" pitchFamily="18" charset="0"/>
                        </a:rPr>
                        <m:t>𝜆</m:t>
                      </m:r>
                      <m:r>
                        <a:rPr lang="en-US" sz="2400" i="1" spc="-1" dirty="0" smtClean="0">
                          <a:solidFill>
                            <a:schemeClr val="tx1"/>
                          </a:solidFill>
                          <a:uFill>
                            <a:solidFill>
                              <a:srgbClr val="FFFFFF"/>
                            </a:solidFill>
                          </a:uFill>
                          <a:latin typeface="Cambria Math" panose="02040503050406030204" pitchFamily="18" charset="0"/>
                        </a:rPr>
                        <m:t>𝑦</m:t>
                      </m:r>
                      <m:r>
                        <a:rPr lang="en-US" sz="2400" i="1" spc="-1" dirty="0" err="1" smtClean="0">
                          <a:solidFill>
                            <a:srgbClr val="000000"/>
                          </a:solidFill>
                          <a:uFill>
                            <a:solidFill>
                              <a:srgbClr val="FFFFFF"/>
                            </a:solidFill>
                          </a:uFill>
                          <a:latin typeface="Cambria Math" panose="02040503050406030204" pitchFamily="18" charset="0"/>
                        </a:rPr>
                        <m:t>𝑥</m:t>
                      </m:r>
                      <m:r>
                        <a:rPr lang="en-US" sz="2400" i="1" spc="-1" dirty="0" err="1" smtClean="0">
                          <a:solidFill>
                            <a:srgbClr val="000000"/>
                          </a:solidFill>
                          <a:uFill>
                            <a:solidFill>
                              <a:srgbClr val="FFFFFF"/>
                            </a:solidFill>
                          </a:uFill>
                          <a:latin typeface="Cambria Math" panose="02040503050406030204" pitchFamily="18" charset="0"/>
                        </a:rPr>
                        <m:t>.</m:t>
                      </m:r>
                      <m:r>
                        <a:rPr lang="en-US" sz="2400" i="1" spc="-1" dirty="0" err="1" smtClean="0">
                          <a:solidFill>
                            <a:srgbClr val="000000"/>
                          </a:solidFill>
                          <a:uFill>
                            <a:solidFill>
                              <a:srgbClr val="FFFFFF"/>
                            </a:solidFill>
                          </a:uFill>
                          <a:latin typeface="Cambria Math" panose="02040503050406030204" pitchFamily="18" charset="0"/>
                        </a:rPr>
                        <m:t>𝑦</m:t>
                      </m:r>
                      <m:d>
                        <m:dPr>
                          <m:ctrlPr>
                            <a:rPr lang="en-US" sz="2400" i="1" spc="-1" dirty="0" smtClean="0">
                              <a:solidFill>
                                <a:srgbClr val="000000"/>
                              </a:solidFill>
                              <a:uFill>
                                <a:solidFill>
                                  <a:srgbClr val="FFFFFF"/>
                                </a:solidFill>
                              </a:uFill>
                              <a:latin typeface="Cambria Math" panose="02040503050406030204" pitchFamily="18" charset="0"/>
                            </a:rPr>
                          </m:ctrlPr>
                        </m:dPr>
                        <m:e>
                          <m:d>
                            <m:dPr>
                              <m:ctrlPr>
                                <a:rPr lang="en-US" sz="2400" i="1" spc="-1" dirty="0" smtClean="0">
                                  <a:solidFill>
                                    <a:srgbClr val="000000"/>
                                  </a:solidFill>
                                  <a:uFill>
                                    <a:solidFill>
                                      <a:srgbClr val="FFFFFF"/>
                                    </a:solidFill>
                                  </a:uFill>
                                  <a:latin typeface="Cambria Math" panose="02040503050406030204" pitchFamily="18" charset="0"/>
                                </a:rPr>
                              </m:ctrlPr>
                            </m:dPr>
                            <m:e>
                              <m:r>
                                <a:rPr lang="el-GR" sz="2400" i="1" spc="-1" dirty="0" smtClean="0">
                                  <a:solidFill>
                                    <a:srgbClr val="000000"/>
                                  </a:solidFill>
                                  <a:uFill>
                                    <a:solidFill>
                                      <a:srgbClr val="FFFFFF"/>
                                    </a:solidFill>
                                  </a:uFill>
                                  <a:latin typeface="Cambria Math" panose="02040503050406030204" pitchFamily="18" charset="0"/>
                                </a:rPr>
                                <m:t>𝜆</m:t>
                              </m:r>
                              <m:r>
                                <a:rPr lang="en-US" sz="2400" b="0" i="1" spc="-1" dirty="0" smtClean="0">
                                  <a:solidFill>
                                    <a:srgbClr val="FF0000"/>
                                  </a:solidFill>
                                  <a:uFill>
                                    <a:solidFill>
                                      <a:srgbClr val="FFFFFF"/>
                                    </a:solidFill>
                                  </a:uFill>
                                  <a:latin typeface="Cambria Math" panose="02040503050406030204" pitchFamily="18" charset="0"/>
                                </a:rPr>
                                <m:t>𝑠</m:t>
                              </m:r>
                              <m:r>
                                <a:rPr lang="en-US" sz="2400" i="1" spc="-1" dirty="0" err="1" smtClean="0">
                                  <a:solidFill>
                                    <a:srgbClr val="000000"/>
                                  </a:solidFill>
                                  <a:uFill>
                                    <a:solidFill>
                                      <a:srgbClr val="FFFFFF"/>
                                    </a:solidFill>
                                  </a:uFill>
                                  <a:latin typeface="Cambria Math" panose="02040503050406030204" pitchFamily="18" charset="0"/>
                                </a:rPr>
                                <m:t>𝑧</m:t>
                              </m:r>
                              <m:r>
                                <a:rPr lang="en-US" sz="2400" i="1" spc="-1" dirty="0" err="1" smtClean="0">
                                  <a:solidFill>
                                    <a:srgbClr val="000000"/>
                                  </a:solidFill>
                                  <a:uFill>
                                    <a:solidFill>
                                      <a:srgbClr val="FFFFFF"/>
                                    </a:solidFill>
                                  </a:uFill>
                                  <a:latin typeface="Cambria Math" panose="02040503050406030204" pitchFamily="18" charset="0"/>
                                </a:rPr>
                                <m:t>.</m:t>
                              </m:r>
                              <m:r>
                                <a:rPr lang="en-US" sz="2400" i="1" spc="-1" dirty="0" err="1" smtClean="0">
                                  <a:solidFill>
                                    <a:srgbClr val="000000"/>
                                  </a:solidFill>
                                  <a:uFill>
                                    <a:solidFill>
                                      <a:srgbClr val="FFFFFF"/>
                                    </a:solidFill>
                                  </a:uFill>
                                  <a:latin typeface="Cambria Math" panose="02040503050406030204" pitchFamily="18" charset="0"/>
                                </a:rPr>
                                <m:t>𝑧</m:t>
                              </m:r>
                            </m:e>
                          </m:d>
                          <m:r>
                            <a:rPr lang="en-US" sz="2400" b="0" i="1" spc="-1" dirty="0" smtClean="0">
                              <a:solidFill>
                                <a:srgbClr val="FF0000"/>
                              </a:solidFill>
                              <a:uFill>
                                <a:solidFill>
                                  <a:srgbClr val="FFFFFF"/>
                                </a:solidFill>
                              </a:uFill>
                              <a:latin typeface="Cambria Math" panose="02040503050406030204" pitchFamily="18" charset="0"/>
                            </a:rPr>
                            <m:t>𝑦</m:t>
                          </m:r>
                          <m:r>
                            <a:rPr lang="en-US" sz="2400" i="1" spc="-1" dirty="0" smtClean="0">
                              <a:solidFill>
                                <a:srgbClr val="000000"/>
                              </a:solidFill>
                              <a:uFill>
                                <a:solidFill>
                                  <a:srgbClr val="FFFFFF"/>
                                </a:solidFill>
                              </a:uFill>
                              <a:latin typeface="Cambria Math" panose="02040503050406030204" pitchFamily="18" charset="0"/>
                            </a:rPr>
                            <m:t>𝑥</m:t>
                          </m:r>
                        </m:e>
                      </m:d>
                    </m:oMath>
                  </m:oMathPara>
                </a14:m>
                <a:endParaRPr lang="en-US" sz="2400" spc="-1" dirty="0" smtClean="0">
                  <a:solidFill>
                    <a:srgbClr val="000000"/>
                  </a:solidFill>
                  <a:uFill>
                    <a:solidFill>
                      <a:srgbClr val="FFFFFF"/>
                    </a:solidFill>
                  </a:uFill>
                  <a:latin typeface="Calibri"/>
                </a:endParaRPr>
              </a:p>
              <a:p>
                <a:pPr algn="ctr"/>
                <a14:m>
                  <m:oMathPara xmlns:m="http://schemas.openxmlformats.org/officeDocument/2006/math">
                    <m:oMathParaPr>
                      <m:jc m:val="centerGroup"/>
                    </m:oMathParaPr>
                    <m:oMath xmlns:m="http://schemas.openxmlformats.org/officeDocument/2006/math">
                      <m:r>
                        <a:rPr lang="el-GR" sz="2400" i="1" spc="-1" dirty="0" smtClean="0">
                          <a:solidFill>
                            <a:srgbClr val="000000"/>
                          </a:solidFill>
                          <a:uFill>
                            <a:solidFill>
                              <a:srgbClr val="FFFFFF"/>
                            </a:solidFill>
                          </a:uFill>
                          <a:latin typeface="Cambria Math" panose="02040503050406030204" pitchFamily="18" charset="0"/>
                        </a:rPr>
                        <m:t>𝜆</m:t>
                      </m:r>
                      <m:r>
                        <a:rPr lang="en-US" sz="2400" i="1" spc="-1" dirty="0" err="1" smtClean="0">
                          <a:solidFill>
                            <a:srgbClr val="000000"/>
                          </a:solidFill>
                          <a:uFill>
                            <a:solidFill>
                              <a:srgbClr val="FFFFFF"/>
                            </a:solidFill>
                          </a:uFill>
                          <a:latin typeface="Cambria Math" panose="02040503050406030204" pitchFamily="18" charset="0"/>
                        </a:rPr>
                        <m:t>𝑦𝑥</m:t>
                      </m:r>
                      <m:r>
                        <a:rPr lang="en-US" sz="2400" i="1" spc="-1" dirty="0" err="1" smtClean="0">
                          <a:solidFill>
                            <a:srgbClr val="000000"/>
                          </a:solidFill>
                          <a:uFill>
                            <a:solidFill>
                              <a:srgbClr val="FFFFFF"/>
                            </a:solidFill>
                          </a:uFill>
                          <a:latin typeface="Cambria Math" panose="02040503050406030204" pitchFamily="18" charset="0"/>
                        </a:rPr>
                        <m:t>.</m:t>
                      </m:r>
                      <m:r>
                        <a:rPr lang="en-US" sz="2400" i="1" spc="-1" dirty="0" err="1" smtClean="0">
                          <a:solidFill>
                            <a:srgbClr val="000000"/>
                          </a:solidFill>
                          <a:uFill>
                            <a:solidFill>
                              <a:srgbClr val="FFFFFF"/>
                            </a:solidFill>
                          </a:uFill>
                          <a:latin typeface="Cambria Math" panose="02040503050406030204" pitchFamily="18" charset="0"/>
                        </a:rPr>
                        <m:t>𝑦</m:t>
                      </m:r>
                      <m:d>
                        <m:dPr>
                          <m:ctrlPr>
                            <a:rPr lang="en-US" sz="2400" i="1" spc="-1" dirty="0" smtClean="0">
                              <a:solidFill>
                                <a:srgbClr val="000000"/>
                              </a:solidFill>
                              <a:uFill>
                                <a:solidFill>
                                  <a:srgbClr val="FFFFFF"/>
                                </a:solidFill>
                              </a:uFill>
                              <a:latin typeface="Cambria Math" panose="02040503050406030204" pitchFamily="18" charset="0"/>
                            </a:rPr>
                          </m:ctrlPr>
                        </m:dPr>
                        <m:e>
                          <m:d>
                            <m:dPr>
                              <m:ctrlPr>
                                <a:rPr lang="en-US" sz="2400" i="1" spc="-1" dirty="0" smtClean="0">
                                  <a:solidFill>
                                    <a:srgbClr val="000000"/>
                                  </a:solidFill>
                                  <a:uFill>
                                    <a:solidFill>
                                      <a:srgbClr val="FFFFFF"/>
                                    </a:solidFill>
                                  </a:uFill>
                                  <a:latin typeface="Cambria Math" panose="02040503050406030204" pitchFamily="18" charset="0"/>
                                </a:rPr>
                              </m:ctrlPr>
                            </m:dPr>
                            <m:e>
                              <m:r>
                                <a:rPr lang="el-GR" sz="2400" i="1" spc="-1" dirty="0" smtClean="0">
                                  <a:solidFill>
                                    <a:srgbClr val="000000"/>
                                  </a:solidFill>
                                  <a:uFill>
                                    <a:solidFill>
                                      <a:srgbClr val="FFFFFF"/>
                                    </a:solidFill>
                                  </a:uFill>
                                  <a:latin typeface="Cambria Math" panose="02040503050406030204" pitchFamily="18" charset="0"/>
                                </a:rPr>
                                <m:t>𝜆</m:t>
                              </m:r>
                              <m:r>
                                <a:rPr lang="en-US" sz="2400" i="1" spc="-1" dirty="0" smtClean="0">
                                  <a:solidFill>
                                    <a:srgbClr val="FF0000"/>
                                  </a:solidFill>
                                  <a:uFill>
                                    <a:solidFill>
                                      <a:srgbClr val="FFFFFF"/>
                                    </a:solidFill>
                                  </a:uFill>
                                  <a:latin typeface="Cambria Math" panose="02040503050406030204" pitchFamily="18" charset="0"/>
                                </a:rPr>
                                <m:t>𝑧</m:t>
                              </m:r>
                              <m:r>
                                <a:rPr lang="en-US" sz="2400" i="1" spc="-1" dirty="0" smtClean="0">
                                  <a:solidFill>
                                    <a:srgbClr val="FF0000"/>
                                  </a:solidFill>
                                  <a:uFill>
                                    <a:solidFill>
                                      <a:srgbClr val="FFFFFF"/>
                                    </a:solidFill>
                                  </a:uFill>
                                  <a:latin typeface="Cambria Math" panose="02040503050406030204" pitchFamily="18" charset="0"/>
                                </a:rPr>
                                <m:t>.</m:t>
                              </m:r>
                              <m:r>
                                <a:rPr lang="en-US" sz="2400" i="1" spc="-1" dirty="0" smtClean="0">
                                  <a:solidFill>
                                    <a:srgbClr val="FF0000"/>
                                  </a:solidFill>
                                  <a:uFill>
                                    <a:solidFill>
                                      <a:srgbClr val="FFFFFF"/>
                                    </a:solidFill>
                                  </a:uFill>
                                  <a:latin typeface="Cambria Math" panose="02040503050406030204" pitchFamily="18" charset="0"/>
                                </a:rPr>
                                <m:t>𝑧</m:t>
                              </m:r>
                            </m:e>
                          </m:d>
                          <m:r>
                            <a:rPr lang="en-US" sz="2400" i="1" spc="-1" dirty="0" smtClean="0">
                              <a:solidFill>
                                <a:srgbClr val="FF0000"/>
                              </a:solidFill>
                              <a:uFill>
                                <a:solidFill>
                                  <a:srgbClr val="FFFFFF"/>
                                </a:solidFill>
                              </a:uFill>
                              <a:latin typeface="Cambria Math" panose="02040503050406030204" pitchFamily="18" charset="0"/>
                            </a:rPr>
                            <m:t>𝑥</m:t>
                          </m:r>
                        </m:e>
                      </m:d>
                    </m:oMath>
                  </m:oMathPara>
                </a14:m>
                <a:endParaRPr lang="en-US" sz="2400" spc="-1" dirty="0" smtClean="0">
                  <a:solidFill>
                    <a:srgbClr val="000000"/>
                  </a:solidFill>
                  <a:uFill>
                    <a:solidFill>
                      <a:srgbClr val="FFFFFF"/>
                    </a:solidFill>
                  </a:uFill>
                  <a:latin typeface="Calibri"/>
                </a:endParaRPr>
              </a:p>
              <a:p>
                <a:pPr algn="ctr"/>
                <a14:m>
                  <m:oMathPara xmlns:m="http://schemas.openxmlformats.org/officeDocument/2006/math">
                    <m:oMathParaPr>
                      <m:jc m:val="centerGroup"/>
                    </m:oMathParaPr>
                    <m:oMath xmlns:m="http://schemas.openxmlformats.org/officeDocument/2006/math">
                      <m:d>
                        <m:dPr>
                          <m:ctrlPr>
                            <a:rPr lang="en-US" sz="2400" i="1" spc="-1" dirty="0" smtClean="0">
                              <a:solidFill>
                                <a:srgbClr val="000000"/>
                              </a:solidFill>
                              <a:uFill>
                                <a:solidFill>
                                  <a:srgbClr val="FFFFFF"/>
                                </a:solidFill>
                              </a:uFill>
                              <a:latin typeface="Cambria Math" panose="02040503050406030204" pitchFamily="18" charset="0"/>
                            </a:rPr>
                          </m:ctrlPr>
                        </m:dPr>
                        <m:e>
                          <m:r>
                            <a:rPr lang="el-GR" sz="2400" i="1" spc="-1" dirty="0" smtClean="0">
                              <a:solidFill>
                                <a:srgbClr val="000000"/>
                              </a:solidFill>
                              <a:uFill>
                                <a:solidFill>
                                  <a:srgbClr val="FFFFFF"/>
                                </a:solidFill>
                              </a:uFill>
                              <a:latin typeface="Cambria Math" panose="02040503050406030204" pitchFamily="18" charset="0"/>
                            </a:rPr>
                            <m:t>𝜆</m:t>
                          </m:r>
                          <m:r>
                            <a:rPr lang="en-US" sz="2400" i="1" spc="-1" dirty="0" err="1" smtClean="0">
                              <a:solidFill>
                                <a:srgbClr val="000000"/>
                              </a:solidFill>
                              <a:uFill>
                                <a:solidFill>
                                  <a:srgbClr val="FFFFFF"/>
                                </a:solidFill>
                              </a:uFill>
                              <a:latin typeface="Cambria Math" panose="02040503050406030204" pitchFamily="18" charset="0"/>
                            </a:rPr>
                            <m:t>𝑦𝑥</m:t>
                          </m:r>
                          <m:r>
                            <a:rPr lang="en-US" sz="2400" i="1" spc="-1" dirty="0" err="1" smtClean="0">
                              <a:solidFill>
                                <a:srgbClr val="000000"/>
                              </a:solidFill>
                              <a:uFill>
                                <a:solidFill>
                                  <a:srgbClr val="FFFFFF"/>
                                </a:solidFill>
                              </a:uFill>
                              <a:latin typeface="Cambria Math" panose="02040503050406030204" pitchFamily="18" charset="0"/>
                            </a:rPr>
                            <m:t>.</m:t>
                          </m:r>
                          <m:r>
                            <a:rPr lang="en-US" sz="2400" i="1" spc="-1" dirty="0" err="1" smtClean="0">
                              <a:solidFill>
                                <a:srgbClr val="000000"/>
                              </a:solidFill>
                              <a:uFill>
                                <a:solidFill>
                                  <a:srgbClr val="FFFFFF"/>
                                </a:solidFill>
                              </a:uFill>
                              <a:latin typeface="Cambria Math" panose="02040503050406030204" pitchFamily="18" charset="0"/>
                            </a:rPr>
                            <m:t>𝑦</m:t>
                          </m:r>
                          <m:d>
                            <m:dPr>
                              <m:ctrlPr>
                                <a:rPr lang="en-US" sz="2400" i="1" spc="-1" dirty="0" smtClean="0">
                                  <a:solidFill>
                                    <a:srgbClr val="000000"/>
                                  </a:solidFill>
                                  <a:uFill>
                                    <a:solidFill>
                                      <a:srgbClr val="FFFFFF"/>
                                    </a:solidFill>
                                  </a:uFill>
                                  <a:latin typeface="Cambria Math" panose="02040503050406030204" pitchFamily="18" charset="0"/>
                                </a:rPr>
                              </m:ctrlPr>
                            </m:dPr>
                            <m:e>
                              <m:r>
                                <a:rPr lang="en-US" sz="2400" i="1" spc="-1" dirty="0" smtClean="0">
                                  <a:solidFill>
                                    <a:srgbClr val="000000"/>
                                  </a:solidFill>
                                  <a:uFill>
                                    <a:solidFill>
                                      <a:srgbClr val="FFFFFF"/>
                                    </a:solidFill>
                                  </a:uFill>
                                  <a:latin typeface="Cambria Math" panose="02040503050406030204" pitchFamily="18" charset="0"/>
                                </a:rPr>
                                <m:t>𝑥</m:t>
                              </m:r>
                            </m:e>
                          </m:d>
                        </m:e>
                      </m:d>
                    </m:oMath>
                  </m:oMathPara>
                </a14:m>
                <a:endParaRPr lang="en-US" sz="2400" b="0" spc="-1" dirty="0" smtClean="0">
                  <a:solidFill>
                    <a:srgbClr val="000000"/>
                  </a:solidFill>
                  <a:uFill>
                    <a:solidFill>
                      <a:srgbClr val="FFFFFF"/>
                    </a:solidFill>
                  </a:uFill>
                  <a:latin typeface="Calibri"/>
                </a:endParaRPr>
              </a:p>
              <a:p>
                <a:pPr algn="ctr"/>
                <a:endParaRPr lang="en-US" sz="2400" spc="-1" dirty="0" smtClean="0">
                  <a:solidFill>
                    <a:srgbClr val="000000"/>
                  </a:solidFill>
                  <a:uFill>
                    <a:solidFill>
                      <a:srgbClr val="FFFFFF"/>
                    </a:solidFill>
                  </a:uFill>
                  <a:latin typeface="Calibri"/>
                </a:endParaRPr>
              </a:p>
              <a:p>
                <a:pPr algn="ctr"/>
                <a14:m>
                  <m:oMathPara xmlns:m="http://schemas.openxmlformats.org/officeDocument/2006/math">
                    <m:oMathParaPr>
                      <m:jc m:val="centerGroup"/>
                    </m:oMathParaPr>
                    <m:oMath xmlns:m="http://schemas.openxmlformats.org/officeDocument/2006/math">
                      <m:r>
                        <a:rPr lang="el-GR" sz="2400" i="1" spc="-1" dirty="0">
                          <a:solidFill>
                            <a:srgbClr val="000000"/>
                          </a:solidFill>
                          <a:uFill>
                            <a:solidFill>
                              <a:srgbClr val="FFFFFF"/>
                            </a:solidFill>
                          </a:uFill>
                          <a:latin typeface="Cambria Math"/>
                        </a:rPr>
                        <m:t>𝜆</m:t>
                      </m:r>
                      <m:r>
                        <a:rPr lang="en-US" sz="2400" i="1" spc="-1" dirty="0">
                          <a:solidFill>
                            <a:srgbClr val="000000"/>
                          </a:solidFill>
                          <a:uFill>
                            <a:solidFill>
                              <a:srgbClr val="FFFFFF"/>
                            </a:solidFill>
                          </a:uFill>
                          <a:latin typeface="Cambria Math"/>
                        </a:rPr>
                        <m:t>𝑠𝑧</m:t>
                      </m:r>
                      <m:r>
                        <a:rPr lang="en-US" sz="2400" i="1" spc="-1" dirty="0">
                          <a:solidFill>
                            <a:srgbClr val="000000"/>
                          </a:solidFill>
                          <a:uFill>
                            <a:solidFill>
                              <a:srgbClr val="FFFFFF"/>
                            </a:solidFill>
                          </a:uFill>
                          <a:latin typeface="Cambria Math"/>
                        </a:rPr>
                        <m:t>.</m:t>
                      </m:r>
                      <m:r>
                        <a:rPr lang="en-US" sz="2400" i="1" spc="-1" dirty="0">
                          <a:solidFill>
                            <a:srgbClr val="000000"/>
                          </a:solidFill>
                          <a:uFill>
                            <a:solidFill>
                              <a:srgbClr val="FFFFFF"/>
                            </a:solidFill>
                          </a:uFill>
                          <a:latin typeface="Cambria Math"/>
                        </a:rPr>
                        <m:t>𝑠</m:t>
                      </m:r>
                      <m:r>
                        <a:rPr lang="en-US" sz="2400" i="1" spc="-1" dirty="0">
                          <a:solidFill>
                            <a:srgbClr val="000000"/>
                          </a:solidFill>
                          <a:uFill>
                            <a:solidFill>
                              <a:srgbClr val="FFFFFF"/>
                            </a:solidFill>
                          </a:uFill>
                          <a:latin typeface="Cambria Math"/>
                        </a:rPr>
                        <m:t>(</m:t>
                      </m:r>
                      <m:r>
                        <a:rPr lang="en-US" sz="2400" i="1" spc="-1" dirty="0">
                          <a:solidFill>
                            <a:srgbClr val="000000"/>
                          </a:solidFill>
                          <a:uFill>
                            <a:solidFill>
                              <a:srgbClr val="FFFFFF"/>
                            </a:solidFill>
                          </a:uFill>
                          <a:latin typeface="Cambria Math"/>
                        </a:rPr>
                        <m:t>𝑧</m:t>
                      </m:r>
                      <m:r>
                        <a:rPr lang="en-US" sz="2400" i="1" spc="-1" dirty="0">
                          <a:solidFill>
                            <a:srgbClr val="000000"/>
                          </a:solidFill>
                          <a:uFill>
                            <a:solidFill>
                              <a:srgbClr val="FFFFFF"/>
                            </a:solidFill>
                          </a:uFill>
                          <a:latin typeface="Cambria Math"/>
                        </a:rPr>
                        <m:t>)</m:t>
                      </m:r>
                    </m:oMath>
                  </m:oMathPara>
                </a14:m>
                <a:endParaRPr lang="en-US" sz="2400" spc="-1" dirty="0" smtClean="0">
                  <a:solidFill>
                    <a:srgbClr val="000000"/>
                  </a:solidFill>
                  <a:uFill>
                    <a:solidFill>
                      <a:srgbClr val="FFFFFF"/>
                    </a:solidFill>
                  </a:uFill>
                  <a:latin typeface="Calibri"/>
                </a:endParaRPr>
              </a:p>
              <a:p>
                <a:pPr algn="ctr"/>
                <a:r>
                  <a:rPr lang="en-US" sz="2400" spc="-1" dirty="0">
                    <a:solidFill>
                      <a:srgbClr val="000000"/>
                    </a:solidFill>
                    <a:uFill>
                      <a:solidFill>
                        <a:srgbClr val="FFFFFF"/>
                      </a:solidFill>
                    </a:uFill>
                  </a:rPr>
                  <a:t>S</a:t>
                </a:r>
                <a:r>
                  <a:rPr lang="en-US" sz="2400" spc="-1" baseline="-25000" dirty="0">
                    <a:solidFill>
                      <a:srgbClr val="000000"/>
                    </a:solidFill>
                    <a:uFill>
                      <a:solidFill>
                        <a:srgbClr val="FFFFFF"/>
                      </a:solidFill>
                    </a:uFill>
                  </a:rPr>
                  <a:t>0</a:t>
                </a:r>
                <a:r>
                  <a:rPr lang="en-US" sz="2400" spc="-1" dirty="0" smtClean="0">
                    <a:solidFill>
                      <a:srgbClr val="000000"/>
                    </a:solidFill>
                    <a:uFill>
                      <a:solidFill>
                        <a:srgbClr val="FFFFFF"/>
                      </a:solidFill>
                    </a:uFill>
                  </a:rPr>
                  <a:t>≡1</a:t>
                </a:r>
                <a:endParaRPr lang="en-US" sz="2400" spc="-1" dirty="0">
                  <a:solidFill>
                    <a:srgbClr val="000000"/>
                  </a:solidFill>
                  <a:uFill>
                    <a:solidFill>
                      <a:srgbClr val="FFFFFF"/>
                    </a:solidFill>
                  </a:uFill>
                  <a:latin typeface="Calibri"/>
                </a:endParaRPr>
              </a:p>
              <a:p>
                <a:pPr algn="ctr">
                  <a:lnSpc>
                    <a:spcPct val="100000"/>
                  </a:lnSpc>
                </a:pPr>
                <a:endParaRPr lang="en-US" sz="2400" spc="-1" dirty="0">
                  <a:solidFill>
                    <a:srgbClr val="000000"/>
                  </a:solidFill>
                  <a:uFill>
                    <a:solidFill>
                      <a:srgbClr val="FFFFFF"/>
                    </a:solidFill>
                  </a:uFill>
                  <a:latin typeface="Calibri"/>
                </a:endParaRPr>
              </a:p>
              <a:p>
                <a:pPr>
                  <a:lnSpc>
                    <a:spcPct val="100000"/>
                  </a:lnSpc>
                </a:pPr>
                <a:endParaRPr lang="en-US" sz="2400" spc="-1" dirty="0">
                  <a:solidFill>
                    <a:srgbClr val="000000"/>
                  </a:solidFill>
                  <a:uFill>
                    <a:solidFill>
                      <a:srgbClr val="FFFFFF"/>
                    </a:solidFill>
                  </a:uFill>
                  <a:latin typeface="Calibri"/>
                </a:endParaRPr>
              </a:p>
              <a:p>
                <a:pPr>
                  <a:lnSpc>
                    <a:spcPct val="100000"/>
                  </a:lnSpc>
                </a:pPr>
                <a:endParaRPr lang="en-US" sz="2800" b="0" strike="noStrike" spc="-1" dirty="0">
                  <a:solidFill>
                    <a:srgbClr val="000000"/>
                  </a:solidFill>
                  <a:uFill>
                    <a:solidFill>
                      <a:srgbClr val="FFFFFF"/>
                    </a:solidFill>
                  </a:uFill>
                  <a:latin typeface="Calibri"/>
                </a:endParaRPr>
              </a:p>
              <a:p>
                <a:pPr>
                  <a:lnSpc>
                    <a:spcPct val="100000"/>
                  </a:lnSpc>
                </a:pPr>
                <a:endParaRPr lang="en-US" sz="2800" b="0" strike="noStrike" spc="-1" dirty="0">
                  <a:solidFill>
                    <a:srgbClr val="000000"/>
                  </a:solidFill>
                  <a:uFill>
                    <a:solidFill>
                      <a:srgbClr val="FFFFFF"/>
                    </a:solidFill>
                  </a:uFill>
                  <a:latin typeface="Calibri"/>
                </a:endParaRPr>
              </a:p>
              <a:p>
                <a:pPr>
                  <a:lnSpc>
                    <a:spcPct val="100000"/>
                  </a:lnSpc>
                </a:pPr>
                <a:endParaRPr lang="en-US" sz="2800" b="0" strike="noStrike" spc="-1" dirty="0">
                  <a:solidFill>
                    <a:srgbClr val="000000"/>
                  </a:solidFill>
                  <a:uFill>
                    <a:solidFill>
                      <a:srgbClr val="FFFFFF"/>
                    </a:solidFill>
                  </a:uFill>
                  <a:latin typeface="Calibri"/>
                </a:endParaRPr>
              </a:p>
              <a:p>
                <a:pPr>
                  <a:lnSpc>
                    <a:spcPct val="100000"/>
                  </a:lnSpc>
                </a:pPr>
                <a:endParaRPr lang="en-US" sz="2800" b="0" strike="noStrike" spc="-1" dirty="0">
                  <a:solidFill>
                    <a:srgbClr val="000000"/>
                  </a:solidFill>
                  <a:uFill>
                    <a:solidFill>
                      <a:srgbClr val="FFFFFF"/>
                    </a:solidFill>
                  </a:uFill>
                  <a:latin typeface="Calibri"/>
                </a:endParaRPr>
              </a:p>
            </p:txBody>
          </p:sp>
        </mc:Choice>
        <mc:Fallback xmlns="">
          <p:sp>
            <p:nvSpPr>
              <p:cNvPr id="116" name="TextShape 2"/>
              <p:cNvSpPr txBox="1">
                <a:spLocks noRot="1" noChangeAspect="1" noMove="1" noResize="1" noEditPoints="1" noAdjustHandles="1" noChangeArrowheads="1" noChangeShapeType="1" noTextEdit="1"/>
              </p:cNvSpPr>
              <p:nvPr/>
            </p:nvSpPr>
            <p:spPr>
              <a:xfrm>
                <a:off x="838080" y="1524000"/>
                <a:ext cx="10515240" cy="5105400"/>
              </a:xfrm>
              <a:prstGeom prst="rect">
                <a:avLst/>
              </a:prstGeom>
              <a:blipFill rotWithShape="0">
                <a:blip r:embed="rId3"/>
                <a:stretch>
                  <a:fillRect l="-870" t="-955" b="-119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83992013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dirty="0" smtClean="0">
                <a:solidFill>
                  <a:srgbClr val="000000"/>
                </a:solidFill>
                <a:uFill>
                  <a:solidFill>
                    <a:srgbClr val="FFFFFF"/>
                  </a:solidFill>
                </a:uFill>
                <a:latin typeface="Calibri Light"/>
              </a:rPr>
              <a:t>Bonus Slides</a:t>
            </a:r>
            <a:endParaRPr lang="en-US" sz="1800" b="1" strike="noStrike" spc="-1" dirty="0">
              <a:solidFill>
                <a:srgbClr val="000000"/>
              </a:solidFill>
              <a:uFill>
                <a:solidFill>
                  <a:srgbClr val="FFFFFF"/>
                </a:solidFill>
              </a:uFill>
              <a:latin typeface="Calibri"/>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500" y="2133600"/>
            <a:ext cx="10058400" cy="2818682"/>
          </a:xfrm>
          <a:prstGeom prst="rect">
            <a:avLst/>
          </a:prstGeom>
        </p:spPr>
      </p:pic>
    </p:spTree>
    <p:extLst>
      <p:ext uri="{BB962C8B-B14F-4D97-AF65-F5344CB8AC3E}">
        <p14:creationId xmlns:p14="http://schemas.microsoft.com/office/powerpoint/2010/main" val="152688754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1373</TotalTime>
  <Words>1168</Words>
  <Application>Microsoft Office PowerPoint</Application>
  <PresentationFormat>Widescreen</PresentationFormat>
  <Paragraphs>296</Paragraphs>
  <Slides>24</Slides>
  <Notes>15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24</vt:i4>
      </vt:variant>
    </vt:vector>
  </HeadingPairs>
  <TitlesOfParts>
    <vt:vector size="35" baseType="lpstr">
      <vt:lpstr>Arial</vt:lpstr>
      <vt:lpstr>Calibri</vt:lpstr>
      <vt:lpstr>Calibri Light</vt:lpstr>
      <vt:lpstr>Cambria Math</vt:lpstr>
      <vt:lpstr>Courier New</vt:lpstr>
      <vt:lpstr>DejaVu Sans</vt:lpstr>
      <vt:lpstr>Symbol</vt:lpstr>
      <vt:lpstr>Times New Roman</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Formal Model</vt:lpstr>
      <vt:lpstr>Formal Model</vt:lpstr>
      <vt:lpstr>Formal Model</vt:lpstr>
      <vt:lpstr>Formal Model</vt:lpstr>
      <vt:lpstr>Formal Model</vt:lpstr>
      <vt:lpstr>Formal Model</vt:lpstr>
      <vt:lpstr>PowerPoint Presentation</vt:lpstr>
      <vt:lpstr>PowerPoint Presentation</vt:lpstr>
      <vt:lpstr>PowerPoint Presentation</vt:lpstr>
    </vt:vector>
  </TitlesOfParts>
  <Company>University at Buffalo</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Tour of the Lambda Calculus</dc:title>
  <dc:creator>Adam</dc:creator>
  <cp:lastModifiedBy>Adam</cp:lastModifiedBy>
  <cp:revision>120</cp:revision>
  <dcterms:created xsi:type="dcterms:W3CDTF">2014-11-30T23:35:04Z</dcterms:created>
  <dcterms:modified xsi:type="dcterms:W3CDTF">2016-11-28T18:40:50Z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Company">
    <vt:lpwstr>University at Buffalo</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Widescreen</vt:lpwstr>
  </property>
  <property fmtid="{D5CDD505-2E9C-101B-9397-08002B2CF9AE}" pid="10" name="ScaleCrop">
    <vt:bool>false</vt:bool>
  </property>
  <property fmtid="{D5CDD505-2E9C-101B-9397-08002B2CF9AE}" pid="11" name="ShareDoc">
    <vt:bool>false</vt:bool>
  </property>
  <property fmtid="{D5CDD505-2E9C-101B-9397-08002B2CF9AE}" pid="12" name="Slides">
    <vt:i4>12</vt:i4>
  </property>
</Properties>
</file>